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e0e58a61694e01" /><Relationship Type="http://schemas.openxmlformats.org/officeDocument/2006/relationships/extended-properties" Target="/docProps/app.xml" Id="R5a9a7490a8a44b5a" /><Relationship Type="http://schemas.openxmlformats.org/officeDocument/2006/relationships/officeDocument" Target="/ppt/presentation.xml" Id="R0dab187cbf6f4226" /></Relationships>
</file>

<file path=ppt/presentation.xml><?xml version="1.0" encoding="utf-8"?>
<p:presentation xmlns:p="http://schemas.openxmlformats.org/presentationml/2006/main">
  <p:sldMasterIdLst>
    <p:sldMasterId xmlns:r="http://schemas.openxmlformats.org/officeDocument/2006/relationships" id="2147483648" r:id="R4f73799d0d834269"/>
  </p:sldMasterIdLst>
  <p:notesMasterIdLst>
    <p:notesMasterId xmlns:r="http://schemas.openxmlformats.org/officeDocument/2006/relationships" r:id="Raaa796a054024e39"/>
  </p:notesMasterIdLst>
  <p:sldIdLst>
    <p:sldId xmlns:r="http://schemas.openxmlformats.org/officeDocument/2006/relationships" id="256" r:id="Rdf3bf6542e49406c"/>
    <p:sldId xmlns:r="http://schemas.openxmlformats.org/officeDocument/2006/relationships" id="257" r:id="R2188810843b14a3d"/>
    <p:sldId xmlns:r="http://schemas.openxmlformats.org/officeDocument/2006/relationships" id="258" r:id="R2a827a330b764882"/>
    <p:sldId xmlns:r="http://schemas.openxmlformats.org/officeDocument/2006/relationships" id="259" r:id="Rad4d7db18c294b5e"/>
    <p:sldId xmlns:r="http://schemas.openxmlformats.org/officeDocument/2006/relationships" id="260" r:id="Rd6af585afa314e7f"/>
    <p:sldId xmlns:r="http://schemas.openxmlformats.org/officeDocument/2006/relationships" id="261" r:id="R7b70f3feca7b4dc6"/>
    <p:sldId xmlns:r="http://schemas.openxmlformats.org/officeDocument/2006/relationships" id="262" r:id="R729554653b3e45d8"/>
    <p:sldId xmlns:r="http://schemas.openxmlformats.org/officeDocument/2006/relationships" id="263" r:id="Redc88bfed234451a"/>
    <p:sldId xmlns:r="http://schemas.openxmlformats.org/officeDocument/2006/relationships" id="264" r:id="R299a12f9b82a4713"/>
    <p:sldId xmlns:r="http://schemas.openxmlformats.org/officeDocument/2006/relationships" id="265" r:id="Rc48fdced316f4883"/>
    <p:sldId xmlns:r="http://schemas.openxmlformats.org/officeDocument/2006/relationships" id="266" r:id="Rafec10769990446e"/>
    <p:sldId xmlns:r="http://schemas.openxmlformats.org/officeDocument/2006/relationships" id="267" r:id="Ra837cac0fb2246cd"/>
  </p:sldIdLst>
  <p:sldSz cx="18288000" cy="10287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e48d31092154d22" /><Relationship Type="http://schemas.openxmlformats.org/officeDocument/2006/relationships/slideMaster" Target="/ppt/slideMasters/slideMaster1.xml" Id="R4f73799d0d834269" /><Relationship Type="http://schemas.openxmlformats.org/officeDocument/2006/relationships/notesMaster" Target="/ppt/notesMasters/notesMaster1.xml" Id="Raaa796a054024e39" /><Relationship Type="http://schemas.openxmlformats.org/officeDocument/2006/relationships/presProps" Target="/ppt/presProps.xml" Id="R5f1f9996894243d4" /><Relationship Type="http://schemas.openxmlformats.org/officeDocument/2006/relationships/viewProps" Target="/ppt/viewProps.xml" Id="R48caa1dcd66b4cea" /><Relationship Type="http://schemas.openxmlformats.org/officeDocument/2006/relationships/tableStyles" Target="/ppt/tableStyles.xml" Id="Rfeced6d87cf649dd" /><Relationship Type="http://schemas.openxmlformats.org/officeDocument/2006/relationships/slide" Target="/ppt/slides/slide1.xml" Id="Rdf3bf6542e49406c" /><Relationship Type="http://schemas.openxmlformats.org/officeDocument/2006/relationships/slide" Target="/ppt/slides/slide2.xml" Id="R2188810843b14a3d" /><Relationship Type="http://schemas.openxmlformats.org/officeDocument/2006/relationships/slide" Target="/ppt/slides/slide3.xml" Id="R2a827a330b764882" /><Relationship Type="http://schemas.openxmlformats.org/officeDocument/2006/relationships/slide" Target="/ppt/slides/slide4.xml" Id="Rad4d7db18c294b5e" /><Relationship Type="http://schemas.openxmlformats.org/officeDocument/2006/relationships/slide" Target="/ppt/slides/slide5.xml" Id="Rd6af585afa314e7f" /><Relationship Type="http://schemas.openxmlformats.org/officeDocument/2006/relationships/slide" Target="/ppt/slides/slide6.xml" Id="R7b70f3feca7b4dc6" /><Relationship Type="http://schemas.openxmlformats.org/officeDocument/2006/relationships/slide" Target="/ppt/slides/slide7.xml" Id="R729554653b3e45d8" /><Relationship Type="http://schemas.openxmlformats.org/officeDocument/2006/relationships/slide" Target="/ppt/slides/slide8.xml" Id="Redc88bfed234451a" /><Relationship Type="http://schemas.openxmlformats.org/officeDocument/2006/relationships/slide" Target="/ppt/slides/slide9.xml" Id="R299a12f9b82a4713" /><Relationship Type="http://schemas.openxmlformats.org/officeDocument/2006/relationships/slide" Target="/ppt/slides/slide10.xml" Id="Rc48fdced316f4883" /><Relationship Type="http://schemas.openxmlformats.org/officeDocument/2006/relationships/slide" Target="/ppt/slides/slide11.xml" Id="Rafec10769990446e" /><Relationship Type="http://schemas.openxmlformats.org/officeDocument/2006/relationships/slide" Target="/ppt/slides/slide12.xml" Id="Ra837cac0fb2246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5e29d1c58e49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85a4c796c43dd" /><Relationship Type="http://schemas.openxmlformats.org/officeDocument/2006/relationships/notesMaster" Target="/ppt/notesMasters/notesMaster1.xml" Id="Rc1beaeb335ed44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5574421c184b79" /><Relationship Type="http://schemas.openxmlformats.org/officeDocument/2006/relationships/notesMaster" Target="/ppt/notesMasters/notesMaster1.xml" Id="Rf00d5a7f5ea843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f1565cb9b1466b" /><Relationship Type="http://schemas.openxmlformats.org/officeDocument/2006/relationships/notesMaster" Target="/ppt/notesMasters/notesMaster1.xml" Id="Radd3738fd8304e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093dcabb394062" /><Relationship Type="http://schemas.openxmlformats.org/officeDocument/2006/relationships/notesMaster" Target="/ppt/notesMasters/notesMaster1.xml" Id="Ra1c3a3a6bdc24b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d781f79ffb4416" /><Relationship Type="http://schemas.openxmlformats.org/officeDocument/2006/relationships/notesMaster" Target="/ppt/notesMasters/notesMaster1.xml" Id="Rf2d344dab8b84a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a7bd85fca84999" /><Relationship Type="http://schemas.openxmlformats.org/officeDocument/2006/relationships/notesMaster" Target="/ppt/notesMasters/notesMaster1.xml" Id="Rd1294ce81ce74a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e30ced79834c75" /><Relationship Type="http://schemas.openxmlformats.org/officeDocument/2006/relationships/notesMaster" Target="/ppt/notesMasters/notesMaster1.xml" Id="R71c465dc06034d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b77df5fe5a4606" /><Relationship Type="http://schemas.openxmlformats.org/officeDocument/2006/relationships/notesMaster" Target="/ppt/notesMasters/notesMaster1.xml" Id="Rd9361e836ba24a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b4e95785564c25" /><Relationship Type="http://schemas.openxmlformats.org/officeDocument/2006/relationships/notesMaster" Target="/ppt/notesMasters/notesMaster1.xml" Id="R1b04f70b650543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191110c5e84f9c" /><Relationship Type="http://schemas.openxmlformats.org/officeDocument/2006/relationships/notesMaster" Target="/ppt/notesMasters/notesMaster1.xml" Id="R7c8eb3cbce3744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9f08b64e044236" /><Relationship Type="http://schemas.openxmlformats.org/officeDocument/2006/relationships/notesMaster" Target="/ppt/notesMasters/notesMaster1.xml" Id="Rb1fed1074b0048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e8e82aa3144ead" /><Relationship Type="http://schemas.openxmlformats.org/officeDocument/2006/relationships/notesMaster" Target="/ppt/notesMasters/notesMaster1.xml" Id="R13b9aee48b5b45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0:00–0:12. Multilönd AI checks manual assembly and packing while the work is still visible. A missing accessory is easy to add when the box is open. After the lid closes, it becomes rework or a customer return.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0:12–0:15. The problem is the moment a later step hides earlier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0:15–0:27. Our main example is an accessory box. A worker leaves out a charger. Closing the lid hides the contents, and the customer receives an incomplete kit. This is an illustrative scenario, not a measured customer incident.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0:27–0:41. The 1-10-100 rule of thumb explains why timing matters. Fixing a mistake at the station is simpler than finding it at final test or after delivery. These multipliers illustrate the principle. We have not measured savings.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0:41–0:44. The camera checks the contents before the workflow reaches the closing step.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0:44–1:14. This is the product page, with an accessory-box illustration. In the live packing demo, the worker shows the contents to the camera. Fix it marks a problem area. Pass advances the workflow. Retake asks for a clearer view. The software keeps the lid step locked until required checks pass or a person provides an override reason. Physical interlocks are future work. Replace this illustrative product-page screenshot with real packing-station footage when the recording owner supplies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1:14–1:26. The worker captures a photo. OpenCV checks image quality locally. A checklist question describes what correct looks like. The model returns a verdict and, for a visible problem, a box. Fixed rules decide what happens next and save visual inspection attempts.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1:26–1:44. The current demo uses DeepSeek V4.1 Flash (open-weight) on AMD Token Factory through an OpenAI-compatible API. The 14/24 cable benchmark and its roughly six-second checks were measured with Gemma 4. Those figures do not establish DeepSeek performance. In production, the same open model runs on the factory’s own AMD GPU. That deployment is planned, not demonstrated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1:44–2:02. A new product uses a new checklist. This screenshot shows the existing PC-build workflow in local demo mode. The image-quality gate requested a retake, and the panel step remains locked. Visual attempts save photo evidence by unit with a timestamp, check ID and checker result. Override reasons remain in the active session. Durable override records need further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2:02–2:05. The historical cable benchmark was measured with Gemma 4, comparing generic and targeted questions on the same photo 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2:05–2:45. In the historical benchmark measured with Gemma 4 (Gemma-4-31B-IT) on the same 34 MVTec AD cable photos, the generic checklist caught two of 24 defects. It passed almost everything, so zero false alarms alone was misleading. Describing a correct cable raised the catch count to 14, seven times as many. Both runs had zero false alarms on ten clean photos. Targeted checks averaged 5.65 seconds. Generic mean box IoU is 0.8554, recalculated from its two detected boxes. Targeted mean box IoU is 0.6211 across fourteen detected boxes, shown rounded to 0.62. Both means use positive-overlap detections only. Ten defects still escaped. This small cable experiment does not establish packing-box or factory reliability. The targeted run caught 3/3 cable swaps and 3/3 missing cables in this set; these are subtype catch counts, not precision. The earlier 91.3% IoU and 97.1% mask coverage were from one photo, not sample averages. Sources: team rerun report supplied by the user; https://github.com/acagliol/amdactiii/commit/ad0c66e88bdd35f602c00ffaa5f11fc87b0c9439 ; evaluator averaging behavior in eval/evaluate.py. Both per-image CSVs are now available in PR #9 and have been checked for matching image paths and labels. Counts, latency averages and box IoU were recalculated from those records; this is not an independent model rerun. The generic CSV and scorecard store 0.75, but their saved boxes yield 0.8160 and 0.8948, averaging 0.8554. The original CSV and scorecard remain unchanged. Source: https://github.com/acagliol/amdactiii/tree/7b9e5baaf56b1d8d30acccf876d91235f606c098/docs/results . Pixel-mask coverage and endpoint/model settings have not been independently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Multilönd AI helps catch mistakes while the work is still visible. Next we want broader validation and deployment on a factory AMD GPU. The packing box is our main demo. PC build shows how the same engine uses another checklist. Thank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0bf768ab29432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c2eb969a5a4e24" /><Relationship Type="http://schemas.openxmlformats.org/officeDocument/2006/relationships/slideLayout" Target="/ppt/slideLayouts/slideLayout1.xml" Id="R2153167e1e3a487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53167e1e3a487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7c01938c4d43c4" /><Relationship Type="http://schemas.openxmlformats.org/officeDocument/2006/relationships/image" Target="/ppt/media/image.jpeg" Id="R199894ca2deb4e2a" /><Relationship Type="http://schemas.openxmlformats.org/officeDocument/2006/relationships/image" Target="/ppt/media/image.svg" Id="R30906636df664413" /><Relationship Type="http://schemas.openxmlformats.org/officeDocument/2006/relationships/notesSlide" Target="/ppt/notesSlides/notesSlide1.xml" Id="R6846c61b150041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1cd5bfcae2405c" /><Relationship Type="http://schemas.openxmlformats.org/officeDocument/2006/relationships/notesSlide" Target="/ppt/notesSlides/notesSlide2.xml" Id="R3b2b7df44cc341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bf8947fe8846d6" /><Relationship Type="http://schemas.openxmlformats.org/officeDocument/2006/relationships/notesSlide" Target="/ppt/notesSlides/notesSlide3.xml" Id="R915fe88f43ea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f96af079c34819" /><Relationship Type="http://schemas.openxmlformats.org/officeDocument/2006/relationships/notesSlide" Target="/ppt/notesSlides/notesSlide4.xml" Id="Rfcb9abae0cc14a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e3662ee79741ba" /><Relationship Type="http://schemas.openxmlformats.org/officeDocument/2006/relationships/notesSlide" Target="/ppt/notesSlides/notesSlide5.xml" Id="Rba72846ca3c14e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0edef061154b25" /><Relationship Type="http://schemas.openxmlformats.org/officeDocument/2006/relationships/image" Target="/ppt/media/image.jpeg" Id="Re2db13ba33914458" /><Relationship Type="http://schemas.openxmlformats.org/officeDocument/2006/relationships/notesSlide" Target="/ppt/notesSlides/notesSlide6.xml" Id="R04ad761f4f5a41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86ce4a25e74a58" /><Relationship Type="http://schemas.openxmlformats.org/officeDocument/2006/relationships/notesSlide" Target="/ppt/notesSlides/notesSlide7.xml" Id="R6a4926c4fb5f40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2a069c640b4791" /><Relationship Type="http://schemas.openxmlformats.org/officeDocument/2006/relationships/notesSlide" Target="/ppt/notesSlides/notesSlide8.xml" Id="R1625bfbe727348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980580ba4c4694" /><Relationship Type="http://schemas.openxmlformats.org/officeDocument/2006/relationships/image" Target="/ppt/media/image2.jpeg" Id="R1bc4b25858f3415f" /><Relationship Type="http://schemas.openxmlformats.org/officeDocument/2006/relationships/notesSlide" Target="/ppt/notesSlides/notesSlide9.xml" Id="Rf069b4d3cbed48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31106f82db4d3c" /><Relationship Type="http://schemas.openxmlformats.org/officeDocument/2006/relationships/notesSlide" Target="/ppt/notesSlides/notesSlide10.xml" Id="R6ce7261c84034e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e519c4f3b445f0" /><Relationship Type="http://schemas.openxmlformats.org/officeDocument/2006/relationships/notesSlide" Target="/ppt/notesSlides/notesSlide11.xml" Id="Rddf51733d4c642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b319d1de034731" /><Relationship Type="http://schemas.openxmlformats.org/officeDocument/2006/relationships/image" Target="/ppt/media/image2.svg" Id="R318d6902bb7e4558" /><Relationship Type="http://schemas.openxmlformats.org/officeDocument/2006/relationships/image" Target="/ppt/media/image2.jpeg" Id="R6a6a2484482f4b36" /><Relationship Type="http://schemas.openxmlformats.org/officeDocument/2006/relationships/notesSlide" Target="/ppt/notesSlides/notesSlide12.xml" Id="Rc27890c57d694351" /></Relationships>
</file>

<file path=ppt/slides/slide1.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AFE9633-BAFC-46DC-8B51-F8BBF0F1EC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E33E518B-C058-4535-A8C6-196115991EBC}"/>
              </a:ext>
            </a:extLst>
          </p:cNvPr>
          <p:cNvSpPr>
            <a:spLocks xmlns:a="http://schemas.openxmlformats.org/drawingml/2006/main" noGrp="1"/>
          </p:cNvSpPr>
          <p:nvPr/>
        </p:nvSpPr>
        <p:spPr>
          <a:xfrm xmlns:a="http://schemas.openxmlformats.org/drawingml/2006/main">
            <a:off x="1333500" y="952500"/>
            <a:ext cx="862857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LABLAB.AI · AMD DEVELOPER HACKATHON: ACT III</a:t>
            </a:r>
            <a:endParaRPr sz="1800"/>
          </a:p>
        </p:txBody>
      </p:sp>
      <p:sp>
        <p:nvSpPr>
          <p:cNvPr id="4" name="Text 2">
            <a:extLst xmlns:a="http://schemas.openxmlformats.org/drawingml/2006/main">
              <a:ext uri="{FF2B5EF4-FFF2-40B4-BE49-F238E27FC236}">
                <a16:creationId xmlns:a16="http://schemas.microsoft.com/office/drawing/2014/main" id="{2BC03684-33AB-44FB-B546-265EE9126D08}"/>
              </a:ext>
            </a:extLst>
          </p:cNvPr>
          <p:cNvSpPr>
            <a:spLocks xmlns:a="http://schemas.openxmlformats.org/drawingml/2006/main" noGrp="1"/>
          </p:cNvSpPr>
          <p:nvPr/>
        </p:nvSpPr>
        <p:spPr>
          <a:xfrm xmlns:a="http://schemas.openxmlformats.org/drawingml/2006/main">
            <a:off x="13388975" y="952500"/>
            <a:ext cx="392207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INTELLIGENT INDUSTRY</a:t>
            </a:r>
            <a:endParaRPr sz="1800"/>
          </a:p>
        </p:txBody>
      </p:sp>
      <p:pic>
        <p:nvPicPr>
          <p:cNvPr id="5" name="Image 0">
            <a:extLst xmlns:a="http://schemas.openxmlformats.org/drawingml/2006/main">
              <a:ext uri="{FF2B5EF4-FFF2-40B4-BE49-F238E27FC236}">
                <a16:creationId xmlns:a16="http://schemas.microsoft.com/office/drawing/2014/main" id="{CA38BCE4-0CDF-4556-B922-3227AE5BD2D1}"/>
              </a:ext>
            </a:extLst>
          </p:cNvPr>
          <p:cNvPicPr>
            <a:picLocks xmlns:a="http://schemas.openxmlformats.org/drawingml/2006/main" noChangeAspect="1"/>
          </p:cNvPicPr>
          <p:nvPr/>
        </p:nvPicPr>
        <p:blipFill>
          <a:blip xmlns:r="http://schemas.openxmlformats.org/officeDocument/2006/relationships" xmlns:a="http://schemas.openxmlformats.org/drawingml/2006/main" r:embed="R199894ca2deb4e2a">
            <a:extLst>
              <a:ext uri="{96DAC541-7B7A-43D3-8B79-37D633B846F1}">
                <asvg:svgBlip xmlns:asvg="http://schemas.microsoft.com/office/drawing/2016/SVG/main" r:embed="R30906636df664413"/>
              </a:ext>
            </a:extLst>
          </a:blip>
          <a:stretch xmlns:a="http://schemas.openxmlformats.org/drawingml/2006/main">
            <a:fillRect l="0" t="0" r="0" b="0"/>
          </a:stretch>
        </p:blipFill>
        <p:spPr>
          <a:xfrm xmlns:a="http://schemas.openxmlformats.org/drawingml/2006/main">
            <a:off x="1333500" y="2754630"/>
            <a:ext cx="1428750" cy="142875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699A016-B8A6-4541-81A9-DFBF7A07E701}"/>
              </a:ext>
            </a:extLst>
          </p:cNvPr>
          <p:cNvSpPr>
            <a:spLocks xmlns:a="http://schemas.openxmlformats.org/drawingml/2006/main" noGrp="1"/>
          </p:cNvSpPr>
          <p:nvPr/>
        </p:nvSpPr>
        <p:spPr>
          <a:xfrm xmlns:a="http://schemas.openxmlformats.org/drawingml/2006/main">
            <a:off x="1333500" y="4716780"/>
            <a:ext cx="16954500" cy="11811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89054"/>
              </a:lnSpc>
              <a:buNone/>
            </a:pPr>
            <a:r>
              <a:rPr sz="9000" spc="2880">
                <a:solidFill>
                  <a:srgbClr val="F2F2F0"/>
                </a:solidFill>
                <a:latin typeface="Arial"/>
                <a:ea typeface="Arial"/>
                <a:cs typeface="Arial"/>
              </a:rPr>
              <a:t>MULTILÖND AI</a:t>
            </a:r>
            <a:endParaRPr sz="9000"/>
          </a:p>
        </p:txBody>
      </p:sp>
      <p:sp>
        <p:nvSpPr>
          <p:cNvPr id="7" name="Text 4">
            <a:extLst xmlns:a="http://schemas.openxmlformats.org/drawingml/2006/main">
              <a:ext uri="{FF2B5EF4-FFF2-40B4-BE49-F238E27FC236}">
                <a16:creationId xmlns:a16="http://schemas.microsoft.com/office/drawing/2014/main" id="{834DF68B-A60F-4E3C-A6B9-745B917DD723}"/>
              </a:ext>
            </a:extLst>
          </p:cNvPr>
          <p:cNvSpPr>
            <a:spLocks xmlns:a="http://schemas.openxmlformats.org/drawingml/2006/main" noGrp="1"/>
          </p:cNvSpPr>
          <p:nvPr/>
        </p:nvSpPr>
        <p:spPr>
          <a:xfrm xmlns:a="http://schemas.openxmlformats.org/drawingml/2006/main">
            <a:off x="1333500" y="6393180"/>
            <a:ext cx="10791825" cy="127254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lnSpc>
                <a:spcPct val="117818"/>
              </a:lnSpc>
              <a:buNone/>
            </a:pPr>
            <a:r>
              <a:rPr sz="3600">
                <a:solidFill>
                  <a:srgbClr val="B9BDC2"/>
                </a:solidFill>
                <a:latin typeface="Arial"/>
                <a:ea typeface="Arial"/>
                <a:cs typeface="Arial"/>
              </a:rPr>
              <a:t>Catch mistakes before the next step covers them.</a:t>
            </a:r>
            <a:endParaRPr sz="3600"/>
          </a:p>
        </p:txBody>
      </p:sp>
      <p:sp>
        <p:nvSpPr>
          <p:cNvPr id="8" name="Text 5">
            <a:extLst xmlns:a="http://schemas.openxmlformats.org/drawingml/2006/main">
              <a:ext uri="{FF2B5EF4-FFF2-40B4-BE49-F238E27FC236}">
                <a16:creationId xmlns:a16="http://schemas.microsoft.com/office/drawing/2014/main" id="{4993D6B1-BABD-443A-B667-AFEF1BD85965}"/>
              </a:ext>
            </a:extLst>
          </p:cNvPr>
          <p:cNvSpPr>
            <a:spLocks xmlns:a="http://schemas.openxmlformats.org/drawingml/2006/main" noGrp="1"/>
          </p:cNvSpPr>
          <p:nvPr/>
        </p:nvSpPr>
        <p:spPr>
          <a:xfrm xmlns:a="http://schemas.openxmlformats.org/drawingml/2006/main">
            <a:off x="1333500" y="9167813"/>
            <a:ext cx="619125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Autofit/>
          </a:bodyPr>
          <a:lstStyle xmlns:a="http://schemas.openxmlformats.org/drawingml/2006/main">
            <a:defPPr>
              <a:defRPr sz="1800"/>
            </a:defPPr>
          </a:lstStyle>
          <a:p xmlns:a="http://schemas.openxmlformats.org/drawingml/2006/main">
            <a:pPr marL="0" indent="0" algn="l">
              <a:buNone/>
            </a:pPr>
            <a:r>
              <a:rPr sz="1800" spc="252">
                <a:solidFill>
                  <a:srgbClr val="8A8F95"/>
                </a:solidFill>
                <a:latin typeface="Courier New"/>
                <a:ea typeface="Courier New"/>
                <a:cs typeface="Courier New"/>
              </a:rPr>
              <a:t>TEAM MULTILÖND AI</a:t>
            </a:r>
            <a:endParaRPr sz="1800"/>
          </a:p>
        </p:txBody>
      </p:sp>
      <p:sp>
        <p:nvSpPr>
          <p:cNvPr id="9" name="Text 6">
            <a:extLst xmlns:a="http://schemas.openxmlformats.org/drawingml/2006/main">
              <a:ext uri="{FF2B5EF4-FFF2-40B4-BE49-F238E27FC236}">
                <a16:creationId xmlns:a16="http://schemas.microsoft.com/office/drawing/2014/main" id="{55511E6A-6517-4E0A-B518-39E6942CD999}"/>
              </a:ext>
            </a:extLst>
          </p:cNvPr>
          <p:cNvSpPr>
            <a:spLocks xmlns:a="http://schemas.openxmlformats.org/drawingml/2006/main" noGrp="1"/>
          </p:cNvSpPr>
          <p:nvPr/>
        </p:nvSpPr>
        <p:spPr>
          <a:xfrm xmlns:a="http://schemas.openxmlformats.org/drawingml/2006/main">
            <a:off x="15600680" y="9167813"/>
            <a:ext cx="1489202"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252">
                <a:solidFill>
                  <a:srgbClr val="8A8F95"/>
                </a:solidFill>
                <a:latin typeface="Courier New"/>
                <a:ea typeface="Courier New"/>
                <a:cs typeface="Courier New"/>
              </a:rPr>
              <a:t>OCT 2026</a:t>
            </a:r>
            <a:endParaRPr sz="1800"/>
          </a:p>
        </p:txBody>
      </p:sp>
    </p:spTree>
    <p:extLst>
      <p:ext uri="{BB962C8B-B14F-4D97-AF65-F5344CB8AC3E}">
        <p14:creationId xmlns:p14="http://schemas.microsoft.com/office/powerpoint/2010/main" val="427214943"/>
      </p:ext>
    </p:extLst>
  </p:cSld>
</p:sld>
</file>

<file path=ppt/slides/slide2.xml><?xml version="1.0" encoding="utf-8"?>
<p:sld xmlns:p="http://schemas.openxmlformats.org/presentationml/2006/main">
  <p:cSld>
    <p:bg>
      <p:bgPr>
        <a:solidFill xmlns:a="http://schemas.openxmlformats.org/drawingml/2006/main">
          <a:srgbClr val="F2F2F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E302A5-16B3-4D76-A892-1047A9775532}"/>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MULTILÖND AI</a:t>
            </a:r>
            <a:endParaRPr sz="1800"/>
          </a:p>
        </p:txBody>
      </p:sp>
      <p:sp>
        <p:nvSpPr>
          <p:cNvPr id="3" name="Text 1">
            <a:extLst xmlns:a="http://schemas.openxmlformats.org/drawingml/2006/main">
              <a:ext uri="{FF2B5EF4-FFF2-40B4-BE49-F238E27FC236}">
                <a16:creationId xmlns:a16="http://schemas.microsoft.com/office/drawing/2014/main" id="{57984FAA-64DF-4B6A-AF4B-83C6EBDAE440}"/>
              </a:ext>
            </a:extLst>
          </p:cNvPr>
          <p:cNvSpPr>
            <a:spLocks xmlns:a="http://schemas.openxmlformats.org/drawingml/2006/main" noGrp="1"/>
          </p:cNvSpPr>
          <p:nvPr/>
        </p:nvSpPr>
        <p:spPr>
          <a:xfrm xmlns:a="http://schemas.openxmlformats.org/drawingml/2006/main">
            <a:off x="15706567" y="952500"/>
            <a:ext cx="137272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01 / 03</a:t>
            </a:r>
            <a:endParaRPr sz="1800"/>
          </a:p>
        </p:txBody>
      </p:sp>
      <p:sp>
        <p:nvSpPr>
          <p:cNvPr id="4" name="Text 2">
            <a:extLst xmlns:a="http://schemas.openxmlformats.org/drawingml/2006/main">
              <a:ext uri="{FF2B5EF4-FFF2-40B4-BE49-F238E27FC236}">
                <a16:creationId xmlns:a16="http://schemas.microsoft.com/office/drawing/2014/main" id="{7079CBDD-2A6B-47A3-A6ED-FBF531FB070F}"/>
              </a:ext>
            </a:extLst>
          </p:cNvPr>
          <p:cNvSpPr>
            <a:spLocks xmlns:a="http://schemas.openxmlformats.org/drawingml/2006/main" noGrp="1"/>
          </p:cNvSpPr>
          <p:nvPr/>
        </p:nvSpPr>
        <p:spPr>
          <a:xfrm xmlns:a="http://schemas.openxmlformats.org/drawingml/2006/main">
            <a:off x="1333500" y="4276249"/>
            <a:ext cx="16954500" cy="39608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spc="480">
                <a:solidFill>
                  <a:srgbClr val="55595E"/>
                </a:solidFill>
                <a:latin typeface="Courier New"/>
                <a:ea typeface="Courier New"/>
                <a:cs typeface="Courier New"/>
              </a:rPr>
              <a:t>01</a:t>
            </a:r>
            <a:endParaRPr sz="2400"/>
          </a:p>
        </p:txBody>
      </p:sp>
      <p:sp>
        <p:nvSpPr>
          <p:cNvPr id="5" name="Text 3">
            <a:extLst xmlns:a="http://schemas.openxmlformats.org/drawingml/2006/main">
              <a:ext uri="{FF2B5EF4-FFF2-40B4-BE49-F238E27FC236}">
                <a16:creationId xmlns:a16="http://schemas.microsoft.com/office/drawing/2014/main" id="{479E958C-D86F-4ACC-A71F-8451CA43BE0B}"/>
              </a:ext>
            </a:extLst>
          </p:cNvPr>
          <p:cNvSpPr>
            <a:spLocks xmlns:a="http://schemas.openxmlformats.org/drawingml/2006/main" noGrp="1"/>
          </p:cNvSpPr>
          <p:nvPr/>
        </p:nvSpPr>
        <p:spPr>
          <a:xfrm xmlns:a="http://schemas.openxmlformats.org/drawingml/2006/main">
            <a:off x="1333500" y="5015230"/>
            <a:ext cx="16954500" cy="13716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88795"/>
              </a:lnSpc>
              <a:buNone/>
            </a:pPr>
            <a:r>
              <a:rPr sz="10500" spc="1890">
                <a:solidFill>
                  <a:srgbClr val="050607"/>
                </a:solidFill>
                <a:latin typeface="Arial"/>
                <a:ea typeface="Arial"/>
                <a:cs typeface="Arial"/>
              </a:rPr>
              <a:t>THE PROBLEM</a:t>
            </a:r>
            <a:endParaRPr sz="10500"/>
          </a:p>
        </p:txBody>
      </p:sp>
      <p:sp>
        <p:nvSpPr>
          <p:cNvPr id="6" name="Shape 4">
            <a:extLst xmlns:a="http://schemas.openxmlformats.org/drawingml/2006/main">
              <a:ext uri="{FF2B5EF4-FFF2-40B4-BE49-F238E27FC236}">
                <a16:creationId xmlns:a16="http://schemas.microsoft.com/office/drawing/2014/main" id="{E655DBDB-B6F0-4E1E-8AEC-0C20815DAA60}"/>
              </a:ext>
            </a:extLst>
          </p:cNvPr>
          <p:cNvSpPr>
            <a:spLocks xmlns:a="http://schemas.openxmlformats.org/drawingml/2006/main" noGrp="1"/>
          </p:cNvSpPr>
          <p:nvPr/>
        </p:nvSpPr>
        <p:spPr>
          <a:xfrm xmlns:a="http://schemas.openxmlformats.org/drawingml/2006/main">
            <a:off x="1333500" y="9410700"/>
            <a:ext cx="15621000" cy="19050"/>
          </a:xfrm>
          <a:prstGeom xmlns:a="http://schemas.openxmlformats.org/drawingml/2006/main" prst="rect">
            <a:avLst/>
          </a:prstGeom>
          <a:solidFill xmlns:a="http://schemas.openxmlformats.org/drawingml/2006/main">
            <a:srgbClr val="050607"/>
          </a:solidFill>
        </p:spPr>
      </p:sp>
    </p:spTree>
    <p:extLst>
      <p:ext uri="{BB962C8B-B14F-4D97-AF65-F5344CB8AC3E}">
        <p14:creationId xmlns:p14="http://schemas.microsoft.com/office/powerpoint/2010/main" val="2094874508"/>
      </p:ext>
    </p:extLst>
  </p:cSld>
</p:sld>
</file>

<file path=ppt/slides/slide3.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8D3B553-D3A1-4DA3-BE06-647270568D8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5D20A889-8CC0-45A4-9D60-8231F7469464}"/>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680B90FC-D083-4B94-A369-CC00F283C7BB}"/>
              </a:ext>
            </a:extLst>
          </p:cNvPr>
          <p:cNvSpPr>
            <a:spLocks xmlns:a="http://schemas.openxmlformats.org/drawingml/2006/main" noGrp="1"/>
          </p:cNvSpPr>
          <p:nvPr/>
        </p:nvSpPr>
        <p:spPr>
          <a:xfrm xmlns:a="http://schemas.openxmlformats.org/drawingml/2006/main">
            <a:off x="14993462" y="952500"/>
            <a:ext cx="2157143"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THE PROBLEM</a:t>
            </a:r>
            <a:endParaRPr sz="1800"/>
          </a:p>
        </p:txBody>
      </p:sp>
      <p:sp>
        <p:nvSpPr>
          <p:cNvPr id="5" name="Text 3">
            <a:extLst xmlns:a="http://schemas.openxmlformats.org/drawingml/2006/main">
              <a:ext uri="{FF2B5EF4-FFF2-40B4-BE49-F238E27FC236}">
                <a16:creationId xmlns:a16="http://schemas.microsoft.com/office/drawing/2014/main" id="{EDA24CF7-840B-446A-AFAF-5A08DE1DC3F0}"/>
              </a:ext>
            </a:extLst>
          </p:cNvPr>
          <p:cNvSpPr>
            <a:spLocks xmlns:a="http://schemas.openxmlformats.org/drawingml/2006/main" noGrp="1"/>
          </p:cNvSpPr>
          <p:nvPr/>
        </p:nvSpPr>
        <p:spPr>
          <a:xfrm xmlns:a="http://schemas.openxmlformats.org/drawingml/2006/main">
            <a:off x="1333500" y="1976438"/>
            <a:ext cx="14716125" cy="150114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5129"/>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A missing accessory disappears when the lid closes.</a:t>
            </a:r>
            <a:endParaRPr sz="4800"/>
          </a:p>
        </p:txBody>
      </p:sp>
      <p:sp>
        <p:nvSpPr>
          <p:cNvPr id="6" name="Shape 4">
            <a:extLst xmlns:a="http://schemas.openxmlformats.org/drawingml/2006/main">
              <a:ext uri="{FF2B5EF4-FFF2-40B4-BE49-F238E27FC236}">
                <a16:creationId xmlns:a16="http://schemas.microsoft.com/office/drawing/2014/main" id="{0C4AB698-57A7-4557-9828-3714C03FF4A3}"/>
              </a:ext>
            </a:extLst>
          </p:cNvPr>
          <p:cNvSpPr>
            <a:spLocks xmlns:a="http://schemas.openxmlformats.org/drawingml/2006/main" noGrp="1"/>
          </p:cNvSpPr>
          <p:nvPr/>
        </p:nvSpPr>
        <p:spPr>
          <a:xfrm xmlns:a="http://schemas.openxmlformats.org/drawingml/2006/main">
            <a:off x="1333500" y="7256780"/>
            <a:ext cx="4826000" cy="17462"/>
          </a:xfrm>
          <a:prstGeom xmlns:a="http://schemas.openxmlformats.org/drawingml/2006/main" prst="rect">
            <a:avLst/>
          </a:prstGeom>
          <a:solidFill xmlns:a="http://schemas.openxmlformats.org/drawingml/2006/main">
            <a:srgbClr val="F2F2F0"/>
          </a:solidFill>
        </p:spPr>
      </p:sp>
      <p:sp>
        <p:nvSpPr>
          <p:cNvPr id="7" name="Text 5">
            <a:extLst xmlns:a="http://schemas.openxmlformats.org/drawingml/2006/main">
              <a:ext uri="{FF2B5EF4-FFF2-40B4-BE49-F238E27FC236}">
                <a16:creationId xmlns:a16="http://schemas.microsoft.com/office/drawing/2014/main" id="{0EAF8F99-E483-42C7-A5F4-B7276937888C}"/>
              </a:ext>
            </a:extLst>
          </p:cNvPr>
          <p:cNvSpPr>
            <a:spLocks xmlns:a="http://schemas.openxmlformats.org/drawingml/2006/main" noGrp="1"/>
          </p:cNvSpPr>
          <p:nvPr/>
        </p:nvSpPr>
        <p:spPr>
          <a:xfrm xmlns:a="http://schemas.openxmlformats.org/drawingml/2006/main">
            <a:off x="1333500" y="7579043"/>
            <a:ext cx="530860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252">
                <a:solidFill>
                  <a:srgbClr val="8A8F95"/>
                </a:solidFill>
                <a:latin typeface="Courier New"/>
                <a:ea typeface="Courier New"/>
                <a:cs typeface="Courier New"/>
              </a:rPr>
              <a:t>01 · STEP</a:t>
            </a:r>
            <a:endParaRPr sz="1800"/>
          </a:p>
        </p:txBody>
      </p:sp>
      <p:sp>
        <p:nvSpPr>
          <p:cNvPr id="8" name="Text 6">
            <a:extLst xmlns:a="http://schemas.openxmlformats.org/drawingml/2006/main">
              <a:ext uri="{FF2B5EF4-FFF2-40B4-BE49-F238E27FC236}">
                <a16:creationId xmlns:a16="http://schemas.microsoft.com/office/drawing/2014/main" id="{E88A31BA-CB80-46D3-BEAD-3964CED5703B}"/>
              </a:ext>
            </a:extLst>
          </p:cNvPr>
          <p:cNvSpPr>
            <a:spLocks xmlns:a="http://schemas.openxmlformats.org/drawingml/2006/main" noGrp="1"/>
          </p:cNvSpPr>
          <p:nvPr/>
        </p:nvSpPr>
        <p:spPr>
          <a:xfrm xmlns:a="http://schemas.openxmlformats.org/drawingml/2006/main">
            <a:off x="1333500" y="8069580"/>
            <a:ext cx="4970780" cy="139827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A worker packs the kit but leaves out the charger.</a:t>
            </a:r>
            <a:endParaRPr sz="2550"/>
          </a:p>
        </p:txBody>
      </p:sp>
      <p:sp>
        <p:nvSpPr>
          <p:cNvPr id="9" name="Shape 7">
            <a:extLst xmlns:a="http://schemas.openxmlformats.org/drawingml/2006/main">
              <a:ext uri="{FF2B5EF4-FFF2-40B4-BE49-F238E27FC236}">
                <a16:creationId xmlns:a16="http://schemas.microsoft.com/office/drawing/2014/main" id="{86AE0BE4-EED2-43E5-9E68-CE791498788A}"/>
              </a:ext>
            </a:extLst>
          </p:cNvPr>
          <p:cNvSpPr>
            <a:spLocks xmlns:a="http://schemas.openxmlformats.org/drawingml/2006/main" noGrp="1"/>
          </p:cNvSpPr>
          <p:nvPr/>
        </p:nvSpPr>
        <p:spPr>
          <a:xfrm xmlns:a="http://schemas.openxmlformats.org/drawingml/2006/main">
            <a:off x="6731000" y="7256780"/>
            <a:ext cx="4826000" cy="17462"/>
          </a:xfrm>
          <a:prstGeom xmlns:a="http://schemas.openxmlformats.org/drawingml/2006/main" prst="rect">
            <a:avLst/>
          </a:prstGeom>
          <a:solidFill xmlns:a="http://schemas.openxmlformats.org/drawingml/2006/main">
            <a:srgbClr val="F2F2F0"/>
          </a:solidFill>
        </p:spPr>
      </p:sp>
      <p:sp>
        <p:nvSpPr>
          <p:cNvPr id="10" name="Text 8">
            <a:extLst xmlns:a="http://schemas.openxmlformats.org/drawingml/2006/main">
              <a:ext uri="{FF2B5EF4-FFF2-40B4-BE49-F238E27FC236}">
                <a16:creationId xmlns:a16="http://schemas.microsoft.com/office/drawing/2014/main" id="{A2B27DD3-CD2A-485C-8E97-C6A78FBA755F}"/>
              </a:ext>
            </a:extLst>
          </p:cNvPr>
          <p:cNvSpPr>
            <a:spLocks xmlns:a="http://schemas.openxmlformats.org/drawingml/2006/main" noGrp="1"/>
          </p:cNvSpPr>
          <p:nvPr/>
        </p:nvSpPr>
        <p:spPr>
          <a:xfrm xmlns:a="http://schemas.openxmlformats.org/drawingml/2006/main">
            <a:off x="6731000" y="7579043"/>
            <a:ext cx="530860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252">
                <a:solidFill>
                  <a:srgbClr val="8A8F95"/>
                </a:solidFill>
                <a:latin typeface="Courier New"/>
                <a:ea typeface="Courier New"/>
                <a:cs typeface="Courier New"/>
              </a:rPr>
              <a:t>02 · HIDDEN</a:t>
            </a:r>
            <a:endParaRPr sz="1800"/>
          </a:p>
        </p:txBody>
      </p:sp>
      <p:sp>
        <p:nvSpPr>
          <p:cNvPr id="11" name="Text 9">
            <a:extLst xmlns:a="http://schemas.openxmlformats.org/drawingml/2006/main">
              <a:ext uri="{FF2B5EF4-FFF2-40B4-BE49-F238E27FC236}">
                <a16:creationId xmlns:a16="http://schemas.microsoft.com/office/drawing/2014/main" id="{11556A2E-0BDE-4220-A0D3-EFCA252FA5CB}"/>
              </a:ext>
            </a:extLst>
          </p:cNvPr>
          <p:cNvSpPr>
            <a:spLocks xmlns:a="http://schemas.openxmlformats.org/drawingml/2006/main" noGrp="1"/>
          </p:cNvSpPr>
          <p:nvPr/>
        </p:nvSpPr>
        <p:spPr>
          <a:xfrm xmlns:a="http://schemas.openxmlformats.org/drawingml/2006/main">
            <a:off x="6731000" y="8069580"/>
            <a:ext cx="4970780" cy="139827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The next step closes the box and hides its contents.</a:t>
            </a:r>
            <a:endParaRPr sz="2550"/>
          </a:p>
        </p:txBody>
      </p:sp>
      <p:sp>
        <p:nvSpPr>
          <p:cNvPr id="12" name="Shape 10">
            <a:extLst xmlns:a="http://schemas.openxmlformats.org/drawingml/2006/main">
              <a:ext uri="{FF2B5EF4-FFF2-40B4-BE49-F238E27FC236}">
                <a16:creationId xmlns:a16="http://schemas.microsoft.com/office/drawing/2014/main" id="{BF71D0A1-7D28-4FB7-8E0E-5F5C83AC5201}"/>
              </a:ext>
            </a:extLst>
          </p:cNvPr>
          <p:cNvSpPr>
            <a:spLocks xmlns:a="http://schemas.openxmlformats.org/drawingml/2006/main" noGrp="1"/>
          </p:cNvSpPr>
          <p:nvPr/>
        </p:nvSpPr>
        <p:spPr>
          <a:xfrm xmlns:a="http://schemas.openxmlformats.org/drawingml/2006/main">
            <a:off x="12128500" y="7256780"/>
            <a:ext cx="4826000" cy="17462"/>
          </a:xfrm>
          <a:prstGeom xmlns:a="http://schemas.openxmlformats.org/drawingml/2006/main" prst="rect">
            <a:avLst/>
          </a:prstGeom>
          <a:solidFill xmlns:a="http://schemas.openxmlformats.org/drawingml/2006/main">
            <a:srgbClr val="E8463B"/>
          </a:solidFill>
        </p:spPr>
      </p:sp>
      <p:sp>
        <p:nvSpPr>
          <p:cNvPr id="13" name="Text 11">
            <a:extLst xmlns:a="http://schemas.openxmlformats.org/drawingml/2006/main">
              <a:ext uri="{FF2B5EF4-FFF2-40B4-BE49-F238E27FC236}">
                <a16:creationId xmlns:a16="http://schemas.microsoft.com/office/drawing/2014/main" id="{F42BA465-5D9A-404A-9DB7-A89AEF2534B5}"/>
              </a:ext>
            </a:extLst>
          </p:cNvPr>
          <p:cNvSpPr>
            <a:spLocks xmlns:a="http://schemas.openxmlformats.org/drawingml/2006/main" noGrp="1"/>
          </p:cNvSpPr>
          <p:nvPr/>
        </p:nvSpPr>
        <p:spPr>
          <a:xfrm xmlns:a="http://schemas.openxmlformats.org/drawingml/2006/main">
            <a:off x="12128500" y="7579043"/>
            <a:ext cx="530860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252">
                <a:solidFill>
                  <a:srgbClr val="E8463B"/>
                </a:solidFill>
                <a:latin typeface="Courier New"/>
                <a:ea typeface="Courier New"/>
                <a:cs typeface="Courier New"/>
              </a:rPr>
              <a:t>03 · FAILURE</a:t>
            </a:r>
            <a:endParaRPr sz="1800"/>
          </a:p>
        </p:txBody>
      </p:sp>
      <p:sp>
        <p:nvSpPr>
          <p:cNvPr id="14" name="Text 12">
            <a:extLst xmlns:a="http://schemas.openxmlformats.org/drawingml/2006/main">
              <a:ext uri="{FF2B5EF4-FFF2-40B4-BE49-F238E27FC236}">
                <a16:creationId xmlns:a16="http://schemas.microsoft.com/office/drawing/2014/main" id="{8B082EBB-69FF-464A-A1DA-EAF728D95CB5}"/>
              </a:ext>
            </a:extLst>
          </p:cNvPr>
          <p:cNvSpPr>
            <a:spLocks xmlns:a="http://schemas.openxmlformats.org/drawingml/2006/main" noGrp="1"/>
          </p:cNvSpPr>
          <p:nvPr/>
        </p:nvSpPr>
        <p:spPr>
          <a:xfrm xmlns:a="http://schemas.openxmlformats.org/drawingml/2006/main">
            <a:off x="12128500" y="8069580"/>
            <a:ext cx="4970780" cy="9448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3041"/>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The customer opens an incomplete kit.</a:t>
            </a:r>
            <a:endParaRPr sz="2550"/>
          </a:p>
        </p:txBody>
      </p:sp>
    </p:spTree>
    <p:extLst>
      <p:ext uri="{BB962C8B-B14F-4D97-AF65-F5344CB8AC3E}">
        <p14:creationId xmlns:p14="http://schemas.microsoft.com/office/powerpoint/2010/main" val="1807633435"/>
      </p:ext>
    </p:extLst>
  </p:cSld>
</p:sld>
</file>

<file path=ppt/slides/slide4.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86F65C-8FD5-4D8B-A397-AA70E41E81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A9BAC6DC-D60E-4D1A-AD4F-D31EA0470458}"/>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BD6D7CB2-5593-4A24-9E1E-7C2F4685C6C1}"/>
              </a:ext>
            </a:extLst>
          </p:cNvPr>
          <p:cNvSpPr>
            <a:spLocks xmlns:a="http://schemas.openxmlformats.org/drawingml/2006/main" noGrp="1"/>
          </p:cNvSpPr>
          <p:nvPr/>
        </p:nvSpPr>
        <p:spPr>
          <a:xfrm xmlns:a="http://schemas.openxmlformats.org/drawingml/2006/main">
            <a:off x="14993462" y="952500"/>
            <a:ext cx="2157143"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THE PROBLEM</a:t>
            </a:r>
            <a:endParaRPr sz="1800"/>
          </a:p>
        </p:txBody>
      </p:sp>
      <p:sp>
        <p:nvSpPr>
          <p:cNvPr id="5" name="Text 3">
            <a:extLst xmlns:a="http://schemas.openxmlformats.org/drawingml/2006/main">
              <a:ext uri="{FF2B5EF4-FFF2-40B4-BE49-F238E27FC236}">
                <a16:creationId xmlns:a16="http://schemas.microsoft.com/office/drawing/2014/main" id="{D9FFA209-5645-4FAF-9EDA-71DE3D9379F3}"/>
              </a:ext>
            </a:extLst>
          </p:cNvPr>
          <p:cNvSpPr>
            <a:spLocks xmlns:a="http://schemas.openxmlformats.org/drawingml/2006/main" noGrp="1"/>
          </p:cNvSpPr>
          <p:nvPr/>
        </p:nvSpPr>
        <p:spPr>
          <a:xfrm xmlns:a="http://schemas.openxmlformats.org/drawingml/2006/main">
            <a:off x="1333500" y="1976438"/>
            <a:ext cx="16954500" cy="76962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The 1–10–100 rule</a:t>
            </a:r>
            <a:endParaRPr sz="4800"/>
          </a:p>
        </p:txBody>
      </p:sp>
      <p:sp>
        <p:nvSpPr>
          <p:cNvPr id="6" name="Text 4">
            <a:extLst xmlns:a="http://schemas.openxmlformats.org/drawingml/2006/main">
              <a:ext uri="{FF2B5EF4-FFF2-40B4-BE49-F238E27FC236}">
                <a16:creationId xmlns:a16="http://schemas.microsoft.com/office/drawing/2014/main" id="{08DCD1E7-DE43-4227-8D9C-0525C1EDD6D8}"/>
              </a:ext>
            </a:extLst>
          </p:cNvPr>
          <p:cNvSpPr>
            <a:spLocks xmlns:a="http://schemas.openxmlformats.org/drawingml/2006/main" noGrp="1"/>
          </p:cNvSpPr>
          <p:nvPr/>
        </p:nvSpPr>
        <p:spPr>
          <a:xfrm xmlns:a="http://schemas.openxmlformats.org/drawingml/2006/main">
            <a:off x="1333500" y="5489257"/>
            <a:ext cx="5308600" cy="14954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75868"/>
              </a:lnSpc>
              <a:buNone/>
            </a:pPr>
            <a:r>
              <a:rPr sz="13500">
                <a:solidFill>
                  <a:srgbClr val="F2F2F0"/>
                </a:solidFill>
                <a:latin typeface="Arial"/>
                <a:ea typeface="Arial"/>
                <a:cs typeface="Arial"/>
              </a:rPr>
              <a:t>1</a:t>
            </a:r>
            <a:endParaRPr sz="13500"/>
          </a:p>
        </p:txBody>
      </p:sp>
      <p:sp>
        <p:nvSpPr>
          <p:cNvPr id="7" name="Shape 5">
            <a:extLst xmlns:a="http://schemas.openxmlformats.org/drawingml/2006/main">
              <a:ext uri="{FF2B5EF4-FFF2-40B4-BE49-F238E27FC236}">
                <a16:creationId xmlns:a16="http://schemas.microsoft.com/office/drawing/2014/main" id="{B116F2A9-CB03-4513-BD63-29A8E94D9656}"/>
              </a:ext>
            </a:extLst>
          </p:cNvPr>
          <p:cNvSpPr>
            <a:spLocks xmlns:a="http://schemas.openxmlformats.org/drawingml/2006/main" noGrp="1"/>
          </p:cNvSpPr>
          <p:nvPr/>
        </p:nvSpPr>
        <p:spPr>
          <a:xfrm xmlns:a="http://schemas.openxmlformats.org/drawingml/2006/main">
            <a:off x="1333500" y="7213282"/>
            <a:ext cx="4826000" cy="19050"/>
          </a:xfrm>
          <a:prstGeom xmlns:a="http://schemas.openxmlformats.org/drawingml/2006/main" prst="rect">
            <a:avLst/>
          </a:prstGeom>
          <a:solidFill xmlns:a="http://schemas.openxmlformats.org/drawingml/2006/main">
            <a:srgbClr val="F2F2F0"/>
          </a:solidFill>
        </p:spPr>
      </p:sp>
      <p:sp>
        <p:nvSpPr>
          <p:cNvPr id="8" name="Text 6">
            <a:extLst xmlns:a="http://schemas.openxmlformats.org/drawingml/2006/main">
              <a:ext uri="{FF2B5EF4-FFF2-40B4-BE49-F238E27FC236}">
                <a16:creationId xmlns:a16="http://schemas.microsoft.com/office/drawing/2014/main" id="{28EF51F8-7A7C-4366-A27A-469FA327F711}"/>
              </a:ext>
            </a:extLst>
          </p:cNvPr>
          <p:cNvSpPr>
            <a:spLocks xmlns:a="http://schemas.openxmlformats.org/drawingml/2006/main" noGrp="1"/>
          </p:cNvSpPr>
          <p:nvPr/>
        </p:nvSpPr>
        <p:spPr>
          <a:xfrm xmlns:a="http://schemas.openxmlformats.org/drawingml/2006/main">
            <a:off x="1333500" y="7499032"/>
            <a:ext cx="4970780" cy="9448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At the workstation, while still visible</a:t>
            </a:r>
            <a:endParaRPr sz="2550"/>
          </a:p>
        </p:txBody>
      </p:sp>
      <p:sp>
        <p:nvSpPr>
          <p:cNvPr id="9" name="Text 7">
            <a:extLst xmlns:a="http://schemas.openxmlformats.org/drawingml/2006/main">
              <a:ext uri="{FF2B5EF4-FFF2-40B4-BE49-F238E27FC236}">
                <a16:creationId xmlns:a16="http://schemas.microsoft.com/office/drawing/2014/main" id="{F109DABE-92DC-4639-90CD-D7C3D2DA8711}"/>
              </a:ext>
            </a:extLst>
          </p:cNvPr>
          <p:cNvSpPr>
            <a:spLocks xmlns:a="http://schemas.openxmlformats.org/drawingml/2006/main" noGrp="1"/>
          </p:cNvSpPr>
          <p:nvPr/>
        </p:nvSpPr>
        <p:spPr>
          <a:xfrm xmlns:a="http://schemas.openxmlformats.org/drawingml/2006/main">
            <a:off x="6731000" y="5489257"/>
            <a:ext cx="5308600" cy="14954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75868"/>
              </a:lnSpc>
              <a:buNone/>
            </a:pPr>
            <a:r>
              <a:rPr sz="13500">
                <a:solidFill>
                  <a:srgbClr val="B9BDC2"/>
                </a:solidFill>
                <a:latin typeface="Arial"/>
                <a:ea typeface="Arial"/>
                <a:cs typeface="Arial"/>
              </a:rPr>
              <a:t>10</a:t>
            </a:r>
            <a:endParaRPr sz="13500"/>
          </a:p>
        </p:txBody>
      </p:sp>
      <p:sp>
        <p:nvSpPr>
          <p:cNvPr id="10" name="Shape 8">
            <a:extLst xmlns:a="http://schemas.openxmlformats.org/drawingml/2006/main">
              <a:ext uri="{FF2B5EF4-FFF2-40B4-BE49-F238E27FC236}">
                <a16:creationId xmlns:a16="http://schemas.microsoft.com/office/drawing/2014/main" id="{CCA40807-1080-4073-A351-8E2BAC3C7534}"/>
              </a:ext>
            </a:extLst>
          </p:cNvPr>
          <p:cNvSpPr>
            <a:spLocks xmlns:a="http://schemas.openxmlformats.org/drawingml/2006/main" noGrp="1"/>
          </p:cNvSpPr>
          <p:nvPr/>
        </p:nvSpPr>
        <p:spPr>
          <a:xfrm xmlns:a="http://schemas.openxmlformats.org/drawingml/2006/main">
            <a:off x="6731000" y="7213282"/>
            <a:ext cx="4826000" cy="19050"/>
          </a:xfrm>
          <a:prstGeom xmlns:a="http://schemas.openxmlformats.org/drawingml/2006/main" prst="rect">
            <a:avLst/>
          </a:prstGeom>
          <a:solidFill xmlns:a="http://schemas.openxmlformats.org/drawingml/2006/main">
            <a:srgbClr val="8A8F95"/>
          </a:solidFill>
        </p:spPr>
      </p:sp>
      <p:sp>
        <p:nvSpPr>
          <p:cNvPr id="11" name="Text 9">
            <a:extLst xmlns:a="http://schemas.openxmlformats.org/drawingml/2006/main">
              <a:ext uri="{FF2B5EF4-FFF2-40B4-BE49-F238E27FC236}">
                <a16:creationId xmlns:a16="http://schemas.microsoft.com/office/drawing/2014/main" id="{655FF1AD-CD84-4CC2-AA61-52982CDD96B7}"/>
              </a:ext>
            </a:extLst>
          </p:cNvPr>
          <p:cNvSpPr>
            <a:spLocks xmlns:a="http://schemas.openxmlformats.org/drawingml/2006/main" noGrp="1"/>
          </p:cNvSpPr>
          <p:nvPr/>
        </p:nvSpPr>
        <p:spPr>
          <a:xfrm xmlns:a="http://schemas.openxmlformats.org/drawingml/2006/main">
            <a:off x="6731000" y="7499032"/>
            <a:ext cx="5308600" cy="49149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At the final factory test</a:t>
            </a:r>
            <a:endParaRPr sz="2550"/>
          </a:p>
        </p:txBody>
      </p:sp>
      <p:sp>
        <p:nvSpPr>
          <p:cNvPr id="12" name="Text 10">
            <a:extLst xmlns:a="http://schemas.openxmlformats.org/drawingml/2006/main">
              <a:ext uri="{FF2B5EF4-FFF2-40B4-BE49-F238E27FC236}">
                <a16:creationId xmlns:a16="http://schemas.microsoft.com/office/drawing/2014/main" id="{0197CDAA-EF36-42F7-9C67-618CCF8C6F5D}"/>
              </a:ext>
            </a:extLst>
          </p:cNvPr>
          <p:cNvSpPr>
            <a:spLocks xmlns:a="http://schemas.openxmlformats.org/drawingml/2006/main" noGrp="1"/>
          </p:cNvSpPr>
          <p:nvPr/>
        </p:nvSpPr>
        <p:spPr>
          <a:xfrm xmlns:a="http://schemas.openxmlformats.org/drawingml/2006/main">
            <a:off x="12128500" y="5489257"/>
            <a:ext cx="5308600" cy="14954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75868"/>
              </a:lnSpc>
              <a:buNone/>
            </a:pPr>
            <a:r>
              <a:rPr sz="13500">
                <a:solidFill>
                  <a:srgbClr val="8A8F95"/>
                </a:solidFill>
                <a:latin typeface="Arial"/>
                <a:ea typeface="Arial"/>
                <a:cs typeface="Arial"/>
              </a:rPr>
              <a:t>100+</a:t>
            </a:r>
            <a:endParaRPr sz="13500"/>
          </a:p>
        </p:txBody>
      </p:sp>
      <p:sp>
        <p:nvSpPr>
          <p:cNvPr id="13" name="Shape 11">
            <a:extLst xmlns:a="http://schemas.openxmlformats.org/drawingml/2006/main">
              <a:ext uri="{FF2B5EF4-FFF2-40B4-BE49-F238E27FC236}">
                <a16:creationId xmlns:a16="http://schemas.microsoft.com/office/drawing/2014/main" id="{EB977E49-F686-4FBE-A22C-5AE9F51FFB59}"/>
              </a:ext>
            </a:extLst>
          </p:cNvPr>
          <p:cNvSpPr>
            <a:spLocks xmlns:a="http://schemas.openxmlformats.org/drawingml/2006/main" noGrp="1"/>
          </p:cNvSpPr>
          <p:nvPr/>
        </p:nvSpPr>
        <p:spPr>
          <a:xfrm xmlns:a="http://schemas.openxmlformats.org/drawingml/2006/main">
            <a:off x="12128500" y="7213282"/>
            <a:ext cx="4826000" cy="19050"/>
          </a:xfrm>
          <a:prstGeom xmlns:a="http://schemas.openxmlformats.org/drawingml/2006/main" prst="rect">
            <a:avLst/>
          </a:prstGeom>
          <a:solidFill xmlns:a="http://schemas.openxmlformats.org/drawingml/2006/main">
            <a:srgbClr val="55595E"/>
          </a:solidFill>
        </p:spPr>
      </p:sp>
      <p:sp>
        <p:nvSpPr>
          <p:cNvPr id="14" name="Text 12">
            <a:extLst xmlns:a="http://schemas.openxmlformats.org/drawingml/2006/main">
              <a:ext uri="{FF2B5EF4-FFF2-40B4-BE49-F238E27FC236}">
                <a16:creationId xmlns:a16="http://schemas.microsoft.com/office/drawing/2014/main" id="{76EBA4BC-91F6-4B61-A0BE-3DCD66697FC1}"/>
              </a:ext>
            </a:extLst>
          </p:cNvPr>
          <p:cNvSpPr>
            <a:spLocks xmlns:a="http://schemas.openxmlformats.org/drawingml/2006/main" noGrp="1"/>
          </p:cNvSpPr>
          <p:nvPr/>
        </p:nvSpPr>
        <p:spPr>
          <a:xfrm xmlns:a="http://schemas.openxmlformats.org/drawingml/2006/main">
            <a:off x="12128500" y="7499032"/>
            <a:ext cx="4970780" cy="9448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3636"/>
              </a:lnSpc>
              <a:buNone/>
            </a:pPr>
            <a:r>
              <a:rPr sz="2550">
                <a:solidFill>
                  <a:srgbClr val="D4D7DA"/>
                </a:solidFill>
                <a:latin typeface="Arial"/>
                <a:ea typeface="Arial"/>
                <a:cs typeface="Arial"/>
              </a:rPr>
              <a:t>At the customer: repair, warranty, reputation</a:t>
            </a:r>
            <a:endParaRPr sz="2550"/>
          </a:p>
        </p:txBody>
      </p:sp>
      <p:sp>
        <p:nvSpPr>
          <p:cNvPr id="15" name="Text 13">
            <a:extLst xmlns:a="http://schemas.openxmlformats.org/drawingml/2006/main">
              <a:ext uri="{FF2B5EF4-FFF2-40B4-BE49-F238E27FC236}">
                <a16:creationId xmlns:a16="http://schemas.microsoft.com/office/drawing/2014/main" id="{45529015-687A-4753-83C1-AAA7149EF27A}"/>
              </a:ext>
            </a:extLst>
          </p:cNvPr>
          <p:cNvSpPr>
            <a:spLocks xmlns:a="http://schemas.openxmlformats.org/drawingml/2006/main" noGrp="1"/>
          </p:cNvSpPr>
          <p:nvPr/>
        </p:nvSpPr>
        <p:spPr>
          <a:xfrm xmlns:a="http://schemas.openxmlformats.org/drawingml/2006/main">
            <a:off x="1333500" y="9167813"/>
            <a:ext cx="1695450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9116"/>
          </a:bodyPr>
          <a:lstStyle xmlns:a="http://schemas.openxmlformats.org/drawingml/2006/main">
            <a:defPPr>
              <a:defRPr sz="1650"/>
            </a:defPPr>
          </a:lstStyle>
          <a:p xmlns:a="http://schemas.openxmlformats.org/drawingml/2006/main">
            <a:pPr marL="0" indent="0" algn="l">
              <a:buNone/>
            </a:pPr>
            <a:r>
              <a:rPr sz="1650" spc="180">
                <a:solidFill>
                  <a:srgbClr val="8A8F95"/>
                </a:solidFill>
                <a:latin typeface="Courier New"/>
                <a:ea typeface="Courier New"/>
                <a:cs typeface="Courier New"/>
              </a:rPr>
              <a:t>RULE OF THUMB / ILLUSTRATIVE MULTIPLIERS, NOT MEASURED SAVINGS</a:t>
            </a:r>
            <a:endParaRPr sz="1800"/>
          </a:p>
        </p:txBody>
      </p:sp>
    </p:spTree>
    <p:extLst>
      <p:ext uri="{BB962C8B-B14F-4D97-AF65-F5344CB8AC3E}">
        <p14:creationId xmlns:p14="http://schemas.microsoft.com/office/powerpoint/2010/main" val="742508405"/>
      </p:ext>
    </p:extLst>
  </p:cSld>
</p:sld>
</file>

<file path=ppt/slides/slide5.xml><?xml version="1.0" encoding="utf-8"?>
<p:sld xmlns:p="http://schemas.openxmlformats.org/presentationml/2006/main">
  <p:cSld>
    <p:bg>
      <p:bgPr>
        <a:solidFill xmlns:a="http://schemas.openxmlformats.org/drawingml/2006/main">
          <a:srgbClr val="F2F2F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AA8261-4738-4770-95C7-1408E2807804}"/>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MULTILÖND AI</a:t>
            </a:r>
            <a:endParaRPr sz="1800"/>
          </a:p>
        </p:txBody>
      </p:sp>
      <p:sp>
        <p:nvSpPr>
          <p:cNvPr id="3" name="Text 1">
            <a:extLst xmlns:a="http://schemas.openxmlformats.org/drawingml/2006/main">
              <a:ext uri="{FF2B5EF4-FFF2-40B4-BE49-F238E27FC236}">
                <a16:creationId xmlns:a16="http://schemas.microsoft.com/office/drawing/2014/main" id="{D5689D43-2E69-44CE-94A5-AA742A988491}"/>
              </a:ext>
            </a:extLst>
          </p:cNvPr>
          <p:cNvSpPr>
            <a:spLocks xmlns:a="http://schemas.openxmlformats.org/drawingml/2006/main" noGrp="1"/>
          </p:cNvSpPr>
          <p:nvPr/>
        </p:nvSpPr>
        <p:spPr>
          <a:xfrm xmlns:a="http://schemas.openxmlformats.org/drawingml/2006/main">
            <a:off x="15706567" y="952500"/>
            <a:ext cx="137272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02 / 03</a:t>
            </a:r>
            <a:endParaRPr sz="1800"/>
          </a:p>
        </p:txBody>
      </p:sp>
      <p:sp>
        <p:nvSpPr>
          <p:cNvPr id="4" name="Text 2">
            <a:extLst xmlns:a="http://schemas.openxmlformats.org/drawingml/2006/main">
              <a:ext uri="{FF2B5EF4-FFF2-40B4-BE49-F238E27FC236}">
                <a16:creationId xmlns:a16="http://schemas.microsoft.com/office/drawing/2014/main" id="{F66334AE-686E-4ECD-9D4D-CC439D13F346}"/>
              </a:ext>
            </a:extLst>
          </p:cNvPr>
          <p:cNvSpPr>
            <a:spLocks xmlns:a="http://schemas.openxmlformats.org/drawingml/2006/main" noGrp="1"/>
          </p:cNvSpPr>
          <p:nvPr/>
        </p:nvSpPr>
        <p:spPr>
          <a:xfrm xmlns:a="http://schemas.openxmlformats.org/drawingml/2006/main">
            <a:off x="1333500" y="4276249"/>
            <a:ext cx="16954500" cy="39608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spc="480">
                <a:solidFill>
                  <a:srgbClr val="55595E"/>
                </a:solidFill>
                <a:latin typeface="Courier New"/>
                <a:ea typeface="Courier New"/>
                <a:cs typeface="Courier New"/>
              </a:rPr>
              <a:t>02</a:t>
            </a:r>
            <a:endParaRPr sz="2400"/>
          </a:p>
        </p:txBody>
      </p:sp>
      <p:sp>
        <p:nvSpPr>
          <p:cNvPr id="5" name="Text 3">
            <a:extLst xmlns:a="http://schemas.openxmlformats.org/drawingml/2006/main">
              <a:ext uri="{FF2B5EF4-FFF2-40B4-BE49-F238E27FC236}">
                <a16:creationId xmlns:a16="http://schemas.microsoft.com/office/drawing/2014/main" id="{BC25A0DE-D4BE-4F2F-99D3-087615DFEB2D}"/>
              </a:ext>
            </a:extLst>
          </p:cNvPr>
          <p:cNvSpPr>
            <a:spLocks xmlns:a="http://schemas.openxmlformats.org/drawingml/2006/main" noGrp="1"/>
          </p:cNvSpPr>
          <p:nvPr/>
        </p:nvSpPr>
        <p:spPr>
          <a:xfrm xmlns:a="http://schemas.openxmlformats.org/drawingml/2006/main">
            <a:off x="1333500" y="5015230"/>
            <a:ext cx="16954500" cy="13716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88795"/>
              </a:lnSpc>
              <a:buNone/>
            </a:pPr>
            <a:r>
              <a:rPr sz="10500" spc="1890">
                <a:solidFill>
                  <a:srgbClr val="050607"/>
                </a:solidFill>
                <a:latin typeface="Arial"/>
                <a:ea typeface="Arial"/>
                <a:cs typeface="Arial"/>
              </a:rPr>
              <a:t>HOW IT WORKS</a:t>
            </a:r>
            <a:endParaRPr sz="10500"/>
          </a:p>
        </p:txBody>
      </p:sp>
      <p:sp>
        <p:nvSpPr>
          <p:cNvPr id="6" name="Shape 4">
            <a:extLst xmlns:a="http://schemas.openxmlformats.org/drawingml/2006/main">
              <a:ext uri="{FF2B5EF4-FFF2-40B4-BE49-F238E27FC236}">
                <a16:creationId xmlns:a16="http://schemas.microsoft.com/office/drawing/2014/main" id="{E5F296A5-BF6D-44C4-82EB-556282BF933F}"/>
              </a:ext>
            </a:extLst>
          </p:cNvPr>
          <p:cNvSpPr>
            <a:spLocks xmlns:a="http://schemas.openxmlformats.org/drawingml/2006/main" noGrp="1"/>
          </p:cNvSpPr>
          <p:nvPr/>
        </p:nvSpPr>
        <p:spPr>
          <a:xfrm xmlns:a="http://schemas.openxmlformats.org/drawingml/2006/main">
            <a:off x="1333500" y="9410700"/>
            <a:ext cx="15621000" cy="19050"/>
          </a:xfrm>
          <a:prstGeom xmlns:a="http://schemas.openxmlformats.org/drawingml/2006/main" prst="rect">
            <a:avLst/>
          </a:prstGeom>
          <a:solidFill xmlns:a="http://schemas.openxmlformats.org/drawingml/2006/main">
            <a:srgbClr val="050607"/>
          </a:solidFill>
        </p:spPr>
      </p:sp>
    </p:spTree>
    <p:extLst>
      <p:ext uri="{BB962C8B-B14F-4D97-AF65-F5344CB8AC3E}">
        <p14:creationId xmlns:p14="http://schemas.microsoft.com/office/powerpoint/2010/main" val="243949970"/>
      </p:ext>
    </p:extLst>
  </p:cSld>
</p:sld>
</file>

<file path=ppt/slides/slide6.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7720BC-E16A-4A4B-8CF7-ADFB034B1C12}"/>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3" name="Text 1">
            <a:extLst xmlns:a="http://schemas.openxmlformats.org/drawingml/2006/main">
              <a:ext uri="{FF2B5EF4-FFF2-40B4-BE49-F238E27FC236}">
                <a16:creationId xmlns:a16="http://schemas.microsoft.com/office/drawing/2014/main" id="{7D2186BB-48FD-4C74-8290-17DB865E236C}"/>
              </a:ext>
            </a:extLst>
          </p:cNvPr>
          <p:cNvSpPr>
            <a:spLocks xmlns:a="http://schemas.openxmlformats.org/drawingml/2006/main" noGrp="1"/>
          </p:cNvSpPr>
          <p:nvPr/>
        </p:nvSpPr>
        <p:spPr>
          <a:xfrm xmlns:a="http://schemas.openxmlformats.org/drawingml/2006/main">
            <a:off x="14815185"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HOW IT WORKS</a:t>
            </a:r>
            <a:endParaRPr sz="1800"/>
          </a:p>
        </p:txBody>
      </p:sp>
      <p:sp>
        <p:nvSpPr>
          <p:cNvPr id="4" name="Shape 2">
            <a:extLst xmlns:a="http://schemas.openxmlformats.org/drawingml/2006/main">
              <a:ext uri="{FF2B5EF4-FFF2-40B4-BE49-F238E27FC236}">
                <a16:creationId xmlns:a16="http://schemas.microsoft.com/office/drawing/2014/main" id="{7EF79041-880E-4B24-AC1F-2FCCCDA94BAC}"/>
              </a:ext>
            </a:extLst>
          </p:cNvPr>
          <p:cNvSpPr>
            <a:spLocks xmlns:a="http://schemas.openxmlformats.org/drawingml/2006/main" noGrp="1"/>
          </p:cNvSpPr>
          <p:nvPr/>
        </p:nvSpPr>
        <p:spPr>
          <a:xfrm xmlns:a="http://schemas.openxmlformats.org/drawingml/2006/main">
            <a:off x="1333500" y="1671638"/>
            <a:ext cx="15621000" cy="6820694"/>
          </a:xfrm>
          <a:prstGeom xmlns:a="http://schemas.openxmlformats.org/drawingml/2006/main" prst="rect">
            <a:avLst/>
          </a:prstGeom>
          <a:solidFill xmlns:a="http://schemas.openxmlformats.org/drawingml/2006/main">
            <a:srgbClr val="0E1012"/>
          </a:solidFill>
        </p:spPr>
      </p:sp>
      <p:sp>
        <p:nvSpPr>
          <p:cNvPr id="5" name="Shape 3">
            <a:extLst xmlns:a="http://schemas.openxmlformats.org/drawingml/2006/main">
              <a:ext uri="{FF2B5EF4-FFF2-40B4-BE49-F238E27FC236}">
                <a16:creationId xmlns:a16="http://schemas.microsoft.com/office/drawing/2014/main" id="{FFA32B31-A3D5-4109-B52D-A69778268EE0}"/>
              </a:ext>
            </a:extLst>
          </p:cNvPr>
          <p:cNvSpPr>
            <a:spLocks xmlns:a="http://schemas.openxmlformats.org/drawingml/2006/main" noGrp="1"/>
          </p:cNvSpPr>
          <p:nvPr/>
        </p:nvSpPr>
        <p:spPr>
          <a:xfrm xmlns:a="http://schemas.openxmlformats.org/drawingml/2006/main">
            <a:off x="1333500" y="1671638"/>
            <a:ext cx="559594" cy="26194"/>
          </a:xfrm>
          <a:prstGeom xmlns:a="http://schemas.openxmlformats.org/drawingml/2006/main" prst="rect">
            <a:avLst/>
          </a:prstGeom>
          <a:solidFill xmlns:a="http://schemas.openxmlformats.org/drawingml/2006/main">
            <a:srgbClr val="F2F2F0"/>
          </a:solidFill>
        </p:spPr>
      </p:sp>
      <p:sp>
        <p:nvSpPr>
          <p:cNvPr id="6" name="Shape 4">
            <a:extLst xmlns:a="http://schemas.openxmlformats.org/drawingml/2006/main">
              <a:ext uri="{FF2B5EF4-FFF2-40B4-BE49-F238E27FC236}">
                <a16:creationId xmlns:a16="http://schemas.microsoft.com/office/drawing/2014/main" id="{89CEF208-B3F2-4D7B-826D-81EF39D445FA}"/>
              </a:ext>
            </a:extLst>
          </p:cNvPr>
          <p:cNvSpPr>
            <a:spLocks xmlns:a="http://schemas.openxmlformats.org/drawingml/2006/main" noGrp="1"/>
          </p:cNvSpPr>
          <p:nvPr/>
        </p:nvSpPr>
        <p:spPr>
          <a:xfrm xmlns:a="http://schemas.openxmlformats.org/drawingml/2006/main">
            <a:off x="1333500" y="1671638"/>
            <a:ext cx="26194" cy="559594"/>
          </a:xfrm>
          <a:prstGeom xmlns:a="http://schemas.openxmlformats.org/drawingml/2006/main" prst="rect">
            <a:avLst/>
          </a:prstGeom>
          <a:solidFill xmlns:a="http://schemas.openxmlformats.org/drawingml/2006/main">
            <a:srgbClr val="F2F2F0"/>
          </a:solidFill>
        </p:spPr>
      </p:sp>
      <p:sp>
        <p:nvSpPr>
          <p:cNvPr id="7" name="Shape 5">
            <a:extLst xmlns:a="http://schemas.openxmlformats.org/drawingml/2006/main">
              <a:ext uri="{FF2B5EF4-FFF2-40B4-BE49-F238E27FC236}">
                <a16:creationId xmlns:a16="http://schemas.microsoft.com/office/drawing/2014/main" id="{D6C8A535-2DB6-4C8A-AE20-E4A50D3852B0}"/>
              </a:ext>
            </a:extLst>
          </p:cNvPr>
          <p:cNvSpPr>
            <a:spLocks xmlns:a="http://schemas.openxmlformats.org/drawingml/2006/main" noGrp="1"/>
          </p:cNvSpPr>
          <p:nvPr/>
        </p:nvSpPr>
        <p:spPr>
          <a:xfrm xmlns:a="http://schemas.openxmlformats.org/drawingml/2006/main">
            <a:off x="16394906" y="1671638"/>
            <a:ext cx="559594" cy="26194"/>
          </a:xfrm>
          <a:prstGeom xmlns:a="http://schemas.openxmlformats.org/drawingml/2006/main" prst="rect">
            <a:avLst/>
          </a:prstGeom>
          <a:solidFill xmlns:a="http://schemas.openxmlformats.org/drawingml/2006/main">
            <a:srgbClr val="F2F2F0"/>
          </a:solidFill>
        </p:spPr>
      </p:sp>
      <p:sp>
        <p:nvSpPr>
          <p:cNvPr id="8" name="Shape 6">
            <a:extLst xmlns:a="http://schemas.openxmlformats.org/drawingml/2006/main">
              <a:ext uri="{FF2B5EF4-FFF2-40B4-BE49-F238E27FC236}">
                <a16:creationId xmlns:a16="http://schemas.microsoft.com/office/drawing/2014/main" id="{D94C111B-C3E1-43DD-9BA4-663D5E1D46C7}"/>
              </a:ext>
            </a:extLst>
          </p:cNvPr>
          <p:cNvSpPr>
            <a:spLocks xmlns:a="http://schemas.openxmlformats.org/drawingml/2006/main" noGrp="1"/>
          </p:cNvSpPr>
          <p:nvPr/>
        </p:nvSpPr>
        <p:spPr>
          <a:xfrm xmlns:a="http://schemas.openxmlformats.org/drawingml/2006/main">
            <a:off x="16928306" y="1671638"/>
            <a:ext cx="26194" cy="559594"/>
          </a:xfrm>
          <a:prstGeom xmlns:a="http://schemas.openxmlformats.org/drawingml/2006/main" prst="rect">
            <a:avLst/>
          </a:prstGeom>
          <a:solidFill xmlns:a="http://schemas.openxmlformats.org/drawingml/2006/main">
            <a:srgbClr val="F2F2F0"/>
          </a:solidFill>
        </p:spPr>
      </p:sp>
      <p:sp>
        <p:nvSpPr>
          <p:cNvPr id="9" name="Shape 7">
            <a:extLst xmlns:a="http://schemas.openxmlformats.org/drawingml/2006/main">
              <a:ext uri="{FF2B5EF4-FFF2-40B4-BE49-F238E27FC236}">
                <a16:creationId xmlns:a16="http://schemas.microsoft.com/office/drawing/2014/main" id="{5AAE850A-B883-4B6E-8859-61365A7F4DD9}"/>
              </a:ext>
            </a:extLst>
          </p:cNvPr>
          <p:cNvSpPr>
            <a:spLocks xmlns:a="http://schemas.openxmlformats.org/drawingml/2006/main" noGrp="1"/>
          </p:cNvSpPr>
          <p:nvPr/>
        </p:nvSpPr>
        <p:spPr>
          <a:xfrm xmlns:a="http://schemas.openxmlformats.org/drawingml/2006/main">
            <a:off x="1333500" y="8466137"/>
            <a:ext cx="559594" cy="26194"/>
          </a:xfrm>
          <a:prstGeom xmlns:a="http://schemas.openxmlformats.org/drawingml/2006/main" prst="rect">
            <a:avLst/>
          </a:prstGeom>
          <a:solidFill xmlns:a="http://schemas.openxmlformats.org/drawingml/2006/main">
            <a:srgbClr val="F2F2F0"/>
          </a:solidFill>
        </p:spPr>
      </p:sp>
      <p:sp>
        <p:nvSpPr>
          <p:cNvPr id="10" name="Shape 8">
            <a:extLst xmlns:a="http://schemas.openxmlformats.org/drawingml/2006/main">
              <a:ext uri="{FF2B5EF4-FFF2-40B4-BE49-F238E27FC236}">
                <a16:creationId xmlns:a16="http://schemas.microsoft.com/office/drawing/2014/main" id="{D3BB85B1-3ED1-4DB5-925E-EBAA80072EF2}"/>
              </a:ext>
            </a:extLst>
          </p:cNvPr>
          <p:cNvSpPr>
            <a:spLocks xmlns:a="http://schemas.openxmlformats.org/drawingml/2006/main" noGrp="1"/>
          </p:cNvSpPr>
          <p:nvPr/>
        </p:nvSpPr>
        <p:spPr>
          <a:xfrm xmlns:a="http://schemas.openxmlformats.org/drawingml/2006/main">
            <a:off x="1333500" y="7932737"/>
            <a:ext cx="26194" cy="559594"/>
          </a:xfrm>
          <a:prstGeom xmlns:a="http://schemas.openxmlformats.org/drawingml/2006/main" prst="rect">
            <a:avLst/>
          </a:prstGeom>
          <a:solidFill xmlns:a="http://schemas.openxmlformats.org/drawingml/2006/main">
            <a:srgbClr val="F2F2F0"/>
          </a:solidFill>
        </p:spPr>
      </p:sp>
      <p:sp>
        <p:nvSpPr>
          <p:cNvPr id="11" name="Shape 9">
            <a:extLst xmlns:a="http://schemas.openxmlformats.org/drawingml/2006/main">
              <a:ext uri="{FF2B5EF4-FFF2-40B4-BE49-F238E27FC236}">
                <a16:creationId xmlns:a16="http://schemas.microsoft.com/office/drawing/2014/main" id="{81CB95F7-A2C9-4C7A-8BEE-54E2A3B9B958}"/>
              </a:ext>
            </a:extLst>
          </p:cNvPr>
          <p:cNvSpPr>
            <a:spLocks xmlns:a="http://schemas.openxmlformats.org/drawingml/2006/main" noGrp="1"/>
          </p:cNvSpPr>
          <p:nvPr/>
        </p:nvSpPr>
        <p:spPr>
          <a:xfrm xmlns:a="http://schemas.openxmlformats.org/drawingml/2006/main">
            <a:off x="16394906" y="8466137"/>
            <a:ext cx="559594" cy="26194"/>
          </a:xfrm>
          <a:prstGeom xmlns:a="http://schemas.openxmlformats.org/drawingml/2006/main" prst="rect">
            <a:avLst/>
          </a:prstGeom>
          <a:solidFill xmlns:a="http://schemas.openxmlformats.org/drawingml/2006/main">
            <a:srgbClr val="F2F2F0"/>
          </a:solidFill>
        </p:spPr>
      </p:sp>
      <p:sp>
        <p:nvSpPr>
          <p:cNvPr id="12" name="Shape 10">
            <a:extLst xmlns:a="http://schemas.openxmlformats.org/drawingml/2006/main">
              <a:ext uri="{FF2B5EF4-FFF2-40B4-BE49-F238E27FC236}">
                <a16:creationId xmlns:a16="http://schemas.microsoft.com/office/drawing/2014/main" id="{365112D6-96FA-4193-AFF8-A8F0BBBC6399}"/>
              </a:ext>
            </a:extLst>
          </p:cNvPr>
          <p:cNvSpPr>
            <a:spLocks xmlns:a="http://schemas.openxmlformats.org/drawingml/2006/main" noGrp="1"/>
          </p:cNvSpPr>
          <p:nvPr/>
        </p:nvSpPr>
        <p:spPr>
          <a:xfrm xmlns:a="http://schemas.openxmlformats.org/drawingml/2006/main">
            <a:off x="16928306" y="7932737"/>
            <a:ext cx="26194" cy="559594"/>
          </a:xfrm>
          <a:prstGeom xmlns:a="http://schemas.openxmlformats.org/drawingml/2006/main" prst="rect">
            <a:avLst/>
          </a:prstGeom>
          <a:solidFill xmlns:a="http://schemas.openxmlformats.org/drawingml/2006/main">
            <a:srgbClr val="F2F2F0"/>
          </a:solidFill>
        </p:spPr>
      </p:sp>
      <p:sp>
        <p:nvSpPr>
          <p:cNvPr id="14" name="Text 12">
            <a:extLst xmlns:a="http://schemas.openxmlformats.org/drawingml/2006/main">
              <a:ext uri="{FF2B5EF4-FFF2-40B4-BE49-F238E27FC236}">
                <a16:creationId xmlns:a16="http://schemas.microsoft.com/office/drawing/2014/main" id="{F5635E1D-22E4-4E9E-98CD-B0A7EEAD607C}"/>
              </a:ext>
            </a:extLst>
          </p:cNvPr>
          <p:cNvSpPr>
            <a:spLocks xmlns:a="http://schemas.openxmlformats.org/drawingml/2006/main" noGrp="1"/>
          </p:cNvSpPr>
          <p:nvPr/>
        </p:nvSpPr>
        <p:spPr>
          <a:xfrm xmlns:a="http://schemas.openxmlformats.org/drawingml/2006/main">
            <a:off x="1333500" y="8949531"/>
            <a:ext cx="6883543" cy="51831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961"/>
          </a:bodyPr>
          <a:lstStyle xmlns:a="http://schemas.openxmlformats.org/drawingml/2006/main"/>
          <a:p xmlns:a="http://schemas.openxmlformats.org/drawingml/2006/main">
            <a:pPr marL="0" indent="0" algn="l">
              <a:buNone/>
            </a:pPr>
            <a:r>
              <a:rPr sz="3300" spc="132">
                <a:solidFill>
                  <a:srgbClr val="F2F2F0"/>
                </a:solidFill>
                <a:latin typeface="Arial"/>
                <a:ea typeface="Arial"/>
                <a:cs typeface="Arial"/>
              </a:rPr>
              <a:t>Packing-box inspection</a:t>
            </a:r>
            <a:endParaRPr sz="3300"/>
          </a:p>
        </p:txBody>
      </p:sp>
      <p:sp>
        <p:nvSpPr>
          <p:cNvPr id="15" name="Text 13">
            <a:extLst xmlns:a="http://schemas.openxmlformats.org/drawingml/2006/main">
              <a:ext uri="{FF2B5EF4-FFF2-40B4-BE49-F238E27FC236}">
                <a16:creationId xmlns:a16="http://schemas.microsoft.com/office/drawing/2014/main" id="{252F7A59-3437-4EC7-BDE3-4CAC6A0C5D9F}"/>
              </a:ext>
            </a:extLst>
          </p:cNvPr>
          <p:cNvSpPr>
            <a:spLocks xmlns:a="http://schemas.openxmlformats.org/drawingml/2006/main" noGrp="1"/>
          </p:cNvSpPr>
          <p:nvPr/>
        </p:nvSpPr>
        <p:spPr>
          <a:xfrm xmlns:a="http://schemas.openxmlformats.org/drawingml/2006/main">
            <a:off x="11334750" y="9144000"/>
            <a:ext cx="5619750"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9537"/>
          </a:bodyPr>
          <a:lstStyle xmlns:a="http://schemas.openxmlformats.org/drawingml/2006/main">
            <a:defPPr>
              <a:defRPr sz="1800"/>
            </a:defPPr>
          </a:lstStyle>
          <a:p xmlns:a="http://schemas.openxmlformats.org/drawingml/2006/main">
            <a:pPr marL="0" indent="0" algn="l">
              <a:buNone/>
            </a:pPr>
            <a:r>
              <a:rPr sz="1800" spc="180">
                <a:solidFill>
                  <a:srgbClr val="E8463B"/>
                </a:solidFill>
                <a:latin typeface="Courier New"/>
                <a:ea typeface="Courier New"/>
                <a:cs typeface="Courier New"/>
              </a:rPr>
              <a:t>PRODUCT PAGE / ILLUSTRATION</a:t>
            </a:r>
            <a:endParaRPr sz="1800"/>
          </a:p>
        </p:txBody>
      </p:sp>
      <p:pic>
        <p:nvPicPr>
          <p:cNvPr id="16" name="">
            <a:extLst xmlns:a="http://schemas.openxmlformats.org/drawingml/2006/main">
              <a:ext uri="{FF2B5EF4-FFF2-40B4-BE49-F238E27FC236}">
                <a16:creationId xmlns:a16="http://schemas.microsoft.com/office/drawing/2014/main" id="{F089800E-77EB-4422-91EA-26BFB7FAD3F8}"/>
              </a:ext>
            </a:extLst>
          </p:cNvPr>
          <p:cNvPicPr>
            <a:picLocks xmlns:a="http://schemas.openxmlformats.org/drawingml/2006/main" noChangeAspect="1"/>
          </p:cNvPicPr>
          <p:nvPr/>
        </p:nvPicPr>
        <p:blipFill>
          <a:blip xmlns:r="http://schemas.openxmlformats.org/officeDocument/2006/relationships" xmlns:a="http://schemas.openxmlformats.org/drawingml/2006/main" r:embed="Re2db13ba33914458"/>
          <a:stretch xmlns:a="http://schemas.openxmlformats.org/drawingml/2006/main"/>
        </p:blipFill>
        <p:spPr>
          <a:xfrm xmlns:a="http://schemas.openxmlformats.org/drawingml/2006/main">
            <a:off x="3084745" y="1671638"/>
            <a:ext cx="12118509" cy="6820853"/>
          </a:xfrm>
          <a:prstGeom xmlns:a="http://schemas.openxmlformats.org/drawingml/2006/main" prst="rect">
            <a:avLst/>
          </a:prstGeom>
        </p:spPr>
      </p:pic>
    </p:spTree>
    <p:extLst>
      <p:ext uri="{BB962C8B-B14F-4D97-AF65-F5344CB8AC3E}">
        <p14:creationId xmlns:p14="http://schemas.microsoft.com/office/powerpoint/2010/main" val="6507845"/>
      </p:ext>
    </p:extLst>
  </p:cSld>
</p:sld>
</file>

<file path=ppt/slides/slide7.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F37B5A8-F36A-4338-94FE-9C497C69EC1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375A417E-C467-43EC-BC5F-841881FE61A9}"/>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522E5CC7-1CF8-461F-9023-F7F4079C7822}"/>
              </a:ext>
            </a:extLst>
          </p:cNvPr>
          <p:cNvSpPr>
            <a:spLocks xmlns:a="http://schemas.openxmlformats.org/drawingml/2006/main" noGrp="1"/>
          </p:cNvSpPr>
          <p:nvPr/>
        </p:nvSpPr>
        <p:spPr>
          <a:xfrm xmlns:a="http://schemas.openxmlformats.org/drawingml/2006/main">
            <a:off x="14815185"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HOW IT WORKS</a:t>
            </a:r>
            <a:endParaRPr sz="1800"/>
          </a:p>
        </p:txBody>
      </p:sp>
      <p:sp>
        <p:nvSpPr>
          <p:cNvPr id="5" name="Text 3">
            <a:extLst xmlns:a="http://schemas.openxmlformats.org/drawingml/2006/main">
              <a:ext uri="{FF2B5EF4-FFF2-40B4-BE49-F238E27FC236}">
                <a16:creationId xmlns:a16="http://schemas.microsoft.com/office/drawing/2014/main" id="{77EE7637-5CC1-4A08-A60B-D8192AF12DFF}"/>
              </a:ext>
            </a:extLst>
          </p:cNvPr>
          <p:cNvSpPr>
            <a:spLocks xmlns:a="http://schemas.openxmlformats.org/drawingml/2006/main" noGrp="1"/>
          </p:cNvSpPr>
          <p:nvPr/>
        </p:nvSpPr>
        <p:spPr>
          <a:xfrm xmlns:a="http://schemas.openxmlformats.org/drawingml/2006/main">
            <a:off x="1333500" y="1976438"/>
            <a:ext cx="16954500" cy="76962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One check, step by step</a:t>
            </a:r>
            <a:endParaRPr sz="4800"/>
          </a:p>
        </p:txBody>
      </p:sp>
      <p:sp>
        <p:nvSpPr>
          <p:cNvPr id="6" name="Shape 4">
            <a:extLst xmlns:a="http://schemas.openxmlformats.org/drawingml/2006/main">
              <a:ext uri="{FF2B5EF4-FFF2-40B4-BE49-F238E27FC236}">
                <a16:creationId xmlns:a16="http://schemas.microsoft.com/office/drawing/2014/main" id="{05CDA48A-B626-465B-81A0-C4155A250E5E}"/>
              </a:ext>
            </a:extLst>
          </p:cNvPr>
          <p:cNvSpPr>
            <a:spLocks xmlns:a="http://schemas.openxmlformats.org/drawingml/2006/main" noGrp="1"/>
          </p:cNvSpPr>
          <p:nvPr/>
        </p:nvSpPr>
        <p:spPr>
          <a:xfrm xmlns:a="http://schemas.openxmlformats.org/drawingml/2006/main">
            <a:off x="1333500" y="6837204"/>
            <a:ext cx="3124200" cy="17462"/>
          </a:xfrm>
          <a:prstGeom xmlns:a="http://schemas.openxmlformats.org/drawingml/2006/main" prst="rect">
            <a:avLst/>
          </a:prstGeom>
          <a:solidFill xmlns:a="http://schemas.openxmlformats.org/drawingml/2006/main">
            <a:srgbClr val="F2F2F0"/>
          </a:solidFill>
        </p:spPr>
      </p:sp>
      <p:sp>
        <p:nvSpPr>
          <p:cNvPr id="7" name="Text 5">
            <a:extLst xmlns:a="http://schemas.openxmlformats.org/drawingml/2006/main">
              <a:ext uri="{FF2B5EF4-FFF2-40B4-BE49-F238E27FC236}">
                <a16:creationId xmlns:a16="http://schemas.microsoft.com/office/drawing/2014/main" id="{D6749CBA-0345-4CFE-8231-34BF1BD70B9F}"/>
              </a:ext>
            </a:extLst>
          </p:cNvPr>
          <p:cNvSpPr>
            <a:spLocks xmlns:a="http://schemas.openxmlformats.org/drawingml/2006/main" noGrp="1"/>
          </p:cNvSpPr>
          <p:nvPr/>
        </p:nvSpPr>
        <p:spPr>
          <a:xfrm xmlns:a="http://schemas.openxmlformats.org/drawingml/2006/main">
            <a:off x="1333500" y="7197566"/>
            <a:ext cx="310134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01</a:t>
            </a:r>
            <a:endParaRPr sz="1800"/>
          </a:p>
        </p:txBody>
      </p:sp>
      <p:sp>
        <p:nvSpPr>
          <p:cNvPr id="8" name="Text 6">
            <a:extLst xmlns:a="http://schemas.openxmlformats.org/drawingml/2006/main">
              <a:ext uri="{FF2B5EF4-FFF2-40B4-BE49-F238E27FC236}">
                <a16:creationId xmlns:a16="http://schemas.microsoft.com/office/drawing/2014/main" id="{0BBA3AC1-2F8B-44AF-9A78-1DE7A586FC23}"/>
              </a:ext>
            </a:extLst>
          </p:cNvPr>
          <p:cNvSpPr>
            <a:spLocks xmlns:a="http://schemas.openxmlformats.org/drawingml/2006/main" noGrp="1"/>
          </p:cNvSpPr>
          <p:nvPr/>
        </p:nvSpPr>
        <p:spPr>
          <a:xfrm xmlns:a="http://schemas.openxmlformats.org/drawingml/2006/main">
            <a:off x="1333500" y="7688104"/>
            <a:ext cx="3101340" cy="43100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700">
                <a:solidFill>
                  <a:srgbClr val="F2F2F0"/>
                </a:solidFill>
                <a:latin typeface="Arial"/>
                <a:ea typeface="Arial"/>
                <a:cs typeface="Arial"/>
              </a:rPr>
              <a:t>Capture</a:t>
            </a:r>
            <a:endParaRPr sz="2700"/>
          </a:p>
        </p:txBody>
      </p:sp>
      <p:sp>
        <p:nvSpPr>
          <p:cNvPr id="9" name="Text 7">
            <a:extLst xmlns:a="http://schemas.openxmlformats.org/drawingml/2006/main">
              <a:ext uri="{FF2B5EF4-FFF2-40B4-BE49-F238E27FC236}">
                <a16:creationId xmlns:a16="http://schemas.microsoft.com/office/drawing/2014/main" id="{13EC8F41-C5E2-40FA-9C17-B288EF8023AE}"/>
              </a:ext>
            </a:extLst>
          </p:cNvPr>
          <p:cNvSpPr>
            <a:spLocks xmlns:a="http://schemas.openxmlformats.org/drawingml/2006/main" noGrp="1"/>
          </p:cNvSpPr>
          <p:nvPr/>
        </p:nvSpPr>
        <p:spPr>
          <a:xfrm xmlns:a="http://schemas.openxmlformats.org/drawingml/2006/main">
            <a:off x="1333500" y="8309610"/>
            <a:ext cx="2903982" cy="7848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3862"/>
          </a:bodyPr>
          <a:lstStyle xmlns:a="http://schemas.openxmlformats.org/drawingml/2006/main"/>
          <a:p xmlns:a="http://schemas.openxmlformats.org/drawingml/2006/main">
            <a:pPr marL="0" indent="0" algn="l">
              <a:lnSpc>
                <a:spcPct val="122182"/>
              </a:lnSpc>
              <a:buNone/>
            </a:pPr>
            <a:r>
              <a:rPr sz="2100">
                <a:solidFill>
                  <a:srgbClr val="B9BDC2"/>
                </a:solidFill>
                <a:latin typeface="Arial"/>
                <a:ea typeface="Arial"/>
                <a:cs typeface="Arial"/>
              </a:rPr>
              <a:t>Worker captures or uploads a photo</a:t>
            </a:r>
            <a:endParaRPr sz="2100"/>
          </a:p>
        </p:txBody>
      </p:sp>
      <p:sp>
        <p:nvSpPr>
          <p:cNvPr id="10" name="Shape 8">
            <a:extLst xmlns:a="http://schemas.openxmlformats.org/drawingml/2006/main">
              <a:ext uri="{FF2B5EF4-FFF2-40B4-BE49-F238E27FC236}">
                <a16:creationId xmlns:a16="http://schemas.microsoft.com/office/drawing/2014/main" id="{25BE78E2-75B3-4B5B-8AC1-AF5AF10DFBCF}"/>
              </a:ext>
            </a:extLst>
          </p:cNvPr>
          <p:cNvSpPr>
            <a:spLocks xmlns:a="http://schemas.openxmlformats.org/drawingml/2006/main" noGrp="1"/>
          </p:cNvSpPr>
          <p:nvPr/>
        </p:nvSpPr>
        <p:spPr>
          <a:xfrm xmlns:a="http://schemas.openxmlformats.org/drawingml/2006/main">
            <a:off x="4457700" y="6837204"/>
            <a:ext cx="3124200" cy="17462"/>
          </a:xfrm>
          <a:prstGeom xmlns:a="http://schemas.openxmlformats.org/drawingml/2006/main" prst="rect">
            <a:avLst/>
          </a:prstGeom>
          <a:solidFill xmlns:a="http://schemas.openxmlformats.org/drawingml/2006/main">
            <a:srgbClr val="F2F2F0"/>
          </a:solidFill>
        </p:spPr>
      </p:sp>
      <p:sp>
        <p:nvSpPr>
          <p:cNvPr id="11" name="Text 9">
            <a:extLst xmlns:a="http://schemas.openxmlformats.org/drawingml/2006/main">
              <a:ext uri="{FF2B5EF4-FFF2-40B4-BE49-F238E27FC236}">
                <a16:creationId xmlns:a16="http://schemas.microsoft.com/office/drawing/2014/main" id="{14066D73-A5BD-48B1-8F9C-4C6911B59CFB}"/>
              </a:ext>
            </a:extLst>
          </p:cNvPr>
          <p:cNvSpPr>
            <a:spLocks xmlns:a="http://schemas.openxmlformats.org/drawingml/2006/main" noGrp="1"/>
          </p:cNvSpPr>
          <p:nvPr/>
        </p:nvSpPr>
        <p:spPr>
          <a:xfrm xmlns:a="http://schemas.openxmlformats.org/drawingml/2006/main">
            <a:off x="4457700" y="7197566"/>
            <a:ext cx="310134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02</a:t>
            </a:r>
            <a:endParaRPr sz="1800"/>
          </a:p>
        </p:txBody>
      </p:sp>
      <p:sp>
        <p:nvSpPr>
          <p:cNvPr id="12" name="Text 10">
            <a:extLst xmlns:a="http://schemas.openxmlformats.org/drawingml/2006/main">
              <a:ext uri="{FF2B5EF4-FFF2-40B4-BE49-F238E27FC236}">
                <a16:creationId xmlns:a16="http://schemas.microsoft.com/office/drawing/2014/main" id="{189D56E2-A3CE-44D6-880E-8AB2873E4E57}"/>
              </a:ext>
            </a:extLst>
          </p:cNvPr>
          <p:cNvSpPr>
            <a:spLocks xmlns:a="http://schemas.openxmlformats.org/drawingml/2006/main" noGrp="1"/>
          </p:cNvSpPr>
          <p:nvPr/>
        </p:nvSpPr>
        <p:spPr>
          <a:xfrm xmlns:a="http://schemas.openxmlformats.org/drawingml/2006/main">
            <a:off x="4457700" y="7688104"/>
            <a:ext cx="3101340" cy="43100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700">
                <a:solidFill>
                  <a:srgbClr val="F2F2F0"/>
                </a:solidFill>
                <a:latin typeface="Arial"/>
                <a:ea typeface="Arial"/>
                <a:cs typeface="Arial"/>
              </a:rPr>
              <a:t>Filter</a:t>
            </a:r>
            <a:endParaRPr sz="2700"/>
          </a:p>
        </p:txBody>
      </p:sp>
      <p:sp>
        <p:nvSpPr>
          <p:cNvPr id="13" name="Text 11">
            <a:extLst xmlns:a="http://schemas.openxmlformats.org/drawingml/2006/main">
              <a:ext uri="{FF2B5EF4-FFF2-40B4-BE49-F238E27FC236}">
                <a16:creationId xmlns:a16="http://schemas.microsoft.com/office/drawing/2014/main" id="{3B4B2FA4-30EB-4159-B2CB-71CA52298015}"/>
              </a:ext>
            </a:extLst>
          </p:cNvPr>
          <p:cNvSpPr>
            <a:spLocks xmlns:a="http://schemas.openxmlformats.org/drawingml/2006/main" noGrp="1"/>
          </p:cNvSpPr>
          <p:nvPr/>
        </p:nvSpPr>
        <p:spPr>
          <a:xfrm xmlns:a="http://schemas.openxmlformats.org/drawingml/2006/main">
            <a:off x="4457700" y="8309610"/>
            <a:ext cx="2903982" cy="7848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3862"/>
          </a:bodyPr>
          <a:lstStyle xmlns:a="http://schemas.openxmlformats.org/drawingml/2006/main"/>
          <a:p xmlns:a="http://schemas.openxmlformats.org/drawingml/2006/main">
            <a:pPr marL="0" indent="0" algn="l">
              <a:lnSpc>
                <a:spcPct val="122182"/>
              </a:lnSpc>
              <a:buNone/>
            </a:pPr>
            <a:r>
              <a:rPr sz="2100">
                <a:solidFill>
                  <a:srgbClr val="B9BDC2"/>
                </a:solidFill>
                <a:latin typeface="Arial"/>
                <a:ea typeface="Arial"/>
                <a:cs typeface="Arial"/>
              </a:rPr>
              <a:t>OpenCV checks photo quality</a:t>
            </a:r>
            <a:endParaRPr sz="2100"/>
          </a:p>
        </p:txBody>
      </p:sp>
      <p:sp>
        <p:nvSpPr>
          <p:cNvPr id="14" name="Shape 12">
            <a:extLst xmlns:a="http://schemas.openxmlformats.org/drawingml/2006/main">
              <a:ext uri="{FF2B5EF4-FFF2-40B4-BE49-F238E27FC236}">
                <a16:creationId xmlns:a16="http://schemas.microsoft.com/office/drawing/2014/main" id="{89A427BD-D8D9-440A-B2E8-7660A8357084}"/>
              </a:ext>
            </a:extLst>
          </p:cNvPr>
          <p:cNvSpPr>
            <a:spLocks xmlns:a="http://schemas.openxmlformats.org/drawingml/2006/main" noGrp="1"/>
          </p:cNvSpPr>
          <p:nvPr/>
        </p:nvSpPr>
        <p:spPr>
          <a:xfrm xmlns:a="http://schemas.openxmlformats.org/drawingml/2006/main">
            <a:off x="7581900" y="6837204"/>
            <a:ext cx="3124200" cy="17462"/>
          </a:xfrm>
          <a:prstGeom xmlns:a="http://schemas.openxmlformats.org/drawingml/2006/main" prst="rect">
            <a:avLst/>
          </a:prstGeom>
          <a:solidFill xmlns:a="http://schemas.openxmlformats.org/drawingml/2006/main">
            <a:srgbClr val="F2F2F0"/>
          </a:solidFill>
        </p:spPr>
      </p:sp>
      <p:sp>
        <p:nvSpPr>
          <p:cNvPr id="15" name="Text 13">
            <a:extLst xmlns:a="http://schemas.openxmlformats.org/drawingml/2006/main">
              <a:ext uri="{FF2B5EF4-FFF2-40B4-BE49-F238E27FC236}">
                <a16:creationId xmlns:a16="http://schemas.microsoft.com/office/drawing/2014/main" id="{C52D9B68-6DAC-4241-82C3-18D4A6F6501D}"/>
              </a:ext>
            </a:extLst>
          </p:cNvPr>
          <p:cNvSpPr>
            <a:spLocks xmlns:a="http://schemas.openxmlformats.org/drawingml/2006/main" noGrp="1"/>
          </p:cNvSpPr>
          <p:nvPr/>
        </p:nvSpPr>
        <p:spPr>
          <a:xfrm xmlns:a="http://schemas.openxmlformats.org/drawingml/2006/main">
            <a:off x="7581900" y="7197566"/>
            <a:ext cx="310134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03</a:t>
            </a:r>
            <a:endParaRPr sz="1800"/>
          </a:p>
        </p:txBody>
      </p:sp>
      <p:sp>
        <p:nvSpPr>
          <p:cNvPr id="16" name="Text 14">
            <a:extLst xmlns:a="http://schemas.openxmlformats.org/drawingml/2006/main">
              <a:ext uri="{FF2B5EF4-FFF2-40B4-BE49-F238E27FC236}">
                <a16:creationId xmlns:a16="http://schemas.microsoft.com/office/drawing/2014/main" id="{63770AC5-6CFA-4C11-83CC-25000B6124C3}"/>
              </a:ext>
            </a:extLst>
          </p:cNvPr>
          <p:cNvSpPr>
            <a:spLocks xmlns:a="http://schemas.openxmlformats.org/drawingml/2006/main" noGrp="1"/>
          </p:cNvSpPr>
          <p:nvPr/>
        </p:nvSpPr>
        <p:spPr>
          <a:xfrm xmlns:a="http://schemas.openxmlformats.org/drawingml/2006/main">
            <a:off x="7581900" y="7688104"/>
            <a:ext cx="3101340" cy="43100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700">
                <a:solidFill>
                  <a:srgbClr val="F2F2F0"/>
                </a:solidFill>
                <a:latin typeface="Arial"/>
                <a:ea typeface="Arial"/>
                <a:cs typeface="Arial"/>
              </a:rPr>
              <a:t>Ask</a:t>
            </a:r>
            <a:endParaRPr sz="2700"/>
          </a:p>
        </p:txBody>
      </p:sp>
      <p:sp>
        <p:nvSpPr>
          <p:cNvPr id="17" name="Text 15">
            <a:extLst xmlns:a="http://schemas.openxmlformats.org/drawingml/2006/main">
              <a:ext uri="{FF2B5EF4-FFF2-40B4-BE49-F238E27FC236}">
                <a16:creationId xmlns:a16="http://schemas.microsoft.com/office/drawing/2014/main" id="{96B333A0-3AA3-4250-BB2B-9FEE1203ABD5}"/>
              </a:ext>
            </a:extLst>
          </p:cNvPr>
          <p:cNvSpPr>
            <a:spLocks xmlns:a="http://schemas.openxmlformats.org/drawingml/2006/main" noGrp="1"/>
          </p:cNvSpPr>
          <p:nvPr/>
        </p:nvSpPr>
        <p:spPr>
          <a:xfrm xmlns:a="http://schemas.openxmlformats.org/drawingml/2006/main">
            <a:off x="7581900" y="8309610"/>
            <a:ext cx="2903982" cy="78486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3862"/>
          </a:bodyPr>
          <a:lstStyle xmlns:a="http://schemas.openxmlformats.org/drawingml/2006/main"/>
          <a:p xmlns:a="http://schemas.openxmlformats.org/drawingml/2006/main">
            <a:pPr marL="0" indent="0" algn="l">
              <a:lnSpc>
                <a:spcPct val="122182"/>
              </a:lnSpc>
              <a:buNone/>
            </a:pPr>
            <a:r>
              <a:rPr sz="2100">
                <a:solidFill>
                  <a:srgbClr val="B9BDC2"/>
                </a:solidFill>
                <a:latin typeface="Arial"/>
                <a:ea typeface="Arial"/>
                <a:cs typeface="Arial"/>
              </a:rPr>
              <a:t>Question describes the correct state</a:t>
            </a:r>
            <a:endParaRPr sz="2100"/>
          </a:p>
        </p:txBody>
      </p:sp>
      <p:sp>
        <p:nvSpPr>
          <p:cNvPr id="18" name="Shape 16">
            <a:extLst xmlns:a="http://schemas.openxmlformats.org/drawingml/2006/main">
              <a:ext uri="{FF2B5EF4-FFF2-40B4-BE49-F238E27FC236}">
                <a16:creationId xmlns:a16="http://schemas.microsoft.com/office/drawing/2014/main" id="{017B4060-10D7-49DC-85A8-344360FBAC92}"/>
              </a:ext>
            </a:extLst>
          </p:cNvPr>
          <p:cNvSpPr>
            <a:spLocks xmlns:a="http://schemas.openxmlformats.org/drawingml/2006/main" noGrp="1"/>
          </p:cNvSpPr>
          <p:nvPr/>
        </p:nvSpPr>
        <p:spPr>
          <a:xfrm xmlns:a="http://schemas.openxmlformats.org/drawingml/2006/main">
            <a:off x="10706100" y="6837204"/>
            <a:ext cx="3124200" cy="17462"/>
          </a:xfrm>
          <a:prstGeom xmlns:a="http://schemas.openxmlformats.org/drawingml/2006/main" prst="rect">
            <a:avLst/>
          </a:prstGeom>
          <a:solidFill xmlns:a="http://schemas.openxmlformats.org/drawingml/2006/main">
            <a:srgbClr val="F2F2F0"/>
          </a:solidFill>
        </p:spPr>
      </p:sp>
      <p:sp>
        <p:nvSpPr>
          <p:cNvPr id="19" name="Text 17">
            <a:extLst xmlns:a="http://schemas.openxmlformats.org/drawingml/2006/main">
              <a:ext uri="{FF2B5EF4-FFF2-40B4-BE49-F238E27FC236}">
                <a16:creationId xmlns:a16="http://schemas.microsoft.com/office/drawing/2014/main" id="{B2A2D14E-CF6F-4530-BC5D-87FF84CF39AF}"/>
              </a:ext>
            </a:extLst>
          </p:cNvPr>
          <p:cNvSpPr>
            <a:spLocks xmlns:a="http://schemas.openxmlformats.org/drawingml/2006/main" noGrp="1"/>
          </p:cNvSpPr>
          <p:nvPr/>
        </p:nvSpPr>
        <p:spPr>
          <a:xfrm xmlns:a="http://schemas.openxmlformats.org/drawingml/2006/main">
            <a:off x="10706100" y="7197566"/>
            <a:ext cx="310134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04</a:t>
            </a:r>
            <a:endParaRPr sz="1800"/>
          </a:p>
        </p:txBody>
      </p:sp>
      <p:sp>
        <p:nvSpPr>
          <p:cNvPr id="20" name="Text 18">
            <a:extLst xmlns:a="http://schemas.openxmlformats.org/drawingml/2006/main">
              <a:ext uri="{FF2B5EF4-FFF2-40B4-BE49-F238E27FC236}">
                <a16:creationId xmlns:a16="http://schemas.microsoft.com/office/drawing/2014/main" id="{529DECEA-BC00-4362-8FD1-04BC83C18A0E}"/>
              </a:ext>
            </a:extLst>
          </p:cNvPr>
          <p:cNvSpPr>
            <a:spLocks xmlns:a="http://schemas.openxmlformats.org/drawingml/2006/main" noGrp="1"/>
          </p:cNvSpPr>
          <p:nvPr/>
        </p:nvSpPr>
        <p:spPr>
          <a:xfrm xmlns:a="http://schemas.openxmlformats.org/drawingml/2006/main">
            <a:off x="10706100" y="7688104"/>
            <a:ext cx="3101340" cy="43100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700">
                <a:solidFill>
                  <a:srgbClr val="F2F2F0"/>
                </a:solidFill>
                <a:latin typeface="Arial"/>
                <a:ea typeface="Arial"/>
                <a:cs typeface="Arial"/>
              </a:rPr>
              <a:t>Ground</a:t>
            </a:r>
            <a:endParaRPr sz="2700"/>
          </a:p>
        </p:txBody>
      </p:sp>
      <p:sp>
        <p:nvSpPr>
          <p:cNvPr id="21" name="Text 19">
            <a:extLst xmlns:a="http://schemas.openxmlformats.org/drawingml/2006/main">
              <a:ext uri="{FF2B5EF4-FFF2-40B4-BE49-F238E27FC236}">
                <a16:creationId xmlns:a16="http://schemas.microsoft.com/office/drawing/2014/main" id="{0107A07C-079E-4A47-B158-07F1243B9102}"/>
              </a:ext>
            </a:extLst>
          </p:cNvPr>
          <p:cNvSpPr>
            <a:spLocks xmlns:a="http://schemas.openxmlformats.org/drawingml/2006/main" noGrp="1"/>
          </p:cNvSpPr>
          <p:nvPr/>
        </p:nvSpPr>
        <p:spPr>
          <a:xfrm xmlns:a="http://schemas.openxmlformats.org/drawingml/2006/main">
            <a:off x="10706100" y="8309610"/>
            <a:ext cx="2903982" cy="13335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lnSpc>
                <a:spcPct val="122182"/>
              </a:lnSpc>
              <a:buNone/>
            </a:pPr>
            <a:r>
              <a:rPr sz="2100">
                <a:solidFill>
                  <a:srgbClr val="B9BDC2"/>
                </a:solidFill>
                <a:latin typeface="Arial"/>
                <a:ea typeface="Arial"/>
                <a:cs typeface="Arial"/>
              </a:rPr>
              <a:t>DeepSeek V4.1 Flash returns verdict + box</a:t>
            </a:r>
            <a:endParaRPr sz="2100"/>
          </a:p>
        </p:txBody>
      </p:sp>
      <p:sp>
        <p:nvSpPr>
          <p:cNvPr id="22" name="Shape 20">
            <a:extLst xmlns:a="http://schemas.openxmlformats.org/drawingml/2006/main">
              <a:ext uri="{FF2B5EF4-FFF2-40B4-BE49-F238E27FC236}">
                <a16:creationId xmlns:a16="http://schemas.microsoft.com/office/drawing/2014/main" id="{497681FE-4A59-478D-B717-F495B11FAB89}"/>
              </a:ext>
            </a:extLst>
          </p:cNvPr>
          <p:cNvSpPr>
            <a:spLocks xmlns:a="http://schemas.openxmlformats.org/drawingml/2006/main" noGrp="1"/>
          </p:cNvSpPr>
          <p:nvPr/>
        </p:nvSpPr>
        <p:spPr>
          <a:xfrm xmlns:a="http://schemas.openxmlformats.org/drawingml/2006/main">
            <a:off x="13830300" y="6837204"/>
            <a:ext cx="3124200" cy="17462"/>
          </a:xfrm>
          <a:prstGeom xmlns:a="http://schemas.openxmlformats.org/drawingml/2006/main" prst="rect">
            <a:avLst/>
          </a:prstGeom>
          <a:solidFill xmlns:a="http://schemas.openxmlformats.org/drawingml/2006/main">
            <a:srgbClr val="E8463B"/>
          </a:solidFill>
        </p:spPr>
      </p:sp>
      <p:sp>
        <p:nvSpPr>
          <p:cNvPr id="23" name="Text 21">
            <a:extLst xmlns:a="http://schemas.openxmlformats.org/drawingml/2006/main">
              <a:ext uri="{FF2B5EF4-FFF2-40B4-BE49-F238E27FC236}">
                <a16:creationId xmlns:a16="http://schemas.microsoft.com/office/drawing/2014/main" id="{3D426A9F-FA54-47C4-903A-1BC39E26FAFF}"/>
              </a:ext>
            </a:extLst>
          </p:cNvPr>
          <p:cNvSpPr>
            <a:spLocks xmlns:a="http://schemas.openxmlformats.org/drawingml/2006/main" noGrp="1"/>
          </p:cNvSpPr>
          <p:nvPr/>
        </p:nvSpPr>
        <p:spPr>
          <a:xfrm xmlns:a="http://schemas.openxmlformats.org/drawingml/2006/main">
            <a:off x="13830300" y="7197566"/>
            <a:ext cx="343662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E8463B"/>
                </a:solidFill>
                <a:latin typeface="Courier New"/>
                <a:ea typeface="Courier New"/>
                <a:cs typeface="Courier New"/>
              </a:rPr>
              <a:t>05</a:t>
            </a:r>
            <a:endParaRPr sz="1800"/>
          </a:p>
        </p:txBody>
      </p:sp>
      <p:sp>
        <p:nvSpPr>
          <p:cNvPr id="24" name="Text 22">
            <a:extLst xmlns:a="http://schemas.openxmlformats.org/drawingml/2006/main">
              <a:ext uri="{FF2B5EF4-FFF2-40B4-BE49-F238E27FC236}">
                <a16:creationId xmlns:a16="http://schemas.microsoft.com/office/drawing/2014/main" id="{8C461768-85E9-44BC-BE4B-BD22B905895F}"/>
              </a:ext>
            </a:extLst>
          </p:cNvPr>
          <p:cNvSpPr>
            <a:spLocks xmlns:a="http://schemas.openxmlformats.org/drawingml/2006/main" noGrp="1"/>
          </p:cNvSpPr>
          <p:nvPr/>
        </p:nvSpPr>
        <p:spPr>
          <a:xfrm xmlns:a="http://schemas.openxmlformats.org/drawingml/2006/main">
            <a:off x="13830300" y="7688104"/>
            <a:ext cx="3436620" cy="43100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700">
                <a:solidFill>
                  <a:srgbClr val="F2F2F0"/>
                </a:solidFill>
                <a:latin typeface="Arial"/>
                <a:ea typeface="Arial"/>
                <a:cs typeface="Arial"/>
              </a:rPr>
              <a:t>Decide</a:t>
            </a:r>
            <a:endParaRPr sz="2700"/>
          </a:p>
        </p:txBody>
      </p:sp>
      <p:sp>
        <p:nvSpPr>
          <p:cNvPr id="25" name="Text 23">
            <a:extLst xmlns:a="http://schemas.openxmlformats.org/drawingml/2006/main">
              <a:ext uri="{FF2B5EF4-FFF2-40B4-BE49-F238E27FC236}">
                <a16:creationId xmlns:a16="http://schemas.microsoft.com/office/drawing/2014/main" id="{3316752B-C197-46BC-AABF-686FB96B7D7D}"/>
              </a:ext>
            </a:extLst>
          </p:cNvPr>
          <p:cNvSpPr>
            <a:spLocks xmlns:a="http://schemas.openxmlformats.org/drawingml/2006/main" noGrp="1"/>
          </p:cNvSpPr>
          <p:nvPr/>
        </p:nvSpPr>
        <p:spPr>
          <a:xfrm xmlns:a="http://schemas.openxmlformats.org/drawingml/2006/main">
            <a:off x="13830300" y="8309610"/>
            <a:ext cx="3217926" cy="1143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3862"/>
          </a:bodyPr>
          <a:lstStyle xmlns:a="http://schemas.openxmlformats.org/drawingml/2006/main"/>
          <a:p xmlns:a="http://schemas.openxmlformats.org/drawingml/2006/main">
            <a:pPr marL="0" indent="0" algn="l">
              <a:lnSpc>
                <a:spcPct val="122182"/>
              </a:lnSpc>
              <a:buNone/>
            </a:pPr>
            <a:r>
              <a:rPr sz="2100">
                <a:solidFill>
                  <a:srgbClr val="B9BDC2"/>
                </a:solidFill>
                <a:latin typeface="Arial"/>
                <a:ea typeface="Arial"/>
                <a:cs typeface="Arial"/>
              </a:rPr>
              <a:t>Rules control progress and save visual attempts</a:t>
            </a:r>
            <a:endParaRPr sz="2100"/>
          </a:p>
        </p:txBody>
      </p:sp>
    </p:spTree>
    <p:extLst>
      <p:ext uri="{BB962C8B-B14F-4D97-AF65-F5344CB8AC3E}">
        <p14:creationId xmlns:p14="http://schemas.microsoft.com/office/powerpoint/2010/main" val="136902925"/>
      </p:ext>
    </p:extLst>
  </p:cSld>
</p:sld>
</file>

<file path=ppt/slides/slide8.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5F0EBCC-C9E9-498B-8B2E-BFDB0B29125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6EAE2921-59BB-4088-B30C-110842CB7464}"/>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26F89FDD-F8A8-4A89-BF6D-9BF3C6D2B594}"/>
              </a:ext>
            </a:extLst>
          </p:cNvPr>
          <p:cNvSpPr>
            <a:spLocks xmlns:a="http://schemas.openxmlformats.org/drawingml/2006/main" noGrp="1"/>
          </p:cNvSpPr>
          <p:nvPr/>
        </p:nvSpPr>
        <p:spPr>
          <a:xfrm xmlns:a="http://schemas.openxmlformats.org/drawingml/2006/main">
            <a:off x="14815185"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HOW IT WORKS</a:t>
            </a:r>
            <a:endParaRPr sz="1800"/>
          </a:p>
        </p:txBody>
      </p:sp>
      <p:sp>
        <p:nvSpPr>
          <p:cNvPr id="5" name="Text 3">
            <a:extLst xmlns:a="http://schemas.openxmlformats.org/drawingml/2006/main">
              <a:ext uri="{FF2B5EF4-FFF2-40B4-BE49-F238E27FC236}">
                <a16:creationId xmlns:a16="http://schemas.microsoft.com/office/drawing/2014/main" id="{83CA117E-22A4-4C03-A99B-D33EE058E6FC}"/>
              </a:ext>
            </a:extLst>
          </p:cNvPr>
          <p:cNvSpPr>
            <a:spLocks xmlns:a="http://schemas.openxmlformats.org/drawingml/2006/main" noGrp="1"/>
          </p:cNvSpPr>
          <p:nvPr/>
        </p:nvSpPr>
        <p:spPr>
          <a:xfrm xmlns:a="http://schemas.openxmlformats.org/drawingml/2006/main">
            <a:off x="1333500" y="1976438"/>
            <a:ext cx="16954500" cy="76962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655"/>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Open vision on AMD</a:t>
            </a:r>
            <a:endParaRPr sz="4800"/>
          </a:p>
        </p:txBody>
      </p:sp>
      <p:sp>
        <p:nvSpPr>
          <p:cNvPr id="6" name="Shape 4">
            <a:extLst xmlns:a="http://schemas.openxmlformats.org/drawingml/2006/main">
              <a:ext uri="{FF2B5EF4-FFF2-40B4-BE49-F238E27FC236}">
                <a16:creationId xmlns:a16="http://schemas.microsoft.com/office/drawing/2014/main" id="{36E002F1-9ADD-49B8-96AA-709BAF258AA2}"/>
              </a:ext>
            </a:extLst>
          </p:cNvPr>
          <p:cNvSpPr>
            <a:spLocks xmlns:a="http://schemas.openxmlformats.org/drawingml/2006/main" noGrp="1"/>
          </p:cNvSpPr>
          <p:nvPr/>
        </p:nvSpPr>
        <p:spPr>
          <a:xfrm xmlns:a="http://schemas.openxmlformats.org/drawingml/2006/main">
            <a:off x="1333500" y="4548029"/>
            <a:ext cx="6762750" cy="3803650"/>
          </a:xfrm>
          <a:prstGeom xmlns:a="http://schemas.openxmlformats.org/drawingml/2006/main" prst="rect">
            <a:avLst/>
          </a:prstGeom>
          <a:ln xmlns:a="http://schemas.openxmlformats.org/drawingml/2006/main" w="17462">
            <a:solidFill>
              <a:srgbClr val="F2F2F0"/>
            </a:solidFill>
            <a:prstDash val="solid"/>
          </a:ln>
        </p:spPr>
      </p:sp>
      <p:sp>
        <p:nvSpPr>
          <p:cNvPr id="7" name="Text 5">
            <a:extLst xmlns:a="http://schemas.openxmlformats.org/drawingml/2006/main">
              <a:ext uri="{FF2B5EF4-FFF2-40B4-BE49-F238E27FC236}">
                <a16:creationId xmlns:a16="http://schemas.microsoft.com/office/drawing/2014/main" id="{9EC4671D-E2C9-4A48-836D-D34460930AC5}"/>
              </a:ext>
            </a:extLst>
          </p:cNvPr>
          <p:cNvSpPr>
            <a:spLocks xmlns:a="http://schemas.openxmlformats.org/drawingml/2006/main" noGrp="1"/>
          </p:cNvSpPr>
          <p:nvPr/>
        </p:nvSpPr>
        <p:spPr>
          <a:xfrm xmlns:a="http://schemas.openxmlformats.org/drawingml/2006/main">
            <a:off x="1808162" y="5022691"/>
            <a:ext cx="6394768"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288">
                <a:solidFill>
                  <a:srgbClr val="8A8F95"/>
                </a:solidFill>
                <a:latin typeface="Courier New"/>
                <a:ea typeface="Courier New"/>
                <a:cs typeface="Courier New"/>
              </a:rPr>
              <a:t>FACTORY WORKSTATION</a:t>
            </a:r>
            <a:endParaRPr sz="1800"/>
          </a:p>
        </p:txBody>
      </p:sp>
      <p:sp>
        <p:nvSpPr>
          <p:cNvPr id="8" name="Text 6">
            <a:extLst xmlns:a="http://schemas.openxmlformats.org/drawingml/2006/main">
              <a:ext uri="{FF2B5EF4-FFF2-40B4-BE49-F238E27FC236}">
                <a16:creationId xmlns:a16="http://schemas.microsoft.com/office/drawing/2014/main" id="{48CD8E86-DC2F-4FC3-87AC-CA1A5D135703}"/>
              </a:ext>
            </a:extLst>
          </p:cNvPr>
          <p:cNvSpPr>
            <a:spLocks xmlns:a="http://schemas.openxmlformats.org/drawingml/2006/main" noGrp="1"/>
          </p:cNvSpPr>
          <p:nvPr/>
        </p:nvSpPr>
        <p:spPr>
          <a:xfrm xmlns:a="http://schemas.openxmlformats.org/drawingml/2006/main">
            <a:off x="1808162" y="5551329"/>
            <a:ext cx="6394768" cy="474662"/>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3000">
                <a:solidFill>
                  <a:srgbClr val="F2F2F0"/>
                </a:solidFill>
                <a:latin typeface="Arial"/>
                <a:ea typeface="Arial"/>
                <a:cs typeface="Arial"/>
              </a:rPr>
              <a:t>Laptop + camera</a:t>
            </a:r>
            <a:endParaRPr sz="3000"/>
          </a:p>
        </p:txBody>
      </p:sp>
      <p:sp>
        <p:nvSpPr>
          <p:cNvPr id="9" name="Text 7">
            <a:extLst xmlns:a="http://schemas.openxmlformats.org/drawingml/2006/main">
              <a:ext uri="{FF2B5EF4-FFF2-40B4-BE49-F238E27FC236}">
                <a16:creationId xmlns:a16="http://schemas.microsoft.com/office/drawing/2014/main" id="{626353D3-23F6-470C-BE14-125904A44243}"/>
              </a:ext>
            </a:extLst>
          </p:cNvPr>
          <p:cNvSpPr>
            <a:spLocks xmlns:a="http://schemas.openxmlformats.org/drawingml/2006/main" noGrp="1"/>
          </p:cNvSpPr>
          <p:nvPr/>
        </p:nvSpPr>
        <p:spPr>
          <a:xfrm xmlns:a="http://schemas.openxmlformats.org/drawingml/2006/main">
            <a:off x="1808162" y="6254591"/>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1518"/>
          </a:bodyPr>
          <a:lstStyle xmlns:a="http://schemas.openxmlformats.org/drawingml/2006/main"/>
          <a:p xmlns:a="http://schemas.openxmlformats.org/drawingml/2006/main">
            <a:pPr marL="0" indent="0" algn="l">
              <a:buNone/>
            </a:pPr>
            <a:r>
              <a:rPr sz="2100">
                <a:solidFill>
                  <a:srgbClr val="B9BDC2"/>
                </a:solidFill>
                <a:latin typeface="Arial"/>
                <a:ea typeface="Arial"/>
                <a:cs typeface="Arial"/>
              </a:rPr>
              <a:t>Web worker station</a:t>
            </a:r>
            <a:endParaRPr sz="2100"/>
          </a:p>
        </p:txBody>
      </p:sp>
      <p:sp>
        <p:nvSpPr>
          <p:cNvPr id="10" name="Text 8">
            <a:extLst xmlns:a="http://schemas.openxmlformats.org/drawingml/2006/main">
              <a:ext uri="{FF2B5EF4-FFF2-40B4-BE49-F238E27FC236}">
                <a16:creationId xmlns:a16="http://schemas.microsoft.com/office/drawing/2014/main" id="{C671BC27-F4F6-41BB-A77F-A5F05135505B}"/>
              </a:ext>
            </a:extLst>
          </p:cNvPr>
          <p:cNvSpPr>
            <a:spLocks xmlns:a="http://schemas.openxmlformats.org/drawingml/2006/main" noGrp="1"/>
          </p:cNvSpPr>
          <p:nvPr/>
        </p:nvSpPr>
        <p:spPr>
          <a:xfrm xmlns:a="http://schemas.openxmlformats.org/drawingml/2006/main">
            <a:off x="1808162" y="6693535"/>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B9BDC2"/>
                </a:solidFill>
                <a:latin typeface="Arial"/>
                <a:ea typeface="Arial"/>
                <a:cs typeface="Arial"/>
              </a:rPr>
              <a:t>OpenCV photo check</a:t>
            </a:r>
            <a:endParaRPr sz="2100"/>
          </a:p>
        </p:txBody>
      </p:sp>
      <p:sp>
        <p:nvSpPr>
          <p:cNvPr id="11" name="Text 9">
            <a:extLst xmlns:a="http://schemas.openxmlformats.org/drawingml/2006/main">
              <a:ext uri="{FF2B5EF4-FFF2-40B4-BE49-F238E27FC236}">
                <a16:creationId xmlns:a16="http://schemas.microsoft.com/office/drawing/2014/main" id="{05CA91AF-C296-4F83-81DC-5B60FC4D5BC3}"/>
              </a:ext>
            </a:extLst>
          </p:cNvPr>
          <p:cNvSpPr>
            <a:spLocks xmlns:a="http://schemas.openxmlformats.org/drawingml/2006/main" noGrp="1"/>
          </p:cNvSpPr>
          <p:nvPr/>
        </p:nvSpPr>
        <p:spPr>
          <a:xfrm xmlns:a="http://schemas.openxmlformats.org/drawingml/2006/main">
            <a:off x="1808162" y="7132479"/>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B9BDC2"/>
                </a:solidFill>
                <a:latin typeface="Arial"/>
                <a:ea typeface="Arial"/>
                <a:cs typeface="Arial"/>
              </a:rPr>
              <a:t>Python + YAML step rules</a:t>
            </a:r>
            <a:endParaRPr sz="2100"/>
          </a:p>
        </p:txBody>
      </p:sp>
      <p:sp>
        <p:nvSpPr>
          <p:cNvPr id="12" name="Text 10">
            <a:extLst xmlns:a="http://schemas.openxmlformats.org/drawingml/2006/main">
              <a:ext uri="{FF2B5EF4-FFF2-40B4-BE49-F238E27FC236}">
                <a16:creationId xmlns:a16="http://schemas.microsoft.com/office/drawing/2014/main" id="{B2B2BC93-5B00-4986-B6CC-F728FCC32CF7}"/>
              </a:ext>
            </a:extLst>
          </p:cNvPr>
          <p:cNvSpPr>
            <a:spLocks xmlns:a="http://schemas.openxmlformats.org/drawingml/2006/main" noGrp="1"/>
          </p:cNvSpPr>
          <p:nvPr/>
        </p:nvSpPr>
        <p:spPr>
          <a:xfrm xmlns:a="http://schemas.openxmlformats.org/drawingml/2006/main">
            <a:off x="1808162" y="7571423"/>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B9BDC2"/>
                </a:solidFill>
                <a:latin typeface="Arial"/>
                <a:ea typeface="Arial"/>
                <a:cs typeface="Arial"/>
              </a:rPr>
              <a:t>SQLite evidence log</a:t>
            </a:r>
            <a:endParaRPr sz="2100"/>
          </a:p>
        </p:txBody>
      </p:sp>
      <p:sp>
        <p:nvSpPr>
          <p:cNvPr id="13" name="Text 11">
            <a:extLst xmlns:a="http://schemas.openxmlformats.org/drawingml/2006/main">
              <a:ext uri="{FF2B5EF4-FFF2-40B4-BE49-F238E27FC236}">
                <a16:creationId xmlns:a16="http://schemas.microsoft.com/office/drawing/2014/main" id="{00171571-0660-4719-B405-AD15459C7E49}"/>
              </a:ext>
            </a:extLst>
          </p:cNvPr>
          <p:cNvSpPr>
            <a:spLocks xmlns:a="http://schemas.openxmlformats.org/drawingml/2006/main" noGrp="1"/>
          </p:cNvSpPr>
          <p:nvPr/>
        </p:nvSpPr>
        <p:spPr>
          <a:xfrm xmlns:a="http://schemas.openxmlformats.org/drawingml/2006/main">
            <a:off x="8663940" y="5761673"/>
            <a:ext cx="103632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PHOTO</a:t>
            </a:r>
            <a:endParaRPr sz="1800"/>
          </a:p>
        </p:txBody>
      </p:sp>
      <p:sp>
        <p:nvSpPr>
          <p:cNvPr id="14" name="Shape 12">
            <a:extLst xmlns:a="http://schemas.openxmlformats.org/drawingml/2006/main">
              <a:ext uri="{FF2B5EF4-FFF2-40B4-BE49-F238E27FC236}">
                <a16:creationId xmlns:a16="http://schemas.microsoft.com/office/drawing/2014/main" id="{E6FE3F20-75D8-4155-A893-CB617E670578}"/>
              </a:ext>
            </a:extLst>
          </p:cNvPr>
          <p:cNvSpPr>
            <a:spLocks xmlns:a="http://schemas.openxmlformats.org/drawingml/2006/main" noGrp="1"/>
          </p:cNvSpPr>
          <p:nvPr/>
        </p:nvSpPr>
        <p:spPr>
          <a:xfrm xmlns:a="http://schemas.openxmlformats.org/drawingml/2006/main">
            <a:off x="8477250" y="6176010"/>
            <a:ext cx="1333500" cy="19050"/>
          </a:xfrm>
          <a:prstGeom xmlns:a="http://schemas.openxmlformats.org/drawingml/2006/main" prst="rect">
            <a:avLst/>
          </a:prstGeom>
          <a:solidFill xmlns:a="http://schemas.openxmlformats.org/drawingml/2006/main">
            <a:srgbClr val="8A8F95"/>
          </a:solidFill>
        </p:spPr>
      </p:sp>
      <p:sp>
        <p:nvSpPr>
          <p:cNvPr id="15" name="Text 13">
            <a:extLst xmlns:a="http://schemas.openxmlformats.org/drawingml/2006/main">
              <a:ext uri="{FF2B5EF4-FFF2-40B4-BE49-F238E27FC236}">
                <a16:creationId xmlns:a16="http://schemas.microsoft.com/office/drawing/2014/main" id="{D7F334D5-C940-49E4-A6DA-6BA207B804C5}"/>
              </a:ext>
            </a:extLst>
          </p:cNvPr>
          <p:cNvSpPr>
            <a:spLocks xmlns:a="http://schemas.openxmlformats.org/drawingml/2006/main" noGrp="1"/>
          </p:cNvSpPr>
          <p:nvPr/>
        </p:nvSpPr>
        <p:spPr>
          <a:xfrm xmlns:a="http://schemas.openxmlformats.org/drawingml/2006/main">
            <a:off x="8526780" y="6347460"/>
            <a:ext cx="1357884"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a:solidFill>
                  <a:srgbClr val="8A8F95"/>
                </a:solidFill>
                <a:latin typeface="Courier New"/>
                <a:ea typeface="Courier New"/>
                <a:cs typeface="Courier New"/>
              </a:rPr>
              <a:t>RESULT</a:t>
            </a:r>
            <a:endParaRPr sz="1800"/>
          </a:p>
        </p:txBody>
      </p:sp>
      <p:sp>
        <p:nvSpPr>
          <p:cNvPr id="16" name="Text 14">
            <a:extLst xmlns:a="http://schemas.openxmlformats.org/drawingml/2006/main">
              <a:ext uri="{FF2B5EF4-FFF2-40B4-BE49-F238E27FC236}">
                <a16:creationId xmlns:a16="http://schemas.microsoft.com/office/drawing/2014/main" id="{F9FB07B1-E0FB-4133-B256-397F3BA3DA14}"/>
              </a:ext>
            </a:extLst>
          </p:cNvPr>
          <p:cNvSpPr>
            <a:spLocks xmlns:a="http://schemas.openxmlformats.org/drawingml/2006/main" noGrp="1"/>
          </p:cNvSpPr>
          <p:nvPr/>
        </p:nvSpPr>
        <p:spPr>
          <a:xfrm xmlns:a="http://schemas.openxmlformats.org/drawingml/2006/main">
            <a:off x="8458200" y="6876098"/>
            <a:ext cx="150876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a:solidFill>
                  <a:srgbClr val="55595E"/>
                </a:solidFill>
                <a:latin typeface="Courier New"/>
                <a:ea typeface="Courier New"/>
                <a:cs typeface="Courier New"/>
              </a:rPr>
              <a:t>HTTPS API</a:t>
            </a:r>
            <a:endParaRPr sz="1800"/>
          </a:p>
        </p:txBody>
      </p:sp>
      <p:sp>
        <p:nvSpPr>
          <p:cNvPr id="17" name="Shape 15">
            <a:extLst xmlns:a="http://schemas.openxmlformats.org/drawingml/2006/main">
              <a:ext uri="{FF2B5EF4-FFF2-40B4-BE49-F238E27FC236}">
                <a16:creationId xmlns:a16="http://schemas.microsoft.com/office/drawing/2014/main" id="{0D217E28-DA0B-43AA-BB66-557065E1704C}"/>
              </a:ext>
            </a:extLst>
          </p:cNvPr>
          <p:cNvSpPr>
            <a:spLocks xmlns:a="http://schemas.openxmlformats.org/drawingml/2006/main" noGrp="1"/>
          </p:cNvSpPr>
          <p:nvPr/>
        </p:nvSpPr>
        <p:spPr>
          <a:xfrm xmlns:a="http://schemas.openxmlformats.org/drawingml/2006/main">
            <a:off x="10191750" y="4548029"/>
            <a:ext cx="6762750" cy="3803650"/>
          </a:xfrm>
          <a:prstGeom xmlns:a="http://schemas.openxmlformats.org/drawingml/2006/main" prst="rect">
            <a:avLst/>
          </a:prstGeom>
          <a:solidFill xmlns:a="http://schemas.openxmlformats.org/drawingml/2006/main">
            <a:srgbClr val="F2F2F0"/>
          </a:solidFill>
          <a:ln xmlns:a="http://schemas.openxmlformats.org/drawingml/2006/main" w="17462">
            <a:solidFill>
              <a:srgbClr val="F2F2F0"/>
            </a:solidFill>
            <a:prstDash val="solid"/>
          </a:ln>
        </p:spPr>
      </p:sp>
      <p:sp>
        <p:nvSpPr>
          <p:cNvPr id="18" name="Text 16">
            <a:extLst xmlns:a="http://schemas.openxmlformats.org/drawingml/2006/main">
              <a:ext uri="{FF2B5EF4-FFF2-40B4-BE49-F238E27FC236}">
                <a16:creationId xmlns:a16="http://schemas.microsoft.com/office/drawing/2014/main" id="{CB4C6644-E06F-49FD-8AAD-8B3393A3BA72}"/>
              </a:ext>
            </a:extLst>
          </p:cNvPr>
          <p:cNvSpPr>
            <a:spLocks xmlns:a="http://schemas.openxmlformats.org/drawingml/2006/main" noGrp="1"/>
          </p:cNvSpPr>
          <p:nvPr/>
        </p:nvSpPr>
        <p:spPr>
          <a:xfrm xmlns:a="http://schemas.openxmlformats.org/drawingml/2006/main">
            <a:off x="10666413" y="5022691"/>
            <a:ext cx="6394768"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spc="288">
                <a:solidFill>
                  <a:srgbClr val="55595E"/>
                </a:solidFill>
                <a:latin typeface="Courier New"/>
                <a:ea typeface="Courier New"/>
                <a:cs typeface="Courier New"/>
              </a:rPr>
              <a:t>AMD TOKEN FACTORY</a:t>
            </a:r>
            <a:endParaRPr sz="1800"/>
          </a:p>
        </p:txBody>
      </p:sp>
      <p:sp>
        <p:nvSpPr>
          <p:cNvPr id="19" name="Text 17">
            <a:extLst xmlns:a="http://schemas.openxmlformats.org/drawingml/2006/main">
              <a:ext uri="{FF2B5EF4-FFF2-40B4-BE49-F238E27FC236}">
                <a16:creationId xmlns:a16="http://schemas.microsoft.com/office/drawing/2014/main" id="{CDD589DD-1176-450E-9056-C3A0AC095908}"/>
              </a:ext>
            </a:extLst>
          </p:cNvPr>
          <p:cNvSpPr>
            <a:spLocks xmlns:a="http://schemas.openxmlformats.org/drawingml/2006/main" noGrp="1"/>
          </p:cNvSpPr>
          <p:nvPr/>
        </p:nvSpPr>
        <p:spPr>
          <a:xfrm xmlns:a="http://schemas.openxmlformats.org/drawingml/2006/main">
            <a:off x="10666413" y="5551329"/>
            <a:ext cx="6394768" cy="474662"/>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708"/>
          </a:bodyPr>
          <a:lstStyle xmlns:a="http://schemas.openxmlformats.org/drawingml/2006/main"/>
          <a:p xmlns:a="http://schemas.openxmlformats.org/drawingml/2006/main">
            <a:pPr marL="0" indent="0" algn="l">
              <a:buNone/>
            </a:pPr>
            <a:r>
              <a:rPr sz="3000">
                <a:solidFill>
                  <a:srgbClr val="050607"/>
                </a:solidFill>
                <a:latin typeface="Arial"/>
                <a:ea typeface="Arial"/>
                <a:cs typeface="Arial"/>
              </a:rPr>
              <a:t>Radeon Cloud GPUs</a:t>
            </a:r>
            <a:endParaRPr sz="3000"/>
          </a:p>
        </p:txBody>
      </p:sp>
      <p:sp>
        <p:nvSpPr>
          <p:cNvPr id="20" name="Text 18">
            <a:extLst xmlns:a="http://schemas.openxmlformats.org/drawingml/2006/main">
              <a:ext uri="{FF2B5EF4-FFF2-40B4-BE49-F238E27FC236}">
                <a16:creationId xmlns:a16="http://schemas.microsoft.com/office/drawing/2014/main" id="{DF162D4D-79AF-413E-B811-810236C40636}"/>
              </a:ext>
            </a:extLst>
          </p:cNvPr>
          <p:cNvSpPr>
            <a:spLocks xmlns:a="http://schemas.openxmlformats.org/drawingml/2006/main" noGrp="1"/>
          </p:cNvSpPr>
          <p:nvPr/>
        </p:nvSpPr>
        <p:spPr>
          <a:xfrm xmlns:a="http://schemas.openxmlformats.org/drawingml/2006/main">
            <a:off x="10666413" y="6254591"/>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1518"/>
          </a:bodyPr>
          <a:lstStyle xmlns:a="http://schemas.openxmlformats.org/drawingml/2006/main"/>
          <a:p xmlns:a="http://schemas.openxmlformats.org/drawingml/2006/main">
            <a:pPr marL="0" indent="0" algn="l">
              <a:buNone/>
            </a:pPr>
            <a:r>
              <a:rPr sz="2100">
                <a:solidFill>
                  <a:srgbClr val="3A3D41"/>
                </a:solidFill>
                <a:latin typeface="Arial"/>
                <a:ea typeface="Arial"/>
                <a:cs typeface="Arial"/>
              </a:rPr>
              <a:t>Open-weight model</a:t>
            </a:r>
            <a:endParaRPr sz="2100"/>
          </a:p>
        </p:txBody>
      </p:sp>
      <p:sp>
        <p:nvSpPr>
          <p:cNvPr id="21" name="Text 19">
            <a:extLst xmlns:a="http://schemas.openxmlformats.org/drawingml/2006/main">
              <a:ext uri="{FF2B5EF4-FFF2-40B4-BE49-F238E27FC236}">
                <a16:creationId xmlns:a16="http://schemas.microsoft.com/office/drawing/2014/main" id="{5523C2DC-BC96-4AFB-9A7B-9881C65FF1BF}"/>
              </a:ext>
            </a:extLst>
          </p:cNvPr>
          <p:cNvSpPr>
            <a:spLocks xmlns:a="http://schemas.openxmlformats.org/drawingml/2006/main" noGrp="1"/>
          </p:cNvSpPr>
          <p:nvPr/>
        </p:nvSpPr>
        <p:spPr>
          <a:xfrm xmlns:a="http://schemas.openxmlformats.org/drawingml/2006/main">
            <a:off x="10666413" y="6693535"/>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1518"/>
          </a:bodyPr>
          <a:lstStyle xmlns:a="http://schemas.openxmlformats.org/drawingml/2006/main"/>
          <a:p xmlns:a="http://schemas.openxmlformats.org/drawingml/2006/main">
            <a:pPr marL="0" indent="0" algn="l">
              <a:buNone/>
            </a:pPr>
            <a:r>
              <a:rPr sz="2100">
                <a:solidFill>
                  <a:srgbClr val="3A3D41"/>
                </a:solidFill>
                <a:latin typeface="Arial"/>
                <a:ea typeface="Arial"/>
                <a:cs typeface="Arial"/>
              </a:rPr>
              <a:t>OpenAI-compatible API</a:t>
            </a:r>
            <a:endParaRPr sz="2100"/>
          </a:p>
        </p:txBody>
      </p:sp>
      <p:sp>
        <p:nvSpPr>
          <p:cNvPr id="22" name="Text 20">
            <a:extLst xmlns:a="http://schemas.openxmlformats.org/drawingml/2006/main">
              <a:ext uri="{FF2B5EF4-FFF2-40B4-BE49-F238E27FC236}">
                <a16:creationId xmlns:a16="http://schemas.microsoft.com/office/drawing/2014/main" id="{593DE394-F0EC-4495-9889-2962E8BE11B0}"/>
              </a:ext>
            </a:extLst>
          </p:cNvPr>
          <p:cNvSpPr>
            <a:spLocks xmlns:a="http://schemas.openxmlformats.org/drawingml/2006/main" noGrp="1"/>
          </p:cNvSpPr>
          <p:nvPr/>
        </p:nvSpPr>
        <p:spPr>
          <a:xfrm xmlns:a="http://schemas.openxmlformats.org/drawingml/2006/main">
            <a:off x="10666413" y="7132479"/>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1518"/>
          </a:bodyPr>
          <a:lstStyle xmlns:a="http://schemas.openxmlformats.org/drawingml/2006/main"/>
          <a:p xmlns:a="http://schemas.openxmlformats.org/drawingml/2006/main">
            <a:pPr marL="0" indent="0" algn="l">
              <a:buNone/>
            </a:pPr>
            <a:r>
              <a:rPr sz="2100">
                <a:solidFill>
                  <a:srgbClr val="3A3D41"/>
                </a:solidFill>
                <a:latin typeface="Arial"/>
                <a:ea typeface="Arial"/>
                <a:cs typeface="Arial"/>
              </a:rPr>
              <a:t>DeepSeek V4.1 Flash</a:t>
            </a:r>
            <a:endParaRPr sz="2100"/>
          </a:p>
        </p:txBody>
      </p:sp>
      <p:sp>
        <p:nvSpPr>
          <p:cNvPr id="23" name="Text 21">
            <a:extLst xmlns:a="http://schemas.openxmlformats.org/drawingml/2006/main">
              <a:ext uri="{FF2B5EF4-FFF2-40B4-BE49-F238E27FC236}">
                <a16:creationId xmlns:a16="http://schemas.microsoft.com/office/drawing/2014/main" id="{C245441C-EFD0-4A51-9B3B-26827717BB3F}"/>
              </a:ext>
            </a:extLst>
          </p:cNvPr>
          <p:cNvSpPr>
            <a:spLocks xmlns:a="http://schemas.openxmlformats.org/drawingml/2006/main" noGrp="1"/>
          </p:cNvSpPr>
          <p:nvPr/>
        </p:nvSpPr>
        <p:spPr>
          <a:xfrm xmlns:a="http://schemas.openxmlformats.org/drawingml/2006/main">
            <a:off x="10666413" y="7571423"/>
            <a:ext cx="6394768" cy="34369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3A3D41"/>
                </a:solidFill>
                <a:latin typeface="Arial"/>
                <a:ea typeface="Arial"/>
                <a:cs typeface="Arial"/>
              </a:rPr>
              <a:t>Structured JSON output</a:t>
            </a:r>
            <a:endParaRPr sz="2100"/>
          </a:p>
        </p:txBody>
      </p:sp>
      <p:sp>
        <p:nvSpPr>
          <p:cNvPr id="24" name="Factory deployment plan">
            <a:extLst xmlns:a="http://schemas.openxmlformats.org/drawingml/2006/main">
              <a:ext uri="{FF2B5EF4-FFF2-40B4-BE49-F238E27FC236}">
                <a16:creationId xmlns:a16="http://schemas.microsoft.com/office/drawing/2014/main" id="{2AED7210-910C-41A7-841F-4A9549AD501F}"/>
              </a:ext>
            </a:extLst>
          </p:cNvPr>
          <p:cNvSpPr>
            <a:spLocks xmlns:a="http://schemas.openxmlformats.org/drawingml/2006/main" noGrp="1"/>
          </p:cNvSpPr>
          <p:nvPr/>
        </p:nvSpPr>
        <p:spPr>
          <a:xfrm xmlns:a="http://schemas.openxmlformats.org/drawingml/2006/main">
            <a:off x="1333500" y="8858250"/>
            <a:ext cx="1562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9BDC2"/>
                </a:solidFill>
                <a:latin typeface="Arial"/>
                <a:ea typeface="Arial"/>
                <a:cs typeface="Arial"/>
              </a:defRPr>
            </a:defPPr>
          </a:lstStyle>
          <a:p xmlns:a="http://schemas.openxmlformats.org/drawingml/2006/main">
            <a:pPr>
              <a:buNone/>
              <a:defRPr sz="2100" b="0">
                <a:solidFill>
                  <a:srgbClr val="B9BDC2"/>
                </a:solidFill>
                <a:latin typeface="Arial"/>
                <a:ea typeface="Arial"/>
                <a:cs typeface="Arial"/>
              </a:defRPr>
            </a:pPr>
            <a:r>
              <a:rPr sz="2100" b="0">
                <a:solidFill>
                  <a:srgbClr val="B9BDC2"/>
                </a:solidFill>
                <a:latin typeface="Arial"/>
                <a:ea typeface="Arial"/>
                <a:cs typeface="Arial"/>
              </a:rPr>
              <a:t>Production plan: the same open model runs on the factory’s own AMD GPU.</a:t>
            </a:r>
          </a:p>
        </p:txBody>
      </p:sp>
      <p:sp>
        <p:nvSpPr>
          <p:cNvPr id="25" name="Current demo model">
            <a:extLst xmlns:a="http://schemas.openxmlformats.org/drawingml/2006/main">
              <a:ext uri="{FF2B5EF4-FFF2-40B4-BE49-F238E27FC236}">
                <a16:creationId xmlns:a16="http://schemas.microsoft.com/office/drawing/2014/main" id="{F690C189-42B5-4F24-BE1C-67C11F811853}"/>
              </a:ext>
            </a:extLst>
          </p:cNvPr>
          <p:cNvSpPr>
            <a:spLocks xmlns:a="http://schemas.openxmlformats.org/drawingml/2006/main" noGrp="1"/>
          </p:cNvSpPr>
          <p:nvPr/>
        </p:nvSpPr>
        <p:spPr>
          <a:xfrm xmlns:a="http://schemas.openxmlformats.org/drawingml/2006/main">
            <a:off x="1333500" y="3190875"/>
            <a:ext cx="1562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a:solidFill>
                  <a:srgbClr val="F2F2F0"/>
                </a:solidFill>
                <a:latin typeface="Arial"/>
                <a:ea typeface="Arial"/>
                <a:cs typeface="Arial"/>
              </a:defRPr>
            </a:defPPr>
          </a:lstStyle>
          <a:p xmlns:a="http://schemas.openxmlformats.org/drawingml/2006/main">
            <a:pPr>
              <a:defRPr sz="2400">
                <a:solidFill>
                  <a:srgbClr val="F2F2F0"/>
                </a:solidFill>
                <a:latin typeface="Arial"/>
                <a:ea typeface="Arial"/>
                <a:cs typeface="Arial"/>
              </a:defRPr>
            </a:pPr>
            <a:r>
              <a:rPr sz="2400">
                <a:solidFill>
                  <a:srgbClr val="F2F2F0"/>
                </a:solidFill>
                <a:latin typeface="Arial"/>
                <a:ea typeface="Arial"/>
                <a:cs typeface="Arial"/>
              </a:rPr>
              <a:t>DeepSeek V4.1 Flash (open-weight) on AMD Token Factory</a:t>
            </a:r>
          </a:p>
        </p:txBody>
      </p:sp>
    </p:spTree>
    <p:extLst>
      <p:ext uri="{BB962C8B-B14F-4D97-AF65-F5344CB8AC3E}">
        <p14:creationId xmlns:p14="http://schemas.microsoft.com/office/powerpoint/2010/main" val="2072108262"/>
      </p:ext>
    </p:extLst>
  </p:cSld>
</p:sld>
</file>

<file path=ppt/slides/slide9.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4BBD510-E0A1-4AEC-A199-12337B09DD7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D0F0E9D6-860D-46D8-AABE-8386F07E205B}"/>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7E447B4D-B95C-43D4-B248-A1C5112545F2}"/>
              </a:ext>
            </a:extLst>
          </p:cNvPr>
          <p:cNvSpPr>
            <a:spLocks xmlns:a="http://schemas.openxmlformats.org/drawingml/2006/main" noGrp="1"/>
          </p:cNvSpPr>
          <p:nvPr/>
        </p:nvSpPr>
        <p:spPr>
          <a:xfrm xmlns:a="http://schemas.openxmlformats.org/drawingml/2006/main">
            <a:off x="14815185"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HOW IT WORKS</a:t>
            </a:r>
            <a:endParaRPr sz="1800"/>
          </a:p>
        </p:txBody>
      </p:sp>
      <p:sp>
        <p:nvSpPr>
          <p:cNvPr id="5" name="Text 3">
            <a:extLst xmlns:a="http://schemas.openxmlformats.org/drawingml/2006/main">
              <a:ext uri="{FF2B5EF4-FFF2-40B4-BE49-F238E27FC236}">
                <a16:creationId xmlns:a16="http://schemas.microsoft.com/office/drawing/2014/main" id="{5751589F-FCB7-4A71-992F-B073AD335692}"/>
              </a:ext>
            </a:extLst>
          </p:cNvPr>
          <p:cNvSpPr>
            <a:spLocks xmlns:a="http://schemas.openxmlformats.org/drawingml/2006/main" noGrp="1"/>
          </p:cNvSpPr>
          <p:nvPr/>
        </p:nvSpPr>
        <p:spPr>
          <a:xfrm xmlns:a="http://schemas.openxmlformats.org/drawingml/2006/main">
            <a:off x="1333500" y="1976438"/>
            <a:ext cx="16954500" cy="76962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655"/>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Same engine, new checklist</a:t>
            </a:r>
            <a:endParaRPr sz="4800"/>
          </a:p>
        </p:txBody>
      </p:sp>
      <p:pic>
        <p:nvPicPr>
          <p:cNvPr id="6" name="">
            <a:extLst xmlns:a="http://schemas.openxmlformats.org/drawingml/2006/main">
              <a:ext uri="{FF2B5EF4-FFF2-40B4-BE49-F238E27FC236}">
                <a16:creationId xmlns:a16="http://schemas.microsoft.com/office/drawing/2014/main" id="{177F5CD6-42CB-4EBE-9FAE-5742952685F6}"/>
              </a:ext>
            </a:extLst>
          </p:cNvPr>
          <p:cNvPicPr>
            <a:picLocks xmlns:a="http://schemas.openxmlformats.org/drawingml/2006/main" noChangeAspect="1"/>
          </p:cNvPicPr>
          <p:nvPr/>
        </p:nvPicPr>
        <p:blipFill>
          <a:blip xmlns:r="http://schemas.openxmlformats.org/officeDocument/2006/relationships" xmlns:a="http://schemas.openxmlformats.org/drawingml/2006/main" r:embed="R1bc4b25858f3415f"/>
          <a:stretch xmlns:a="http://schemas.openxmlformats.org/drawingml/2006/main"/>
        </p:blipFill>
        <p:spPr>
          <a:xfrm xmlns:a="http://schemas.openxmlformats.org/drawingml/2006/main">
            <a:off x="1333500" y="3429602"/>
            <a:ext cx="10287000" cy="5789995"/>
          </a:xfrm>
          <a:prstGeom xmlns:a="http://schemas.openxmlformats.org/drawingml/2006/main" prst="rect">
            <a:avLst/>
          </a:prstGeom>
        </p:spPr>
      </p:pic>
      <p:sp>
        <p:nvSpPr>
          <p:cNvPr id="7" name="PC example title">
            <a:extLst xmlns:a="http://schemas.openxmlformats.org/drawingml/2006/main">
              <a:ext uri="{FF2B5EF4-FFF2-40B4-BE49-F238E27FC236}">
                <a16:creationId xmlns:a16="http://schemas.microsoft.com/office/drawing/2014/main" id="{AA258912-A523-4A1A-ADBE-76C016428540}"/>
              </a:ext>
            </a:extLst>
          </p:cNvPr>
          <p:cNvSpPr>
            <a:spLocks xmlns:a="http://schemas.openxmlformats.org/drawingml/2006/main" noGrp="1"/>
          </p:cNvSpPr>
          <p:nvPr/>
        </p:nvSpPr>
        <p:spPr>
          <a:xfrm xmlns:a="http://schemas.openxmlformats.org/drawingml/2006/main">
            <a:off x="12192000" y="35242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0">
                <a:solidFill>
                  <a:srgbClr val="F2F2F0"/>
                </a:solidFill>
                <a:latin typeface="Arial"/>
                <a:ea typeface="Arial"/>
                <a:cs typeface="Arial"/>
              </a:defRPr>
            </a:defPPr>
          </a:lstStyle>
          <a:p xmlns:a="http://schemas.openxmlformats.org/drawingml/2006/main">
            <a:pPr>
              <a:buNone/>
              <a:defRPr sz="3000" b="0">
                <a:solidFill>
                  <a:srgbClr val="F2F2F0"/>
                </a:solidFill>
                <a:latin typeface="Arial"/>
                <a:ea typeface="Arial"/>
                <a:cs typeface="Arial"/>
              </a:defRPr>
            </a:pPr>
            <a:r>
              <a:rPr sz="3000" b="0">
                <a:solidFill>
                  <a:srgbClr val="F2F2F0"/>
                </a:solidFill>
                <a:latin typeface="Arial"/>
                <a:ea typeface="Arial"/>
                <a:cs typeface="Arial"/>
              </a:rPr>
              <a:t>PC build example</a:t>
            </a:r>
          </a:p>
        </p:txBody>
      </p:sp>
      <p:sp>
        <p:nvSpPr>
          <p:cNvPr id="8" name="PC example checks">
            <a:extLst xmlns:a="http://schemas.openxmlformats.org/drawingml/2006/main">
              <a:ext uri="{FF2B5EF4-FFF2-40B4-BE49-F238E27FC236}">
                <a16:creationId xmlns:a16="http://schemas.microsoft.com/office/drawing/2014/main" id="{38844946-7CC0-4F7B-85B0-E610825BAFE1}"/>
              </a:ext>
            </a:extLst>
          </p:cNvPr>
          <p:cNvSpPr>
            <a:spLocks xmlns:a="http://schemas.openxmlformats.org/drawingml/2006/main" noGrp="1"/>
          </p:cNvSpPr>
          <p:nvPr/>
        </p:nvSpPr>
        <p:spPr>
          <a:xfrm xmlns:a="http://schemas.openxmlformats.org/drawingml/2006/main">
            <a:off x="12192000" y="433387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9BDC2"/>
                </a:solidFill>
                <a:latin typeface="Arial"/>
                <a:ea typeface="Arial"/>
                <a:cs typeface="Arial"/>
              </a:defRPr>
            </a:defPPr>
          </a:lstStyle>
          <a:p xmlns:a="http://schemas.openxmlformats.org/drawingml/2006/main">
            <a:pPr>
              <a:buNone/>
              <a:defRPr sz="2400" b="0">
                <a:solidFill>
                  <a:srgbClr val="B9BDC2"/>
                </a:solidFill>
                <a:latin typeface="Arial"/>
                <a:ea typeface="Arial"/>
                <a:cs typeface="Arial"/>
              </a:defRPr>
            </a:pPr>
            <a:r>
              <a:rPr sz="2400" b="0">
                <a:solidFill>
                  <a:srgbClr val="B9BDC2"/>
                </a:solidFill>
                <a:latin typeface="Arial"/>
                <a:ea typeface="Arial"/>
                <a:cs typeface="Arial"/>
              </a:rPr>
              <a:t>RAM clips and GPU power before the panel closes.</a:t>
            </a:r>
          </a:p>
        </p:txBody>
      </p:sp>
      <p:sp>
        <p:nvSpPr>
          <p:cNvPr id="9" name="Photo evidence heading">
            <a:extLst xmlns:a="http://schemas.openxmlformats.org/drawingml/2006/main">
              <a:ext uri="{FF2B5EF4-FFF2-40B4-BE49-F238E27FC236}">
                <a16:creationId xmlns:a16="http://schemas.microsoft.com/office/drawing/2014/main" id="{C90F6FA0-06BA-4286-A672-3259B5188CB3}"/>
              </a:ext>
            </a:extLst>
          </p:cNvPr>
          <p:cNvSpPr>
            <a:spLocks xmlns:a="http://schemas.openxmlformats.org/drawingml/2006/main" noGrp="1"/>
          </p:cNvSpPr>
          <p:nvPr/>
        </p:nvSpPr>
        <p:spPr>
          <a:xfrm xmlns:a="http://schemas.openxmlformats.org/drawingml/2006/main">
            <a:off x="12192000" y="61912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2F2F0"/>
                </a:solidFill>
                <a:latin typeface="Arial"/>
                <a:ea typeface="Arial"/>
                <a:cs typeface="Arial"/>
              </a:defRPr>
            </a:defPPr>
          </a:lstStyle>
          <a:p xmlns:a="http://schemas.openxmlformats.org/drawingml/2006/main">
            <a:pPr>
              <a:buNone/>
              <a:defRPr sz="2700" b="0">
                <a:solidFill>
                  <a:srgbClr val="F2F2F0"/>
                </a:solidFill>
                <a:latin typeface="Arial"/>
                <a:ea typeface="Arial"/>
                <a:cs typeface="Arial"/>
              </a:defRPr>
            </a:pPr>
            <a:r>
              <a:rPr sz="2700" b="0">
                <a:solidFill>
                  <a:srgbClr val="F2F2F0"/>
                </a:solidFill>
                <a:latin typeface="Arial"/>
                <a:ea typeface="Arial"/>
                <a:cs typeface="Arial"/>
              </a:rPr>
              <a:t>Photo evidence per unit</a:t>
            </a:r>
          </a:p>
        </p:txBody>
      </p:sp>
      <p:sp>
        <p:nvSpPr>
          <p:cNvPr id="10" name="Photo evidence description">
            <a:extLst xmlns:a="http://schemas.openxmlformats.org/drawingml/2006/main">
              <a:ext uri="{FF2B5EF4-FFF2-40B4-BE49-F238E27FC236}">
                <a16:creationId xmlns:a16="http://schemas.microsoft.com/office/drawing/2014/main" id="{54D491EF-175A-422C-B489-4C4CF4889D23}"/>
              </a:ext>
            </a:extLst>
          </p:cNvPr>
          <p:cNvSpPr>
            <a:spLocks xmlns:a="http://schemas.openxmlformats.org/drawingml/2006/main" noGrp="1"/>
          </p:cNvSpPr>
          <p:nvPr/>
        </p:nvSpPr>
        <p:spPr>
          <a:xfrm xmlns:a="http://schemas.openxmlformats.org/drawingml/2006/main">
            <a:off x="12192000" y="714375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9BDC2"/>
                </a:solidFill>
                <a:latin typeface="Arial"/>
                <a:ea typeface="Arial"/>
                <a:cs typeface="Arial"/>
              </a:defRPr>
            </a:defPPr>
          </a:lstStyle>
          <a:p xmlns:a="http://schemas.openxmlformats.org/drawingml/2006/main">
            <a:pPr>
              <a:buNone/>
              <a:defRPr sz="2400" b="0">
                <a:solidFill>
                  <a:srgbClr val="B9BDC2"/>
                </a:solidFill>
                <a:latin typeface="Arial"/>
                <a:ea typeface="Arial"/>
                <a:cs typeface="Arial"/>
              </a:defRPr>
            </a:pPr>
            <a:r>
              <a:rPr sz="2400" b="0">
                <a:solidFill>
                  <a:srgbClr val="B9BDC2"/>
                </a:solidFill>
                <a:latin typeface="Arial"/>
                <a:ea typeface="Arial"/>
                <a:cs typeface="Arial"/>
              </a:rPr>
              <a:t>Visual attempts save a photo, timestamp, check ID and result.</a:t>
            </a:r>
          </a:p>
        </p:txBody>
      </p:sp>
      <p:sp>
        <p:nvSpPr>
          <p:cNvPr id="11" name="Demo mode caption">
            <a:extLst xmlns:a="http://schemas.openxmlformats.org/drawingml/2006/main">
              <a:ext uri="{FF2B5EF4-FFF2-40B4-BE49-F238E27FC236}">
                <a16:creationId xmlns:a16="http://schemas.microsoft.com/office/drawing/2014/main" id="{1DC9BB6D-2C0A-4C8B-9D13-CC5D40B9C78E}"/>
              </a:ext>
            </a:extLst>
          </p:cNvPr>
          <p:cNvSpPr>
            <a:spLocks xmlns:a="http://schemas.openxmlformats.org/drawingml/2006/main" noGrp="1"/>
          </p:cNvSpPr>
          <p:nvPr/>
        </p:nvSpPr>
        <p:spPr>
          <a:xfrm xmlns:a="http://schemas.openxmlformats.org/drawingml/2006/main">
            <a:off x="1333500" y="93821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8A8F95"/>
                </a:solidFill>
                <a:latin typeface="Courier New"/>
                <a:ea typeface="Courier New"/>
                <a:cs typeface="Courier New"/>
              </a:defRPr>
            </a:defPPr>
          </a:lstStyle>
          <a:p xmlns:a="http://schemas.openxmlformats.org/drawingml/2006/main">
            <a:pPr>
              <a:buNone/>
              <a:defRPr sz="1800" b="0">
                <a:solidFill>
                  <a:srgbClr val="8A8F95"/>
                </a:solidFill>
                <a:latin typeface="Courier New"/>
                <a:ea typeface="Courier New"/>
                <a:cs typeface="Courier New"/>
              </a:defRPr>
            </a:pPr>
            <a:r>
              <a:rPr sz="1800" b="0">
                <a:solidFill>
                  <a:srgbClr val="8A8F95"/>
                </a:solidFill>
                <a:latin typeface="Courier New"/>
                <a:ea typeface="Courier New"/>
                <a:cs typeface="Courier New"/>
              </a:rPr>
              <a:t>PC EXAMPLE / LOCAL DEMO MODE</a:t>
            </a:r>
          </a:p>
        </p:txBody>
      </p:sp>
    </p:spTree>
    <p:extLst>
      <p:ext uri="{BB962C8B-B14F-4D97-AF65-F5344CB8AC3E}">
        <p14:creationId xmlns:p14="http://schemas.microsoft.com/office/powerpoint/2010/main" val="836735364"/>
      </p:ext>
    </p:extLst>
  </p:cSld>
</p:sld>
</file>

<file path=ppt/slides/slide10.xml><?xml version="1.0" encoding="utf-8"?>
<p:sld xmlns:p="http://schemas.openxmlformats.org/presentationml/2006/main">
  <p:cSld>
    <p:bg>
      <p:bgPr>
        <a:solidFill xmlns:a="http://schemas.openxmlformats.org/drawingml/2006/main">
          <a:srgbClr val="F2F2F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38F838-952E-47AF-B903-D166719B81CC}"/>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MULTILÖND AI</a:t>
            </a:r>
            <a:endParaRPr sz="1800"/>
          </a:p>
        </p:txBody>
      </p:sp>
      <p:sp>
        <p:nvSpPr>
          <p:cNvPr id="3" name="Text 1">
            <a:extLst xmlns:a="http://schemas.openxmlformats.org/drawingml/2006/main">
              <a:ext uri="{FF2B5EF4-FFF2-40B4-BE49-F238E27FC236}">
                <a16:creationId xmlns:a16="http://schemas.microsoft.com/office/drawing/2014/main" id="{5229A08F-C71B-41BC-A02D-28FEB5874ACE}"/>
              </a:ext>
            </a:extLst>
          </p:cNvPr>
          <p:cNvSpPr>
            <a:spLocks xmlns:a="http://schemas.openxmlformats.org/drawingml/2006/main" noGrp="1"/>
          </p:cNvSpPr>
          <p:nvPr/>
        </p:nvSpPr>
        <p:spPr>
          <a:xfrm xmlns:a="http://schemas.openxmlformats.org/drawingml/2006/main">
            <a:off x="15706567" y="952500"/>
            <a:ext cx="137272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spc="324">
                <a:solidFill>
                  <a:srgbClr val="55595E"/>
                </a:solidFill>
                <a:latin typeface="Courier New"/>
                <a:ea typeface="Courier New"/>
                <a:cs typeface="Courier New"/>
              </a:rPr>
              <a:t>03 / 03</a:t>
            </a:r>
            <a:endParaRPr sz="1800"/>
          </a:p>
        </p:txBody>
      </p:sp>
      <p:sp>
        <p:nvSpPr>
          <p:cNvPr id="4" name="Text 2">
            <a:extLst xmlns:a="http://schemas.openxmlformats.org/drawingml/2006/main">
              <a:ext uri="{FF2B5EF4-FFF2-40B4-BE49-F238E27FC236}">
                <a16:creationId xmlns:a16="http://schemas.microsoft.com/office/drawing/2014/main" id="{375AE161-1816-4DED-8A6F-04517AE95030}"/>
              </a:ext>
            </a:extLst>
          </p:cNvPr>
          <p:cNvSpPr>
            <a:spLocks xmlns:a="http://schemas.openxmlformats.org/drawingml/2006/main" noGrp="1"/>
          </p:cNvSpPr>
          <p:nvPr/>
        </p:nvSpPr>
        <p:spPr>
          <a:xfrm xmlns:a="http://schemas.openxmlformats.org/drawingml/2006/main">
            <a:off x="1333500" y="4276249"/>
            <a:ext cx="16954500" cy="39608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spc="480">
                <a:solidFill>
                  <a:srgbClr val="55595E"/>
                </a:solidFill>
                <a:latin typeface="Courier New"/>
                <a:ea typeface="Courier New"/>
                <a:cs typeface="Courier New"/>
              </a:rPr>
              <a:t>03</a:t>
            </a:r>
            <a:endParaRPr sz="2400"/>
          </a:p>
        </p:txBody>
      </p:sp>
      <p:sp>
        <p:nvSpPr>
          <p:cNvPr id="5" name="Text 3">
            <a:extLst xmlns:a="http://schemas.openxmlformats.org/drawingml/2006/main">
              <a:ext uri="{FF2B5EF4-FFF2-40B4-BE49-F238E27FC236}">
                <a16:creationId xmlns:a16="http://schemas.microsoft.com/office/drawing/2014/main" id="{00900292-93A6-479B-BCBA-2CD7A99AFAAF}"/>
              </a:ext>
            </a:extLst>
          </p:cNvPr>
          <p:cNvSpPr>
            <a:spLocks xmlns:a="http://schemas.openxmlformats.org/drawingml/2006/main" noGrp="1"/>
          </p:cNvSpPr>
          <p:nvPr/>
        </p:nvSpPr>
        <p:spPr>
          <a:xfrm xmlns:a="http://schemas.openxmlformats.org/drawingml/2006/main">
            <a:off x="1333500" y="5015230"/>
            <a:ext cx="16954500" cy="13716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955"/>
          </a:bodyPr>
          <a:lstStyle xmlns:a="http://schemas.openxmlformats.org/drawingml/2006/main"/>
          <a:p xmlns:a="http://schemas.openxmlformats.org/drawingml/2006/main">
            <a:pPr marL="0" indent="0" algn="l">
              <a:lnSpc>
                <a:spcPct val="88795"/>
              </a:lnSpc>
              <a:buNone/>
            </a:pPr>
            <a:r>
              <a:rPr sz="10500" spc="1890">
                <a:solidFill>
                  <a:srgbClr val="050607"/>
                </a:solidFill>
                <a:latin typeface="Arial"/>
                <a:ea typeface="Arial"/>
                <a:cs typeface="Arial"/>
              </a:rPr>
              <a:t>THE RESULTS</a:t>
            </a:r>
            <a:endParaRPr sz="10500"/>
          </a:p>
        </p:txBody>
      </p:sp>
      <p:sp>
        <p:nvSpPr>
          <p:cNvPr id="6" name="Shape 4">
            <a:extLst xmlns:a="http://schemas.openxmlformats.org/drawingml/2006/main">
              <a:ext uri="{FF2B5EF4-FFF2-40B4-BE49-F238E27FC236}">
                <a16:creationId xmlns:a16="http://schemas.microsoft.com/office/drawing/2014/main" id="{C65BA570-1654-4D52-A7DF-F9997CE81A1D}"/>
              </a:ext>
            </a:extLst>
          </p:cNvPr>
          <p:cNvSpPr>
            <a:spLocks xmlns:a="http://schemas.openxmlformats.org/drawingml/2006/main" noGrp="1"/>
          </p:cNvSpPr>
          <p:nvPr/>
        </p:nvSpPr>
        <p:spPr>
          <a:xfrm xmlns:a="http://schemas.openxmlformats.org/drawingml/2006/main">
            <a:off x="1333500" y="9410700"/>
            <a:ext cx="15621000" cy="19050"/>
          </a:xfrm>
          <a:prstGeom xmlns:a="http://schemas.openxmlformats.org/drawingml/2006/main" prst="rect">
            <a:avLst/>
          </a:prstGeom>
          <a:solidFill xmlns:a="http://schemas.openxmlformats.org/drawingml/2006/main">
            <a:srgbClr val="050607"/>
          </a:solidFill>
        </p:spPr>
      </p:sp>
    </p:spTree>
    <p:extLst>
      <p:ext uri="{BB962C8B-B14F-4D97-AF65-F5344CB8AC3E}">
        <p14:creationId xmlns:p14="http://schemas.microsoft.com/office/powerpoint/2010/main" val="1666001745"/>
      </p:ext>
    </p:extLst>
  </p:cSld>
</p:sld>
</file>

<file path=ppt/slides/slide11.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6006DC8-7065-4B6B-9093-B5025D65EF2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7596F6DF-8E9A-4D80-9D7D-8D53463A4E39}"/>
              </a:ext>
            </a:extLst>
          </p:cNvPr>
          <p:cNvSpPr>
            <a:spLocks xmlns:a="http://schemas.openxmlformats.org/drawingml/2006/main" noGrp="1"/>
          </p:cNvSpPr>
          <p:nvPr/>
        </p:nvSpPr>
        <p:spPr>
          <a:xfrm xmlns:a="http://schemas.openxmlformats.org/drawingml/2006/main">
            <a:off x="1333500" y="952500"/>
            <a:ext cx="235324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MULTILÖND AI</a:t>
            </a:r>
            <a:endParaRPr sz="1800"/>
          </a:p>
        </p:txBody>
      </p:sp>
      <p:sp>
        <p:nvSpPr>
          <p:cNvPr id="4" name="Text 2">
            <a:extLst xmlns:a="http://schemas.openxmlformats.org/drawingml/2006/main">
              <a:ext uri="{FF2B5EF4-FFF2-40B4-BE49-F238E27FC236}">
                <a16:creationId xmlns:a16="http://schemas.microsoft.com/office/drawing/2014/main" id="{35B81BD2-6AC7-40D5-B1E1-71A3CE4C9996}"/>
              </a:ext>
            </a:extLst>
          </p:cNvPr>
          <p:cNvSpPr>
            <a:spLocks xmlns:a="http://schemas.openxmlformats.org/drawingml/2006/main" noGrp="1"/>
          </p:cNvSpPr>
          <p:nvPr/>
        </p:nvSpPr>
        <p:spPr>
          <a:xfrm xmlns:a="http://schemas.openxmlformats.org/drawingml/2006/main">
            <a:off x="14636909" y="952500"/>
            <a:ext cx="254935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0857"/>
          </a:bodyPr>
          <a:lstStyle xmlns:a="http://schemas.openxmlformats.org/drawingml/2006/main"/>
          <a:p xmlns:a="http://schemas.openxmlformats.org/drawingml/2006/main">
            <a:pPr marL="0" indent="0" algn="l">
              <a:buNone/>
            </a:pPr>
            <a:r>
              <a:rPr sz="1800" spc="324">
                <a:solidFill>
                  <a:srgbClr val="8A8F95"/>
                </a:solidFill>
                <a:latin typeface="Courier New"/>
                <a:ea typeface="Courier New"/>
                <a:cs typeface="Courier New"/>
              </a:rPr>
              <a:t>THE RESULTS</a:t>
            </a:r>
            <a:endParaRPr sz="1800"/>
          </a:p>
        </p:txBody>
      </p:sp>
      <p:sp>
        <p:nvSpPr>
          <p:cNvPr id="5" name="Text 3">
            <a:extLst xmlns:a="http://schemas.openxmlformats.org/drawingml/2006/main">
              <a:ext uri="{FF2B5EF4-FFF2-40B4-BE49-F238E27FC236}">
                <a16:creationId xmlns:a16="http://schemas.microsoft.com/office/drawing/2014/main" id="{352A4F8F-214A-4861-9BED-4570DB937DFE}"/>
              </a:ext>
            </a:extLst>
          </p:cNvPr>
          <p:cNvSpPr>
            <a:spLocks xmlns:a="http://schemas.openxmlformats.org/drawingml/2006/main" noGrp="1"/>
          </p:cNvSpPr>
          <p:nvPr/>
        </p:nvSpPr>
        <p:spPr>
          <a:xfrm xmlns:a="http://schemas.openxmlformats.org/drawingml/2006/main">
            <a:off x="1333500" y="1976438"/>
            <a:ext cx="16954500" cy="76962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655"/>
          </a:bodyPr>
          <a:lstStyle xmlns:a="http://schemas.openxmlformats.org/drawingml/2006/main"/>
          <a:p xmlns:a="http://schemas.openxmlformats.org/drawingml/2006/main">
            <a:pPr marL="0" indent="0" algn="l">
              <a:lnSpc>
                <a:spcPct val="106053"/>
              </a:lnSpc>
              <a:buNone/>
            </a:pPr>
            <a:r>
              <a:rPr sz="4800" spc="192">
                <a:solidFill>
                  <a:srgbClr val="F2F2F0"/>
                </a:solidFill>
                <a:latin typeface="Arial"/>
                <a:ea typeface="Arial"/>
                <a:cs typeface="Arial"/>
              </a:rPr>
              <a:t>2/24 to 14/24 defects caught</a:t>
            </a:r>
            <a:endParaRPr sz="4800"/>
          </a:p>
        </p:txBody>
      </p:sp>
      <p:sp>
        <p:nvSpPr>
          <p:cNvPr id="6" name="Sample description">
            <a:extLst xmlns:a="http://schemas.openxmlformats.org/drawingml/2006/main">
              <a:ext uri="{FF2B5EF4-FFF2-40B4-BE49-F238E27FC236}">
                <a16:creationId xmlns:a16="http://schemas.microsoft.com/office/drawing/2014/main" id="{EAA7CC0F-9DF3-4D7A-BAF7-F514F037492B}"/>
              </a:ext>
            </a:extLst>
          </p:cNvPr>
          <p:cNvSpPr>
            <a:spLocks xmlns:a="http://schemas.openxmlformats.org/drawingml/2006/main" noGrp="1"/>
          </p:cNvSpPr>
          <p:nvPr/>
        </p:nvSpPr>
        <p:spPr>
          <a:xfrm xmlns:a="http://schemas.openxmlformats.org/drawingml/2006/main">
            <a:off x="1333500" y="3000375"/>
            <a:ext cx="1562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9BDC2"/>
                </a:solidFill>
                <a:latin typeface="Arial"/>
                <a:ea typeface="Arial"/>
                <a:cs typeface="Arial"/>
              </a:defRPr>
            </a:defPPr>
          </a:lstStyle>
          <a:p xmlns:a="http://schemas.openxmlformats.org/drawingml/2006/main">
            <a:pPr>
              <a:buNone/>
              <a:defRPr sz="2400" b="0">
                <a:solidFill>
                  <a:srgbClr val="B9BDC2"/>
                </a:solidFill>
                <a:latin typeface="Arial"/>
                <a:ea typeface="Arial"/>
                <a:cs typeface="Arial"/>
              </a:defRPr>
            </a:pPr>
            <a:r>
              <a:rPr sz="2400" b="0">
                <a:solidFill>
                  <a:srgbClr val="B9BDC2"/>
                </a:solidFill>
                <a:latin typeface="Arial"/>
                <a:ea typeface="Arial"/>
                <a:cs typeface="Arial"/>
              </a:rPr>
              <a:t>Same 34 cable photos: 24 defective, 10 clean / measured with Gemma 4</a:t>
            </a:r>
          </a:p>
        </p:txBody>
      </p:sp>
      <p:graphicFrame>
        <p:nvGraphicFramePr>
          <p:cNvPr id="7" name="">
            <a:extLst xmlns:a="http://schemas.openxmlformats.org/drawingml/2006/main">
              <a:ext uri="{FF2B5EF4-FFF2-40B4-BE49-F238E27FC236}">
                <a16:creationId xmlns:a16="http://schemas.microsoft.com/office/drawing/2014/main" id="{966858B9-FBE7-46C2-8605-F6C2326A40A3}"/>
              </a:ext>
            </a:extLst>
          </p:cNvPr>
          <p:cNvGraphicFramePr/>
          <p:nvPr/>
        </p:nvGraphicFramePr>
        <p:xfrm>
          <a:off xmlns:a="http://schemas.openxmlformats.org/drawingml/2006/main" x="1333500" y="4000500"/>
          <a:ext xmlns:a="http://schemas.openxmlformats.org/drawingml/2006/main" cx="15621000" cy="3619500"/>
        </p:xfrm>
        <a:graphic xmlns:a="http://schemas.openxmlformats.org/drawingml/2006/main">
          <a:graphicData uri="http://schemas.openxmlformats.org/drawingml/2006/table">
            <a:tbl>
              <a:tblPr/>
              <a:tblGrid>
                <a:gridCol w="6096000"/>
                <a:gridCol w="4762500"/>
                <a:gridCol w="4762500"/>
              </a:tblGrid>
              <a:tr h="723900">
                <a:tc>
                  <a:txBody>
                    <a:bodyPr/>
                    <a:lstStyle/>
                    <a:p>
                      <a:r>
                        <a:rPr sz="2100">
                          <a:solidFill>
                            <a:srgbClr val="8A8F95"/>
                          </a:solidFill>
                          <a:latin typeface="Courier New"/>
                          <a:ea typeface="Courier New"/>
                          <a:cs typeface="Courier New"/>
                        </a:rPr>
                        <a:t>METRIC</a:t>
                      </a:r>
                    </a:p>
                  </a:txBody>
                  <a:tcPr marL="171450" marR="171450" marT="114300" marB="114300" anchor="ctr">
                    <a:lnL w="9525">
                      <a:solidFill>
                        <a:srgbClr val="3A3D41"/>
                      </a:solidFill>
                      <a:prstDash val="solid"/>
                    </a:lnL>
                    <a:lnR w="9525">
                      <a:solidFill>
                        <a:srgbClr val="3A3D41"/>
                      </a:solidFill>
                      <a:prstDash val="solid"/>
                    </a:lnR>
                    <a:lnT w="9525">
                      <a:solidFill>
                        <a:srgbClr val="3A3D41"/>
                      </a:solidFill>
                      <a:prstDash val="solid"/>
                    </a:lnT>
                    <a:lnB w="9525">
                      <a:solidFill>
                        <a:srgbClr val="3A3D41"/>
                      </a:solidFill>
                      <a:prstDash val="solid"/>
                    </a:lnB>
                    <a:solidFill>
                      <a:srgbClr val="0D0F10"/>
                    </a:solidFill>
                  </a:tcPr>
                </a:tc>
                <a:tc>
                  <a:txBody>
                    <a:bodyPr/>
                    <a:lstStyle/>
                    <a:p>
                      <a:r>
                        <a:rPr sz="2100">
                          <a:solidFill>
                            <a:srgbClr val="8A8F95"/>
                          </a:solidFill>
                          <a:latin typeface="Courier New"/>
                          <a:ea typeface="Courier New"/>
                          <a:cs typeface="Courier New"/>
                        </a:rPr>
                        <a:t>GENERIC</a:t>
                      </a:r>
                    </a:p>
                  </a:txBody>
                  <a:tcPr marL="171450" marR="171450" marT="114300" marB="114300" anchor="ctr">
                    <a:lnR w="9525">
                      <a:solidFill>
                        <a:srgbClr val="3A3D41"/>
                      </a:solidFill>
                      <a:prstDash val="solid"/>
                    </a:lnR>
                    <a:lnT w="9525">
                      <a:solidFill>
                        <a:srgbClr val="3A3D41"/>
                      </a:solidFill>
                      <a:prstDash val="solid"/>
                    </a:lnT>
                    <a:lnB w="9525">
                      <a:solidFill>
                        <a:srgbClr val="3A3D41"/>
                      </a:solidFill>
                      <a:prstDash val="solid"/>
                    </a:lnB>
                    <a:solidFill>
                      <a:srgbClr val="0D0F10"/>
                    </a:solidFill>
                  </a:tcPr>
                </a:tc>
                <a:tc>
                  <a:txBody>
                    <a:bodyPr/>
                    <a:lstStyle/>
                    <a:p>
                      <a:r>
                        <a:rPr sz="2100">
                          <a:solidFill>
                            <a:srgbClr val="8A8F95"/>
                          </a:solidFill>
                          <a:latin typeface="Courier New"/>
                          <a:ea typeface="Courier New"/>
                          <a:cs typeface="Courier New"/>
                        </a:rPr>
                        <a:t>TARGETED</a:t>
                      </a:r>
                    </a:p>
                  </a:txBody>
                  <a:tcPr marL="171450" marR="171450" marT="114300" marB="114300" anchor="ctr">
                    <a:lnR w="9525">
                      <a:solidFill>
                        <a:srgbClr val="3A3D41"/>
                      </a:solidFill>
                      <a:prstDash val="solid"/>
                    </a:lnR>
                    <a:lnT w="9525">
                      <a:solidFill>
                        <a:srgbClr val="3A3D41"/>
                      </a:solidFill>
                      <a:prstDash val="solid"/>
                    </a:lnT>
                    <a:lnB w="9525">
                      <a:solidFill>
                        <a:srgbClr val="3A3D41"/>
                      </a:solidFill>
                      <a:prstDash val="solid"/>
                    </a:lnB>
                    <a:solidFill>
                      <a:srgbClr val="0D0F10"/>
                    </a:solidFill>
                  </a:tcPr>
                </a:tc>
              </a:tr>
              <a:tr h="723900">
                <a:tc>
                  <a:txBody>
                    <a:bodyPr/>
                    <a:lstStyle/>
                    <a:p>
                      <a:r>
                        <a:rPr sz="2850">
                          <a:solidFill>
                            <a:srgbClr val="F2F2F0"/>
                          </a:solidFill>
                          <a:latin typeface="Arial"/>
                          <a:ea typeface="Arial"/>
                          <a:cs typeface="Arial"/>
                        </a:rPr>
                        <a:t>Defects caught</a:t>
                      </a:r>
                    </a:p>
                  </a:txBody>
                  <a:tcPr marL="171450" marR="171450" marT="114300" marB="114300" anchor="ctr">
                    <a:lnL w="9525">
                      <a:solidFill>
                        <a:srgbClr val="3A3D41"/>
                      </a:solidFill>
                      <a:prstDash val="solid"/>
                    </a:lnL>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2/24 (8.3%)</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c>
                  <a:txBody>
                    <a:bodyPr/>
                    <a:lstStyle/>
                    <a:p>
                      <a:r>
                        <a:rPr sz="2850" b="1">
                          <a:solidFill>
                            <a:srgbClr val="E8463B"/>
                          </a:solidFill>
                          <a:latin typeface="Arial"/>
                          <a:ea typeface="Arial"/>
                          <a:cs typeface="Arial"/>
                        </a:rPr>
                        <a:t>14/24 (58.3%)</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r>
              <a:tr h="723900">
                <a:tc>
                  <a:txBody>
                    <a:bodyPr/>
                    <a:lstStyle/>
                    <a:p>
                      <a:r>
                        <a:rPr sz="2850">
                          <a:solidFill>
                            <a:srgbClr val="F2F2F0"/>
                          </a:solidFill>
                          <a:latin typeface="Arial"/>
                          <a:ea typeface="Arial"/>
                          <a:cs typeface="Arial"/>
                        </a:rPr>
                        <a:t>False alarms</a:t>
                      </a:r>
                    </a:p>
                  </a:txBody>
                  <a:tcPr marL="171450" marR="171450" marT="114300" marB="114300" anchor="ctr">
                    <a:lnL w="9525">
                      <a:solidFill>
                        <a:srgbClr val="3A3D41"/>
                      </a:solidFill>
                      <a:prstDash val="solid"/>
                    </a:lnL>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0/10</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0/10</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r>
              <a:tr h="723900">
                <a:tc>
                  <a:txBody>
                    <a:bodyPr/>
                    <a:lstStyle/>
                    <a:p>
                      <a:r>
                        <a:rPr sz="2850">
                          <a:solidFill>
                            <a:srgbClr val="F2F2F0"/>
                          </a:solidFill>
                          <a:latin typeface="Arial"/>
                          <a:ea typeface="Arial"/>
                          <a:cs typeface="Arial"/>
                        </a:rPr>
                        <a:t>Mean box IoU*</a:t>
                      </a:r>
                    </a:p>
                  </a:txBody>
                  <a:tcPr marL="171450" marR="171450" marT="114300" marB="114300" anchor="ctr">
                    <a:lnL w="9525">
                      <a:solidFill>
                        <a:srgbClr val="3A3D41"/>
                      </a:solidFill>
                      <a:prstDash val="solid"/>
                    </a:lnL>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0.8554</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0.62</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r>
              <a:tr h="723900">
                <a:tc>
                  <a:txBody>
                    <a:bodyPr/>
                    <a:lstStyle/>
                    <a:p>
                      <a:r>
                        <a:rPr sz="2850">
                          <a:solidFill>
                            <a:srgbClr val="F2F2F0"/>
                          </a:solidFill>
                          <a:latin typeface="Arial"/>
                          <a:ea typeface="Arial"/>
                          <a:cs typeface="Arial"/>
                        </a:rPr>
                        <a:t>Average check time</a:t>
                      </a:r>
                    </a:p>
                  </a:txBody>
                  <a:tcPr marL="171450" marR="171450" marT="114300" marB="114300" anchor="ctr">
                    <a:lnL w="9525">
                      <a:solidFill>
                        <a:srgbClr val="3A3D41"/>
                      </a:solidFill>
                      <a:prstDash val="solid"/>
                    </a:lnL>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5.71 s</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c>
                  <a:txBody>
                    <a:bodyPr/>
                    <a:lstStyle/>
                    <a:p>
                      <a:r>
                        <a:rPr sz="2850">
                          <a:solidFill>
                            <a:srgbClr val="F2F2F0"/>
                          </a:solidFill>
                          <a:latin typeface="Arial"/>
                          <a:ea typeface="Arial"/>
                          <a:cs typeface="Arial"/>
                        </a:rPr>
                        <a:t>5.65 s</a:t>
                      </a:r>
                    </a:p>
                  </a:txBody>
                  <a:tcPr marL="171450" marR="171450" marT="114300" marB="114300" anchor="ctr">
                    <a:lnR w="9525">
                      <a:solidFill>
                        <a:srgbClr val="3A3D41"/>
                      </a:solidFill>
                      <a:prstDash val="solid"/>
                    </a:lnR>
                    <a:lnB w="9525">
                      <a:solidFill>
                        <a:srgbClr val="3A3D41"/>
                      </a:solidFill>
                      <a:prstDash val="solid"/>
                    </a:lnB>
                    <a:solidFill>
                      <a:srgbClr val="0D0F10"/>
                    </a:solidFill>
                  </a:tcPr>
                </a:tc>
              </a:tr>
            </a:tbl>
          </a:graphicData>
        </a:graphic>
      </p:graphicFrame>
      <p:sp>
        <p:nvSpPr>
          <p:cNvPr id="8" name="Result limitation">
            <a:extLst xmlns:a="http://schemas.openxmlformats.org/drawingml/2006/main">
              <a:ext uri="{FF2B5EF4-FFF2-40B4-BE49-F238E27FC236}">
                <a16:creationId xmlns:a16="http://schemas.microsoft.com/office/drawing/2014/main" id="{C01E5780-DE34-4083-ACEE-E7DBAD42884B}"/>
              </a:ext>
            </a:extLst>
          </p:cNvPr>
          <p:cNvSpPr>
            <a:spLocks xmlns:a="http://schemas.openxmlformats.org/drawingml/2006/main" noGrp="1"/>
          </p:cNvSpPr>
          <p:nvPr/>
        </p:nvSpPr>
        <p:spPr>
          <a:xfrm xmlns:a="http://schemas.openxmlformats.org/drawingml/2006/main">
            <a:off x="1333500" y="8048625"/>
            <a:ext cx="1562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F2F2F0"/>
                </a:solidFill>
                <a:latin typeface="Arial"/>
                <a:ea typeface="Arial"/>
                <a:cs typeface="Arial"/>
              </a:defRPr>
            </a:defPPr>
          </a:lstStyle>
          <a:p xmlns:a="http://schemas.openxmlformats.org/drawingml/2006/main">
            <a:pPr>
              <a:buNone/>
              <a:defRPr sz="2850" b="0">
                <a:solidFill>
                  <a:srgbClr val="F2F2F0"/>
                </a:solidFill>
                <a:latin typeface="Arial"/>
                <a:ea typeface="Arial"/>
                <a:cs typeface="Arial"/>
              </a:defRPr>
            </a:pPr>
            <a:r>
              <a:rPr sz="2850" b="0">
                <a:solidFill>
                  <a:srgbClr val="F2F2F0"/>
                </a:solidFill>
                <a:latin typeface="Arial"/>
                <a:ea typeface="Arial"/>
                <a:cs typeface="Arial"/>
              </a:rPr>
              <a:t>7× as many caught. 10/24 defects still missed.</a:t>
            </a:r>
          </a:p>
        </p:txBody>
      </p:sp>
      <p:sp>
        <p:nvSpPr>
          <p:cNvPr id="9" name="Result source">
            <a:extLst xmlns:a="http://schemas.openxmlformats.org/drawingml/2006/main">
              <a:ext uri="{FF2B5EF4-FFF2-40B4-BE49-F238E27FC236}">
                <a16:creationId xmlns:a16="http://schemas.microsoft.com/office/drawing/2014/main" id="{1EA2BBEF-6EFF-4A8F-A5FA-2E11DB7487D3}"/>
              </a:ext>
            </a:extLst>
          </p:cNvPr>
          <p:cNvSpPr>
            <a:spLocks xmlns:a="http://schemas.openxmlformats.org/drawingml/2006/main" noGrp="1"/>
          </p:cNvSpPr>
          <p:nvPr/>
        </p:nvSpPr>
        <p:spPr>
          <a:xfrm xmlns:a="http://schemas.openxmlformats.org/drawingml/2006/main">
            <a:off x="1333500" y="8715375"/>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8A8F95"/>
                </a:solidFill>
                <a:latin typeface="Arial"/>
                <a:ea typeface="Arial"/>
                <a:cs typeface="Arial"/>
              </a:defRPr>
            </a:defPPr>
          </a:lstStyle>
          <a:p xmlns:a="http://schemas.openxmlformats.org/drawingml/2006/main">
            <a:pPr>
              <a:buNone/>
              <a:defRPr sz="1875" b="0">
                <a:solidFill>
                  <a:srgbClr val="8A8F95"/>
                </a:solidFill>
                <a:latin typeface="Arial"/>
                <a:ea typeface="Arial"/>
                <a:cs typeface="Arial"/>
              </a:defRPr>
            </a:pPr>
            <a:r>
              <a:rPr sz="1875" b="0">
                <a:solidFill>
                  <a:srgbClr val="8A8F95"/>
                </a:solidFill>
                <a:latin typeface="Arial"/>
                <a:ea typeface="Arial"/>
                <a:cs typeface="Arial"/>
              </a:rPr>
              <a:t>Measured with Gemma 4 / AMD Token Factory (Radeon Cloud GPUs)</a:t>
            </a:r>
          </a:p>
        </p:txBody>
      </p:sp>
      <p:sp>
        <p:nvSpPr>
          <p:cNvPr id="10" name="IoU limitation">
            <a:extLst xmlns:a="http://schemas.openxmlformats.org/drawingml/2006/main">
              <a:ext uri="{FF2B5EF4-FFF2-40B4-BE49-F238E27FC236}">
                <a16:creationId xmlns:a16="http://schemas.microsoft.com/office/drawing/2014/main" id="{1598E81F-9089-4C95-B9AF-924182F56604}"/>
              </a:ext>
            </a:extLst>
          </p:cNvPr>
          <p:cNvSpPr>
            <a:spLocks xmlns:a="http://schemas.openxmlformats.org/drawingml/2006/main" noGrp="1"/>
          </p:cNvSpPr>
          <p:nvPr/>
        </p:nvSpPr>
        <p:spPr>
          <a:xfrm xmlns:a="http://schemas.openxmlformats.org/drawingml/2006/main">
            <a:off x="1333500" y="9220200"/>
            <a:ext cx="1562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9BDC2"/>
                </a:solidFill>
                <a:latin typeface="Arial"/>
                <a:ea typeface="Arial"/>
                <a:cs typeface="Arial"/>
              </a:defRPr>
            </a:defPPr>
          </a:lstStyle>
          <a:p xmlns:a="http://schemas.openxmlformats.org/drawingml/2006/main">
            <a:pPr>
              <a:buNone/>
              <a:defRPr sz="1800" b="0">
                <a:solidFill>
                  <a:srgbClr val="B9BDC2"/>
                </a:solidFill>
                <a:latin typeface="Arial"/>
                <a:ea typeface="Arial"/>
                <a:cs typeface="Arial"/>
              </a:defRPr>
            </a:pPr>
            <a:r>
              <a:rPr sz="1800" b="0">
                <a:solidFill>
                  <a:srgbClr val="B9BDC2"/>
                </a:solidFill>
                <a:latin typeface="Arial"/>
                <a:ea typeface="Arial"/>
                <a:cs typeface="Arial"/>
              </a:rPr>
              <a:t>Generic IoU: recalculated from 2 detected boxes. Targeted: 14 detected boxes.</a:t>
            </a:r>
          </a:p>
          <a:p xmlns:a="http://schemas.openxmlformats.org/drawingml/2006/main">
            <a:pPr>
              <a:buNone/>
              <a:defRPr sz="1800" b="0">
                <a:solidFill>
                  <a:srgbClr val="B9BDC2"/>
                </a:solidFill>
                <a:latin typeface="Arial"/>
                <a:ea typeface="Arial"/>
                <a:cs typeface="Arial"/>
              </a:defRPr>
            </a:pPr>
            <a:r>
              <a:rPr sz="1800" b="0">
                <a:solidFill>
                  <a:srgbClr val="B9BDC2"/>
                </a:solidFill>
                <a:latin typeface="Arial"/>
                <a:ea typeface="Arial"/>
                <a:cs typeface="Arial"/>
              </a:rPr>
              <a:t>*Positive-overlap detections only. Misses and zero-overlap boxes excluded. Small sample, not factory validation.</a:t>
            </a:r>
          </a:p>
        </p:txBody>
      </p:sp>
    </p:spTree>
    <p:extLst>
      <p:ext uri="{BB962C8B-B14F-4D97-AF65-F5344CB8AC3E}">
        <p14:creationId xmlns:p14="http://schemas.microsoft.com/office/powerpoint/2010/main" val="360626575"/>
      </p:ext>
    </p:extLst>
  </p:cSld>
</p:sld>
</file>

<file path=ppt/slides/slide12.xml><?xml version="1.0" encoding="utf-8"?>
<p:sld xmlns:p="http://schemas.openxmlformats.org/presentationml/2006/main">
  <p:cSld>
    <p:bg>
      <p:bgPr>
        <a:solidFill xmlns:a="http://schemas.openxmlformats.org/drawingml/2006/main">
          <a:srgbClr val="05060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97040CB-AA5F-4622-B593-D719A04F46F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rotWithShape="1">
            <a:gsLst>
              <a:gs pos="0">
                <a:srgbClr val="FFFFFF">
                  <a:alpha val="3000"/>
                </a:srgbClr>
              </a:gs>
              <a:gs pos="100000">
                <a:srgbClr val="FFFFFF">
                  <a:alpha val="0"/>
                </a:srgbClr>
              </a:gs>
            </a:gsLst>
            <a:lin ang="5400000" scaled="0"/>
          </a:gradFill>
        </p:spPr>
      </p:sp>
      <p:sp>
        <p:nvSpPr>
          <p:cNvPr id="3" name="Text 1">
            <a:extLst xmlns:a="http://schemas.openxmlformats.org/drawingml/2006/main">
              <a:ext uri="{FF2B5EF4-FFF2-40B4-BE49-F238E27FC236}">
                <a16:creationId xmlns:a16="http://schemas.microsoft.com/office/drawing/2014/main" id="{0ED73015-ECF4-46D9-A9CC-94B20C7D2012}"/>
              </a:ext>
            </a:extLst>
          </p:cNvPr>
          <p:cNvSpPr>
            <a:spLocks xmlns:a="http://schemas.openxmlformats.org/drawingml/2006/main" noGrp="1"/>
          </p:cNvSpPr>
          <p:nvPr/>
        </p:nvSpPr>
        <p:spPr>
          <a:xfrm xmlns:a="http://schemas.openxmlformats.org/drawingml/2006/main">
            <a:off x="4829715" y="952500"/>
            <a:ext cx="862857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ctr">
              <a:buNone/>
            </a:pPr>
            <a:r>
              <a:rPr sz="1800" spc="324">
                <a:solidFill>
                  <a:srgbClr val="8A8F95"/>
                </a:solidFill>
                <a:latin typeface="Courier New"/>
                <a:ea typeface="Courier New"/>
                <a:cs typeface="Courier New"/>
              </a:rPr>
              <a:t>LABLAB.AI · AMD DEVELOPER HACKATHON: ACT III</a:t>
            </a:r>
            <a:endParaRPr sz="1800"/>
          </a:p>
        </p:txBody>
      </p:sp>
      <p:pic>
        <p:nvPicPr>
          <p:cNvPr id="4" name="Image 0">
            <a:extLst xmlns:a="http://schemas.openxmlformats.org/drawingml/2006/main">
              <a:ext uri="{FF2B5EF4-FFF2-40B4-BE49-F238E27FC236}">
                <a16:creationId xmlns:a16="http://schemas.microsoft.com/office/drawing/2014/main" id="{1BE982FB-F262-4C83-B187-ECBAEA0C8CC4}"/>
              </a:ext>
            </a:extLst>
          </p:cNvPr>
          <p:cNvPicPr>
            <a:picLocks xmlns:a="http://schemas.openxmlformats.org/drawingml/2006/main" noChangeAspect="1"/>
          </p:cNvPicPr>
          <p:nvPr/>
        </p:nvPicPr>
        <p:blipFill>
          <a:blip xmlns:r="http://schemas.openxmlformats.org/officeDocument/2006/relationships" xmlns:a="http://schemas.openxmlformats.org/drawingml/2006/main" r:embed="R6a6a2484482f4b36">
            <a:extLst>
              <a:ext uri="{96DAC541-7B7A-43D3-8B79-37D633B846F1}">
                <asvg:svgBlip xmlns:asvg="http://schemas.microsoft.com/office/drawing/2016/SVG/main" r:embed="R318d6902bb7e4558"/>
              </a:ext>
            </a:extLst>
          </a:blip>
          <a:stretch xmlns:a="http://schemas.openxmlformats.org/drawingml/2006/main">
            <a:fillRect l="0" t="0" r="0" b="0"/>
          </a:stretch>
        </p:blipFill>
        <p:spPr>
          <a:xfrm xmlns:a="http://schemas.openxmlformats.org/drawingml/2006/main">
            <a:off x="8524875" y="3085941"/>
            <a:ext cx="1238250" cy="123825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01525B6-C930-45D3-A8BB-EC96D458AAB3}"/>
              </a:ext>
            </a:extLst>
          </p:cNvPr>
          <p:cNvSpPr>
            <a:spLocks xmlns:a="http://schemas.openxmlformats.org/drawingml/2006/main" noGrp="1"/>
          </p:cNvSpPr>
          <p:nvPr/>
        </p:nvSpPr>
        <p:spPr>
          <a:xfrm xmlns:a="http://schemas.openxmlformats.org/drawingml/2006/main">
            <a:off x="2276475" y="4857591"/>
            <a:ext cx="13735050" cy="125349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4489"/>
          </a:bodyPr>
          <a:lstStyle xmlns:a="http://schemas.openxmlformats.org/drawingml/2006/main"/>
          <a:p xmlns:a="http://schemas.openxmlformats.org/drawingml/2006/main">
            <a:pPr marL="0" indent="0" algn="ctr">
              <a:lnSpc>
                <a:spcPct val="126545"/>
              </a:lnSpc>
              <a:buNone/>
            </a:pPr>
            <a:r>
              <a:rPr sz="3300">
                <a:solidFill>
                  <a:srgbClr val="D4D7DA"/>
                </a:solidFill>
                <a:latin typeface="Arial"/>
                <a:ea typeface="Arial"/>
                <a:cs typeface="Arial"/>
              </a:rPr>
              <a:t>Check the packing box before the lid closes. Keep photo evidence for each visual attempt.</a:t>
            </a:r>
            <a:endParaRPr sz="3300"/>
          </a:p>
        </p:txBody>
      </p:sp>
      <p:sp>
        <p:nvSpPr>
          <p:cNvPr id="6" name="Text 3">
            <a:extLst xmlns:a="http://schemas.openxmlformats.org/drawingml/2006/main">
              <a:ext uri="{FF2B5EF4-FFF2-40B4-BE49-F238E27FC236}">
                <a16:creationId xmlns:a16="http://schemas.microsoft.com/office/drawing/2014/main" id="{B0DFAA8B-BECF-4520-80BB-9DDB03A83A4B}"/>
              </a:ext>
            </a:extLst>
          </p:cNvPr>
          <p:cNvSpPr>
            <a:spLocks xmlns:a="http://schemas.openxmlformats.org/drawingml/2006/main" noGrp="1"/>
          </p:cNvSpPr>
          <p:nvPr/>
        </p:nvSpPr>
        <p:spPr>
          <a:xfrm xmlns:a="http://schemas.openxmlformats.org/drawingml/2006/main">
            <a:off x="6319821" y="6606381"/>
            <a:ext cx="5843302" cy="72786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ctr">
              <a:buNone/>
            </a:pPr>
            <a:r>
              <a:rPr sz="4800" spc="1536">
                <a:solidFill>
                  <a:srgbClr val="F2F2F0"/>
                </a:solidFill>
                <a:latin typeface="Arial"/>
                <a:ea typeface="Arial"/>
                <a:cs typeface="Arial"/>
              </a:rPr>
              <a:t>THANK YOU</a:t>
            </a:r>
            <a:endParaRPr sz="4800"/>
          </a:p>
        </p:txBody>
      </p:sp>
      <p:sp>
        <p:nvSpPr>
          <p:cNvPr id="7" name="Text 4">
            <a:extLst xmlns:a="http://schemas.openxmlformats.org/drawingml/2006/main">
              <a:ext uri="{FF2B5EF4-FFF2-40B4-BE49-F238E27FC236}">
                <a16:creationId xmlns:a16="http://schemas.microsoft.com/office/drawing/2014/main" id="{A1A30276-A5D7-42B7-B4C2-5EAD4F853287}"/>
              </a:ext>
            </a:extLst>
          </p:cNvPr>
          <p:cNvSpPr>
            <a:spLocks xmlns:a="http://schemas.openxmlformats.org/drawingml/2006/main" noGrp="1"/>
          </p:cNvSpPr>
          <p:nvPr/>
        </p:nvSpPr>
        <p:spPr>
          <a:xfrm xmlns:a="http://schemas.openxmlformats.org/drawingml/2006/main">
            <a:off x="3810000" y="9167813"/>
            <a:ext cx="1066800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defPPr algn="ctr"/>
          </a:lstStyle>
          <a:p xmlns:a="http://schemas.openxmlformats.org/drawingml/2006/main">
            <a:pPr marL="0" indent="0" algn="ctr">
              <a:buNone/>
            </a:pPr>
            <a:r>
              <a:rPr sz="1800" spc="252">
                <a:solidFill>
                  <a:srgbClr val="8A8F95"/>
                </a:solidFill>
                <a:latin typeface="Courier New"/>
                <a:ea typeface="Courier New"/>
                <a:cs typeface="Courier New"/>
              </a:rPr>
              <a:t>github.com/acagliol/amdactiii</a:t>
            </a:r>
            <a:endParaRPr sz="1800"/>
          </a:p>
        </p:txBody>
      </p:sp>
    </p:spTree>
    <p:extLst>
      <p:ext uri="{BB962C8B-B14F-4D97-AF65-F5344CB8AC3E}">
        <p14:creationId xmlns:p14="http://schemas.microsoft.com/office/powerpoint/2010/main" val="76425003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2026-10-16T17:53:32.2140000Z</dcterms:created>
  <dcterms:modified xsi:type="dcterms:W3CDTF">2026-10-16T17:53:32.2140000Z</dcterms:modified>
</coreProperties>
</file>