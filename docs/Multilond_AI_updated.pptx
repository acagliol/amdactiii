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213e142a0046e6" /><Relationship Type="http://schemas.openxmlformats.org/officeDocument/2006/relationships/extended-properties" Target="/docProps/app.xml" Id="R5f5331d966474feb" /><Relationship Type="http://schemas.openxmlformats.org/officeDocument/2006/relationships/officeDocument" Target="/ppt/presentation.xml" Id="Rad6e4be3242d4b53" /></Relationships>
</file>

<file path=ppt/presentation.xml><?xml version="1.0" encoding="utf-8"?>
<p:presentation xmlns:p="http://schemas.openxmlformats.org/presentationml/2006/main">
  <p:sldMasterIdLst>
    <p:sldMasterId xmlns:r="http://schemas.openxmlformats.org/officeDocument/2006/relationships" id="2147483648" r:id="R71ef730b74114e1a"/>
  </p:sldMasterIdLst>
  <p:notesMasterIdLst>
    <p:notesMasterId xmlns:r="http://schemas.openxmlformats.org/officeDocument/2006/relationships" r:id="R56d3fc9d090f4fbd"/>
  </p:notesMasterIdLst>
  <p:sldIdLst>
    <p:sldId xmlns:r="http://schemas.openxmlformats.org/officeDocument/2006/relationships" id="256" r:id="R4516cf27107747e7"/>
    <p:sldId xmlns:r="http://schemas.openxmlformats.org/officeDocument/2006/relationships" id="257" r:id="R365e1d5e6356457d"/>
    <p:sldId xmlns:r="http://schemas.openxmlformats.org/officeDocument/2006/relationships" id="258" r:id="R50ab1a908aff4c93"/>
    <p:sldId xmlns:r="http://schemas.openxmlformats.org/officeDocument/2006/relationships" id="259" r:id="Rf76eec9def834689"/>
    <p:sldId xmlns:r="http://schemas.openxmlformats.org/officeDocument/2006/relationships" id="260" r:id="Rb319827024e64032"/>
    <p:sldId xmlns:r="http://schemas.openxmlformats.org/officeDocument/2006/relationships" id="261" r:id="R37c89e3dec52463d"/>
    <p:sldId xmlns:r="http://schemas.openxmlformats.org/officeDocument/2006/relationships" id="262" r:id="R568b906599244ed5"/>
    <p:sldId xmlns:r="http://schemas.openxmlformats.org/officeDocument/2006/relationships" id="263" r:id="R2b0212c3eb4d45fb"/>
    <p:sldId xmlns:r="http://schemas.openxmlformats.org/officeDocument/2006/relationships" id="264" r:id="R0d3d49c0a0c647a2"/>
    <p:sldId xmlns:r="http://schemas.openxmlformats.org/officeDocument/2006/relationships" id="265" r:id="R8ba03f18357c4513"/>
    <p:sldId xmlns:r="http://schemas.openxmlformats.org/officeDocument/2006/relationships" id="266" r:id="Re9355b6fe3c24e38"/>
    <p:sldId xmlns:r="http://schemas.openxmlformats.org/officeDocument/2006/relationships" id="267" r:id="R1a5cd1d3bdf5464c"/>
  </p:sldIdLst>
  <p:sldSz cx="18288000" cy="10287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f56b0f1747a436d" /><Relationship Type="http://schemas.openxmlformats.org/officeDocument/2006/relationships/slideMaster" Target="/ppt/slideMasters/slideMaster1.xml" Id="R71ef730b74114e1a" /><Relationship Type="http://schemas.openxmlformats.org/officeDocument/2006/relationships/notesMaster" Target="/ppt/notesMasters/notesMaster1.xml" Id="R56d3fc9d090f4fbd" /><Relationship Type="http://schemas.openxmlformats.org/officeDocument/2006/relationships/presProps" Target="/ppt/presProps.xml" Id="R60f8d4c0c8694d43" /><Relationship Type="http://schemas.openxmlformats.org/officeDocument/2006/relationships/viewProps" Target="/ppt/viewProps.xml" Id="Rfc7c289f96be4981" /><Relationship Type="http://schemas.openxmlformats.org/officeDocument/2006/relationships/tableStyles" Target="/ppt/tableStyles.xml" Id="Rc31c250c931c4ac5" /><Relationship Type="http://schemas.openxmlformats.org/officeDocument/2006/relationships/slide" Target="/ppt/slides/slide1.xml" Id="R4516cf27107747e7" /><Relationship Type="http://schemas.openxmlformats.org/officeDocument/2006/relationships/slide" Target="/ppt/slides/slide2.xml" Id="R365e1d5e6356457d" /><Relationship Type="http://schemas.openxmlformats.org/officeDocument/2006/relationships/slide" Target="/ppt/slides/slide3.xml" Id="R50ab1a908aff4c93" /><Relationship Type="http://schemas.openxmlformats.org/officeDocument/2006/relationships/slide" Target="/ppt/slides/slide4.xml" Id="Rf76eec9def834689" /><Relationship Type="http://schemas.openxmlformats.org/officeDocument/2006/relationships/slide" Target="/ppt/slides/slide5.xml" Id="Rb319827024e64032" /><Relationship Type="http://schemas.openxmlformats.org/officeDocument/2006/relationships/slide" Target="/ppt/slides/slide6.xml" Id="R37c89e3dec52463d" /><Relationship Type="http://schemas.openxmlformats.org/officeDocument/2006/relationships/slide" Target="/ppt/slides/slide7.xml" Id="R568b906599244ed5" /><Relationship Type="http://schemas.openxmlformats.org/officeDocument/2006/relationships/slide" Target="/ppt/slides/slide8.xml" Id="R2b0212c3eb4d45fb" /><Relationship Type="http://schemas.openxmlformats.org/officeDocument/2006/relationships/slide" Target="/ppt/slides/slide9.xml" Id="R0d3d49c0a0c647a2" /><Relationship Type="http://schemas.openxmlformats.org/officeDocument/2006/relationships/slide" Target="/ppt/slides/slide10.xml" Id="R8ba03f18357c4513" /><Relationship Type="http://schemas.openxmlformats.org/officeDocument/2006/relationships/slide" Target="/ppt/slides/slide11.xml" Id="Re9355b6fe3c24e38" /><Relationship Type="http://schemas.openxmlformats.org/officeDocument/2006/relationships/slide" Target="/ppt/slides/slide12.xml" Id="R1a5cd1d3bdf546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a3d780e5434f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5b4169a9004ab6" /><Relationship Type="http://schemas.openxmlformats.org/officeDocument/2006/relationships/notesMaster" Target="/ppt/notesMasters/notesMaster1.xml" Id="R4ba66f482c0443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247a287dba4355" /><Relationship Type="http://schemas.openxmlformats.org/officeDocument/2006/relationships/notesMaster" Target="/ppt/notesMasters/notesMaster1.xml" Id="R4253910c9a3841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2df4dd6723432b" /><Relationship Type="http://schemas.openxmlformats.org/officeDocument/2006/relationships/notesMaster" Target="/ppt/notesMasters/notesMaster1.xml" Id="R9075a494b49540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9c4214b4184dd9" /><Relationship Type="http://schemas.openxmlformats.org/officeDocument/2006/relationships/notesMaster" Target="/ppt/notesMasters/notesMaster1.xml" Id="Rc38d8649145049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792516f5e4a4843" /><Relationship Type="http://schemas.openxmlformats.org/officeDocument/2006/relationships/notesMaster" Target="/ppt/notesMasters/notesMaster1.xml" Id="R165835746a8447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157b61b17e4b9a" /><Relationship Type="http://schemas.openxmlformats.org/officeDocument/2006/relationships/notesMaster" Target="/ppt/notesMasters/notesMaster1.xml" Id="R358b43c1cbc24c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5bf033a7ee64cd8" /><Relationship Type="http://schemas.openxmlformats.org/officeDocument/2006/relationships/notesMaster" Target="/ppt/notesMasters/notesMaster1.xml" Id="R75b831cd5d2845d6"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b910fe26ce48ba" /><Relationship Type="http://schemas.openxmlformats.org/officeDocument/2006/relationships/notesMaster" Target="/ppt/notesMasters/notesMaster1.xml" Id="R86a0e826ff6047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97181b3a1441d6" /><Relationship Type="http://schemas.openxmlformats.org/officeDocument/2006/relationships/notesMaster" Target="/ppt/notesMasters/notesMaster1.xml" Id="Rbc4d85cc08754d0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3ec6143fdf419b" /><Relationship Type="http://schemas.openxmlformats.org/officeDocument/2006/relationships/notesMaster" Target="/ppt/notesMasters/notesMaster1.xml" Id="R3616a57c8ee541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b6bd2251dc44ec" /><Relationship Type="http://schemas.openxmlformats.org/officeDocument/2006/relationships/notesMaster" Target="/ppt/notesMasters/notesMaster1.xml" Id="R0b34738eece547a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33a1f5b12b24947" /><Relationship Type="http://schemas.openxmlformats.org/officeDocument/2006/relationships/notesMaster" Target="/ppt/notesMasters/notesMaster1.xml" Id="Ra79e18f0f5ef4d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0:00–0:12. Multilönd AI checks manual assembly and packing while the work is still visible. A missing accessory is easy to add when the box is open. After the lid closes, it becomes rework or a customer return.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0:12–0:15. The problem is the moment a later step hides earlier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0:15–0:27. Our main example is an accessory box. A worker leaves out a charger. Closing the lid hides the contents, and the customer receives an incomplete kit. This is an illustrative scenario, not a measured customer incident.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0:27–0:41. The 1-10-100 rule of thumb explains why timing matters. Fixing a mistake at the station is simpler than finding it at final test or after delivery. These multipliers illustrate the principle. We have not measured savings.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0:41–0:44. The camera checks the contents before the workflow reaches the closing step.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0:44–1:14. This is the product page, with an accessory-box illustration. In the live packing demo, the worker shows the contents to the camera. Fix it marks a problem area. Pass advances the workflow. Retake asks for a clearer view. The software keeps the lid step locked until required checks pass or a person provides an override reason. Physical interlocks are future work. Replace this illustrative product-page screenshot with real packing-station footage when the recording owner supplies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1:14–1:26. The worker captures a photo. OpenCV checks image quality locally. A checklist question describes what correct looks like. The model returns a verdict and, for a visible problem, a box. Fixed rules decide what happens next and save visual inspection attempts.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1:26–1:44. All reported model runs used AMD Token Factory on Radeon Cloud GPUs, with Gemma-4-31B-IT through an OpenAI-compatible API. Current cloud checks average about six seconds. In production, the same open model runs on the factory’s own AMD GPU. That deployment is planned, not demonstrated here.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1:44–2:02. A new product uses a new checklist. This screenshot shows the existing PC-build workflow in local demo mode. The image-quality gate requested a retake, and the panel step remains locked. Visual attempts save photo evidence by unit with a timestamp, check ID and checker result. Override reasons remain in the active session. Durable override records and manager reporting need further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2:02–2:05. We also compared generic and targeted questions on the same cable-photo set.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2:05–2:45. In the team’s reported rerun of the same 34 MVTec AD cable photos, the generic checklist caught two of 24 defects. It passed almost everything, so zero false alarms alone was misleading. Describing a correct cable raised the catch count to 14, seven times as many. Both runs had zero false alarms on ten clean photos. Targeted checks averaged 5.65 seconds. The reported mean box IoU was 0.62 for positive-overlap detections only. Ten defects still escaped. This small cable experiment does not establish packing-box or factory reliability. The targeted run caught 3/3 cable swaps and 3/3 missing cables in this set; these are subtype catch counts, not precision. The earlier 91.3% IoU and 97.1% mask coverage were from one photo, not sample averages. Sources: team rerun report supplied by the user; https://github.com/acagliol/amdactiii/commit/ad0c66e88bdd35f602c00ffaa5f11fc87b0c9439 ; evaluator averaging behavior in eval/evaluate.py. Raw predictions were not supplied, and this update is not an independent rerun.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2:45–3:00. Multilönd AI helps catch mistakes while the work is still visible. Next we want broader validation and deployment on a factory AMD GPU. The packing box is our main demo. PC build shows how the same engine uses another checklist.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5c91824516459c"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243d9342384983" /><Relationship Type="http://schemas.openxmlformats.org/officeDocument/2006/relationships/slideLayout" Target="/ppt/slideLayouts/slideLayout1.xml" Id="Rba1f0e50a8e94c37"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1f0e50a8e94c37"/>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3bf3cee2134651" /><Relationship Type="http://schemas.openxmlformats.org/officeDocument/2006/relationships/image" Target="/ppt/media/image.png" Id="Rc832de6815274b9b" /><Relationship Type="http://schemas.openxmlformats.org/officeDocument/2006/relationships/image" Target="/ppt/media/image.svg" Id="R7f4917b8a2b945fe" /><Relationship Type="http://schemas.openxmlformats.org/officeDocument/2006/relationships/notesSlide" Target="/ppt/notesSlides/notesSlide1.xml" Id="Rde73a55a581f4a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8b77a8932ea4288" /><Relationship Type="http://schemas.openxmlformats.org/officeDocument/2006/relationships/notesSlide" Target="/ppt/notesSlides/notesSlide2.xml" Id="R1df2b3cf6d3046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4207f434f64adf" /><Relationship Type="http://schemas.openxmlformats.org/officeDocument/2006/relationships/notesSlide" Target="/ppt/notesSlides/notesSlide3.xml" Id="Reb62e400698547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9d57d1b23e141b6" /><Relationship Type="http://schemas.openxmlformats.org/officeDocument/2006/relationships/notesSlide" Target="/ppt/notesSlides/notesSlide4.xml" Id="R71504d8c6d864e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789fa6238664eb9" /><Relationship Type="http://schemas.openxmlformats.org/officeDocument/2006/relationships/notesSlide" Target="/ppt/notesSlides/notesSlide5.xml" Id="R41190c8067a94e9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726b950e779437d" /><Relationship Type="http://schemas.openxmlformats.org/officeDocument/2006/relationships/image" Target="/ppt/media/image.jpeg" Id="R63c3d20b2c2d423c" /><Relationship Type="http://schemas.openxmlformats.org/officeDocument/2006/relationships/notesSlide" Target="/ppt/notesSlides/notesSlide6.xml" Id="Rababd20a17af43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9910cbf323f437f" /><Relationship Type="http://schemas.openxmlformats.org/officeDocument/2006/relationships/notesSlide" Target="/ppt/notesSlides/notesSlide7.xml" Id="R919f6bfea4fb45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16d309496e84ebe" /><Relationship Type="http://schemas.openxmlformats.org/officeDocument/2006/relationships/notesSlide" Target="/ppt/notesSlides/notesSlide8.xml" Id="R03ff53b24f8d4b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d6a845957844eb5" /><Relationship Type="http://schemas.openxmlformats.org/officeDocument/2006/relationships/image" Target="/ppt/media/image2.jpeg" Id="R6557e62de97a43ab" /><Relationship Type="http://schemas.openxmlformats.org/officeDocument/2006/relationships/notesSlide" Target="/ppt/notesSlides/notesSlide9.xml" Id="R0ed12040f1ae4b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76da6669f734eaf" /><Relationship Type="http://schemas.openxmlformats.org/officeDocument/2006/relationships/notesSlide" Target="/ppt/notesSlides/notesSlide10.xml" Id="Ra2bd264ba9d442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56f31c1f4d14780" /><Relationship Type="http://schemas.openxmlformats.org/officeDocument/2006/relationships/notesSlide" Target="/ppt/notesSlides/notesSlide11.xml" Id="R0426933577214d5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c37b9abc07e4253" /><Relationship Type="http://schemas.openxmlformats.org/officeDocument/2006/relationships/image" Target="/ppt/media/image2.png" Id="Rc31cfc9bb74d4a04" /><Relationship Type="http://schemas.openxmlformats.org/officeDocument/2006/relationships/image" Target="/ppt/media/image2.svg" Id="R5f7be81b8e4f4606" /><Relationship Type="http://schemas.openxmlformats.org/officeDocument/2006/relationships/notesSlide" Target="/ppt/notesSlides/notesSlide12.xml" Id="R66a3bd0a09804879" /></Relationships>
</file>

<file path=ppt/slides/slide1.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AFE9633-BAFC-46DC-8B51-F8BBF0F1EC4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E33E518B-C058-4535-A8C6-196115991EBC}"/>
              </a:ext>
            </a:extLst>
          </p:cNvPr>
          <p:cNvSpPr>
            <a:spLocks xmlns:a="http://schemas.openxmlformats.org/drawingml/2006/main" noGrp="1"/>
          </p:cNvSpPr>
          <p:nvPr/>
        </p:nvSpPr>
        <p:spPr>
          <a:xfrm xmlns:a="http://schemas.openxmlformats.org/drawingml/2006/main">
            <a:off x="1333500" y="952500"/>
            <a:ext cx="862857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LABLAB.AI · AMD DEVELOPER HACKATHON: ACT III</a:t>
            </a:r>
            <a:endParaRPr sz="1800"/>
          </a:p>
        </p:txBody>
      </p:sp>
      <p:sp>
        <p:nvSpPr>
          <p:cNvPr id="4" name="Text 2">
            <a:extLst xmlns:a="http://schemas.openxmlformats.org/drawingml/2006/main">
              <a:ext uri="{FF2B5EF4-FFF2-40B4-BE49-F238E27FC236}">
                <a16:creationId xmlns:a16="http://schemas.microsoft.com/office/drawing/2014/main" id="{2BC03684-33AB-44FB-B546-265EE9126D08}"/>
              </a:ext>
            </a:extLst>
          </p:cNvPr>
          <p:cNvSpPr>
            <a:spLocks xmlns:a="http://schemas.openxmlformats.org/drawingml/2006/main" noGrp="1"/>
          </p:cNvSpPr>
          <p:nvPr/>
        </p:nvSpPr>
        <p:spPr>
          <a:xfrm xmlns:a="http://schemas.openxmlformats.org/drawingml/2006/main">
            <a:off x="13388975" y="952500"/>
            <a:ext cx="392207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INTELLIGENT INDUSTRY</a:t>
            </a:r>
            <a:endParaRPr sz="1800"/>
          </a:p>
        </p:txBody>
      </p:sp>
      <p:pic>
        <p:nvPicPr>
          <p:cNvPr id="5" name="Image 0">
            <a:extLst xmlns:a="http://schemas.openxmlformats.org/drawingml/2006/main">
              <a:ext uri="{FF2B5EF4-FFF2-40B4-BE49-F238E27FC236}">
                <a16:creationId xmlns:a16="http://schemas.microsoft.com/office/drawing/2014/main" id="{B8CE0F9E-7CC4-4384-87A5-4B6A1F5DBCED}"/>
              </a:ext>
            </a:extLst>
          </p:cNvPr>
          <p:cNvPicPr>
            <a:picLocks xmlns:a="http://schemas.openxmlformats.org/drawingml/2006/main" noChangeAspect="1"/>
          </p:cNvPicPr>
          <p:nvPr/>
        </p:nvPicPr>
        <p:blipFill>
          <a:blip xmlns:r="http://schemas.openxmlformats.org/officeDocument/2006/relationships" xmlns:a="http://schemas.openxmlformats.org/drawingml/2006/main" r:embed="Rc832de6815274b9b">
            <a:extLst>
              <a:ext uri="{96DAC541-7B7A-43D3-8B79-37D633B846F1}">
                <asvg:svgBlip xmlns:asvg="http://schemas.microsoft.com/office/drawing/2016/SVG/main" r:embed="R7f4917b8a2b945fe"/>
              </a:ext>
            </a:extLst>
          </a:blip>
          <a:stretch xmlns:a="http://schemas.openxmlformats.org/drawingml/2006/main">
            <a:fillRect l="0" t="0" r="0" b="0"/>
          </a:stretch>
        </p:blipFill>
        <p:spPr>
          <a:xfrm xmlns:a="http://schemas.openxmlformats.org/drawingml/2006/main">
            <a:off x="1333500" y="2754630"/>
            <a:ext cx="1428750" cy="142875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0699A016-B8A6-4541-81A9-DFBF7A07E701}"/>
              </a:ext>
            </a:extLst>
          </p:cNvPr>
          <p:cNvSpPr>
            <a:spLocks xmlns:a="http://schemas.openxmlformats.org/drawingml/2006/main" noGrp="1"/>
          </p:cNvSpPr>
          <p:nvPr/>
        </p:nvSpPr>
        <p:spPr>
          <a:xfrm xmlns:a="http://schemas.openxmlformats.org/drawingml/2006/main">
            <a:off x="1333500" y="4716780"/>
            <a:ext cx="16954500" cy="11811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9054"/>
              </a:lnSpc>
              <a:buNone/>
            </a:pPr>
            <a:r>
              <a:rPr sz="9000" spc="2880">
                <a:solidFill>
                  <a:srgbClr val="F2F2F0"/>
                </a:solidFill>
                <a:latin typeface="Arial"/>
                <a:ea typeface="Arial"/>
                <a:cs typeface="Arial"/>
              </a:rPr>
              <a:t>MULTILÖND AI</a:t>
            </a:r>
            <a:endParaRPr sz="9000"/>
          </a:p>
        </p:txBody>
      </p:sp>
      <p:sp>
        <p:nvSpPr>
          <p:cNvPr id="7" name="Text 4">
            <a:extLst xmlns:a="http://schemas.openxmlformats.org/drawingml/2006/main">
              <a:ext uri="{FF2B5EF4-FFF2-40B4-BE49-F238E27FC236}">
                <a16:creationId xmlns:a16="http://schemas.microsoft.com/office/drawing/2014/main" id="{834DF68B-A60F-4E3C-A6B9-745B917DD723}"/>
              </a:ext>
            </a:extLst>
          </p:cNvPr>
          <p:cNvSpPr>
            <a:spLocks xmlns:a="http://schemas.openxmlformats.org/drawingml/2006/main" noGrp="1"/>
          </p:cNvSpPr>
          <p:nvPr/>
        </p:nvSpPr>
        <p:spPr>
          <a:xfrm xmlns:a="http://schemas.openxmlformats.org/drawingml/2006/main">
            <a:off x="1333500" y="6393180"/>
            <a:ext cx="10791825" cy="127254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17818"/>
              </a:lnSpc>
              <a:buNone/>
            </a:pPr>
            <a:r>
              <a:rPr sz="3600">
                <a:solidFill>
                  <a:srgbClr val="B9BDC2"/>
                </a:solidFill>
                <a:latin typeface="Arial"/>
                <a:ea typeface="Arial"/>
                <a:cs typeface="Arial"/>
              </a:rPr>
              <a:t>Catch mistakes before the next step covers them.</a:t>
            </a:r>
            <a:endParaRPr sz="3600"/>
          </a:p>
        </p:txBody>
      </p:sp>
      <p:sp>
        <p:nvSpPr>
          <p:cNvPr id="8" name="Text 5">
            <a:extLst xmlns:a="http://schemas.openxmlformats.org/drawingml/2006/main">
              <a:ext uri="{FF2B5EF4-FFF2-40B4-BE49-F238E27FC236}">
                <a16:creationId xmlns:a16="http://schemas.microsoft.com/office/drawing/2014/main" id="{4993D6B1-BABD-443A-B667-AFEF1BD85965}"/>
              </a:ext>
            </a:extLst>
          </p:cNvPr>
          <p:cNvSpPr>
            <a:spLocks xmlns:a="http://schemas.openxmlformats.org/drawingml/2006/main" noGrp="1"/>
          </p:cNvSpPr>
          <p:nvPr/>
        </p:nvSpPr>
        <p:spPr>
          <a:xfrm xmlns:a="http://schemas.openxmlformats.org/drawingml/2006/main">
            <a:off x="1333500" y="9167813"/>
            <a:ext cx="619125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Autofit/>
          </a:bodyPr>
          <a:lstStyle xmlns:a="http://schemas.openxmlformats.org/drawingml/2006/main">
            <a:defPPr>
              <a:defRPr sz="1800"/>
            </a:defPPr>
          </a:lstStyle>
          <a:p xmlns:a="http://schemas.openxmlformats.org/drawingml/2006/main">
            <a:pPr marL="0" indent="0" algn="l">
              <a:buNone/>
            </a:pPr>
            <a:r>
              <a:rPr sz="1800" spc="252">
                <a:solidFill>
                  <a:srgbClr val="8A8F95"/>
                </a:solidFill>
                <a:latin typeface="Courier New"/>
                <a:ea typeface="Courier New"/>
                <a:cs typeface="Courier New"/>
              </a:rPr>
              <a:t>TEAM MULTILÖND AI</a:t>
            </a:r>
            <a:endParaRPr sz="1800"/>
          </a:p>
        </p:txBody>
      </p:sp>
      <p:sp>
        <p:nvSpPr>
          <p:cNvPr id="9" name="Text 6">
            <a:extLst xmlns:a="http://schemas.openxmlformats.org/drawingml/2006/main">
              <a:ext uri="{FF2B5EF4-FFF2-40B4-BE49-F238E27FC236}">
                <a16:creationId xmlns:a16="http://schemas.microsoft.com/office/drawing/2014/main" id="{55511E6A-6517-4E0A-B518-39E6942CD999}"/>
              </a:ext>
            </a:extLst>
          </p:cNvPr>
          <p:cNvSpPr>
            <a:spLocks xmlns:a="http://schemas.openxmlformats.org/drawingml/2006/main" noGrp="1"/>
          </p:cNvSpPr>
          <p:nvPr/>
        </p:nvSpPr>
        <p:spPr>
          <a:xfrm xmlns:a="http://schemas.openxmlformats.org/drawingml/2006/main">
            <a:off x="15600680" y="9167813"/>
            <a:ext cx="1489202"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OCT 2026</a:t>
            </a:r>
            <a:endParaRPr sz="1800"/>
          </a:p>
        </p:txBody>
      </p:sp>
    </p:spTree>
    <p:extLst>
      <p:ext uri="{BB962C8B-B14F-4D97-AF65-F5344CB8AC3E}">
        <p14:creationId xmlns:p14="http://schemas.microsoft.com/office/powerpoint/2010/main" val="427214943"/>
      </p:ext>
    </p:extLst>
  </p:cSld>
</p:sld>
</file>

<file path=ppt/slides/slide2.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BE302A5-16B3-4D76-A892-1047A9775532}"/>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57984FAA-64DF-4B6A-AF4B-83C6EBDAE440}"/>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01 / 03</a:t>
            </a:r>
            <a:endParaRPr sz="1800"/>
          </a:p>
        </p:txBody>
      </p:sp>
      <p:sp>
        <p:nvSpPr>
          <p:cNvPr id="4" name="Text 2">
            <a:extLst xmlns:a="http://schemas.openxmlformats.org/drawingml/2006/main">
              <a:ext uri="{FF2B5EF4-FFF2-40B4-BE49-F238E27FC236}">
                <a16:creationId xmlns:a16="http://schemas.microsoft.com/office/drawing/2014/main" id="{7079CBDD-2A6B-47A3-A6ED-FBF531FB070F}"/>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01</a:t>
            </a:r>
            <a:endParaRPr sz="2400"/>
          </a:p>
        </p:txBody>
      </p:sp>
      <p:sp>
        <p:nvSpPr>
          <p:cNvPr id="5" name="Text 3">
            <a:extLst xmlns:a="http://schemas.openxmlformats.org/drawingml/2006/main">
              <a:ext uri="{FF2B5EF4-FFF2-40B4-BE49-F238E27FC236}">
                <a16:creationId xmlns:a16="http://schemas.microsoft.com/office/drawing/2014/main" id="{479E958C-D86F-4ACC-A71F-8451CA43BE0B}"/>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THE PROBLEM</a:t>
            </a:r>
            <a:endParaRPr sz="10500"/>
          </a:p>
        </p:txBody>
      </p:sp>
      <p:sp>
        <p:nvSpPr>
          <p:cNvPr id="6" name="Shape 4">
            <a:extLst xmlns:a="http://schemas.openxmlformats.org/drawingml/2006/main">
              <a:ext uri="{FF2B5EF4-FFF2-40B4-BE49-F238E27FC236}">
                <a16:creationId xmlns:a16="http://schemas.microsoft.com/office/drawing/2014/main" id="{E655DBDB-B6F0-4E1E-8AEC-0C20815DAA60}"/>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2094874508"/>
      </p:ext>
    </p:extLst>
  </p:cSld>
</p:sld>
</file>

<file path=ppt/slides/slide3.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8D3B553-D3A1-4DA3-BE06-647270568D8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5D20A889-8CC0-45A4-9D60-8231F746946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680B90FC-D083-4B94-A369-CC00F283C7BB}"/>
              </a:ext>
            </a:extLst>
          </p:cNvPr>
          <p:cNvSpPr>
            <a:spLocks xmlns:a="http://schemas.openxmlformats.org/drawingml/2006/main" noGrp="1"/>
          </p:cNvSpPr>
          <p:nvPr/>
        </p:nvSpPr>
        <p:spPr>
          <a:xfrm xmlns:a="http://schemas.openxmlformats.org/drawingml/2006/main">
            <a:off x="14993462" y="952500"/>
            <a:ext cx="2157143"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PROBLEM</a:t>
            </a:r>
            <a:endParaRPr sz="1800"/>
          </a:p>
        </p:txBody>
      </p:sp>
      <p:sp>
        <p:nvSpPr>
          <p:cNvPr id="5" name="Text 3">
            <a:extLst xmlns:a="http://schemas.openxmlformats.org/drawingml/2006/main">
              <a:ext uri="{FF2B5EF4-FFF2-40B4-BE49-F238E27FC236}">
                <a16:creationId xmlns:a16="http://schemas.microsoft.com/office/drawing/2014/main" id="{EDA24CF7-840B-446A-AFAF-5A08DE1DC3F0}"/>
              </a:ext>
            </a:extLst>
          </p:cNvPr>
          <p:cNvSpPr>
            <a:spLocks xmlns:a="http://schemas.openxmlformats.org/drawingml/2006/main" noGrp="1"/>
          </p:cNvSpPr>
          <p:nvPr/>
        </p:nvSpPr>
        <p:spPr>
          <a:xfrm xmlns:a="http://schemas.openxmlformats.org/drawingml/2006/main">
            <a:off x="1333500" y="1976438"/>
            <a:ext cx="14716125" cy="150114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5129"/>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A missing accessory disappears when the lid closes.</a:t>
            </a:r>
            <a:endParaRPr sz="4800"/>
          </a:p>
        </p:txBody>
      </p:sp>
      <p:sp>
        <p:nvSpPr>
          <p:cNvPr id="6" name="Shape 4">
            <a:extLst xmlns:a="http://schemas.openxmlformats.org/drawingml/2006/main">
              <a:ext uri="{FF2B5EF4-FFF2-40B4-BE49-F238E27FC236}">
                <a16:creationId xmlns:a16="http://schemas.microsoft.com/office/drawing/2014/main" id="{0C4AB698-57A7-4557-9828-3714C03FF4A3}"/>
              </a:ext>
            </a:extLst>
          </p:cNvPr>
          <p:cNvSpPr>
            <a:spLocks xmlns:a="http://schemas.openxmlformats.org/drawingml/2006/main" noGrp="1"/>
          </p:cNvSpPr>
          <p:nvPr/>
        </p:nvSpPr>
        <p:spPr>
          <a:xfrm xmlns:a="http://schemas.openxmlformats.org/drawingml/2006/main">
            <a:off x="1333500" y="7256780"/>
            <a:ext cx="4826000" cy="17462"/>
          </a:xfrm>
          <a:prstGeom xmlns:a="http://schemas.openxmlformats.org/drawingml/2006/main" prst="rect">
            <a:avLst/>
          </a:prstGeom>
          <a:solidFill xmlns:a="http://schemas.openxmlformats.org/drawingml/2006/main">
            <a:srgbClr val="F2F2F0"/>
          </a:solidFill>
        </p:spPr>
      </p:sp>
      <p:sp>
        <p:nvSpPr>
          <p:cNvPr id="7" name="Text 5">
            <a:extLst xmlns:a="http://schemas.openxmlformats.org/drawingml/2006/main">
              <a:ext uri="{FF2B5EF4-FFF2-40B4-BE49-F238E27FC236}">
                <a16:creationId xmlns:a16="http://schemas.microsoft.com/office/drawing/2014/main" id="{0EAF8F99-E483-42C7-A5F4-B7276937888C}"/>
              </a:ext>
            </a:extLst>
          </p:cNvPr>
          <p:cNvSpPr>
            <a:spLocks xmlns:a="http://schemas.openxmlformats.org/drawingml/2006/main" noGrp="1"/>
          </p:cNvSpPr>
          <p:nvPr/>
        </p:nvSpPr>
        <p:spPr>
          <a:xfrm xmlns:a="http://schemas.openxmlformats.org/drawingml/2006/main">
            <a:off x="13335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01 · STEP</a:t>
            </a:r>
            <a:endParaRPr sz="1800"/>
          </a:p>
        </p:txBody>
      </p:sp>
      <p:sp>
        <p:nvSpPr>
          <p:cNvPr id="8" name="Text 6">
            <a:extLst xmlns:a="http://schemas.openxmlformats.org/drawingml/2006/main">
              <a:ext uri="{FF2B5EF4-FFF2-40B4-BE49-F238E27FC236}">
                <a16:creationId xmlns:a16="http://schemas.microsoft.com/office/drawing/2014/main" id="{E88A31BA-CB80-46D3-BEAD-3964CED5703B}"/>
              </a:ext>
            </a:extLst>
          </p:cNvPr>
          <p:cNvSpPr>
            <a:spLocks xmlns:a="http://schemas.openxmlformats.org/drawingml/2006/main" noGrp="1"/>
          </p:cNvSpPr>
          <p:nvPr/>
        </p:nvSpPr>
        <p:spPr>
          <a:xfrm xmlns:a="http://schemas.openxmlformats.org/drawingml/2006/main">
            <a:off x="1333500" y="8069580"/>
            <a:ext cx="4970780" cy="139827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 worker packs the kit but leaves out the charger.</a:t>
            </a:r>
            <a:endParaRPr sz="2550"/>
          </a:p>
        </p:txBody>
      </p:sp>
      <p:sp>
        <p:nvSpPr>
          <p:cNvPr id="9" name="Shape 7">
            <a:extLst xmlns:a="http://schemas.openxmlformats.org/drawingml/2006/main">
              <a:ext uri="{FF2B5EF4-FFF2-40B4-BE49-F238E27FC236}">
                <a16:creationId xmlns:a16="http://schemas.microsoft.com/office/drawing/2014/main" id="{86AE0BE4-EED2-43E5-9E68-CE791498788A}"/>
              </a:ext>
            </a:extLst>
          </p:cNvPr>
          <p:cNvSpPr>
            <a:spLocks xmlns:a="http://schemas.openxmlformats.org/drawingml/2006/main" noGrp="1"/>
          </p:cNvSpPr>
          <p:nvPr/>
        </p:nvSpPr>
        <p:spPr>
          <a:xfrm xmlns:a="http://schemas.openxmlformats.org/drawingml/2006/main">
            <a:off x="6731000" y="7256780"/>
            <a:ext cx="4826000" cy="17462"/>
          </a:xfrm>
          <a:prstGeom xmlns:a="http://schemas.openxmlformats.org/drawingml/2006/main" prst="rect">
            <a:avLst/>
          </a:prstGeom>
          <a:solidFill xmlns:a="http://schemas.openxmlformats.org/drawingml/2006/main">
            <a:srgbClr val="F2F2F0"/>
          </a:solidFill>
        </p:spPr>
      </p:sp>
      <p:sp>
        <p:nvSpPr>
          <p:cNvPr id="10" name="Text 8">
            <a:extLst xmlns:a="http://schemas.openxmlformats.org/drawingml/2006/main">
              <a:ext uri="{FF2B5EF4-FFF2-40B4-BE49-F238E27FC236}">
                <a16:creationId xmlns:a16="http://schemas.microsoft.com/office/drawing/2014/main" id="{A2B27DD3-CD2A-485C-8E97-C6A78FBA755F}"/>
              </a:ext>
            </a:extLst>
          </p:cNvPr>
          <p:cNvSpPr>
            <a:spLocks xmlns:a="http://schemas.openxmlformats.org/drawingml/2006/main" noGrp="1"/>
          </p:cNvSpPr>
          <p:nvPr/>
        </p:nvSpPr>
        <p:spPr>
          <a:xfrm xmlns:a="http://schemas.openxmlformats.org/drawingml/2006/main">
            <a:off x="67310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02 · HIDDEN</a:t>
            </a:r>
            <a:endParaRPr sz="1800"/>
          </a:p>
        </p:txBody>
      </p:sp>
      <p:sp>
        <p:nvSpPr>
          <p:cNvPr id="11" name="Text 9">
            <a:extLst xmlns:a="http://schemas.openxmlformats.org/drawingml/2006/main">
              <a:ext uri="{FF2B5EF4-FFF2-40B4-BE49-F238E27FC236}">
                <a16:creationId xmlns:a16="http://schemas.microsoft.com/office/drawing/2014/main" id="{11556A2E-0BDE-4220-A0D3-EFCA252FA5CB}"/>
              </a:ext>
            </a:extLst>
          </p:cNvPr>
          <p:cNvSpPr>
            <a:spLocks xmlns:a="http://schemas.openxmlformats.org/drawingml/2006/main" noGrp="1"/>
          </p:cNvSpPr>
          <p:nvPr/>
        </p:nvSpPr>
        <p:spPr>
          <a:xfrm xmlns:a="http://schemas.openxmlformats.org/drawingml/2006/main">
            <a:off x="6731000" y="8069580"/>
            <a:ext cx="4970780" cy="139827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The next step closes the box and hides its contents.</a:t>
            </a:r>
            <a:endParaRPr sz="2550"/>
          </a:p>
        </p:txBody>
      </p:sp>
      <p:sp>
        <p:nvSpPr>
          <p:cNvPr id="12" name="Shape 10">
            <a:extLst xmlns:a="http://schemas.openxmlformats.org/drawingml/2006/main">
              <a:ext uri="{FF2B5EF4-FFF2-40B4-BE49-F238E27FC236}">
                <a16:creationId xmlns:a16="http://schemas.microsoft.com/office/drawing/2014/main" id="{BF71D0A1-7D28-4FB7-8E0E-5F5C83AC5201}"/>
              </a:ext>
            </a:extLst>
          </p:cNvPr>
          <p:cNvSpPr>
            <a:spLocks xmlns:a="http://schemas.openxmlformats.org/drawingml/2006/main" noGrp="1"/>
          </p:cNvSpPr>
          <p:nvPr/>
        </p:nvSpPr>
        <p:spPr>
          <a:xfrm xmlns:a="http://schemas.openxmlformats.org/drawingml/2006/main">
            <a:off x="12128500" y="7256780"/>
            <a:ext cx="4826000" cy="17462"/>
          </a:xfrm>
          <a:prstGeom xmlns:a="http://schemas.openxmlformats.org/drawingml/2006/main" prst="rect">
            <a:avLst/>
          </a:prstGeom>
          <a:solidFill xmlns:a="http://schemas.openxmlformats.org/drawingml/2006/main">
            <a:srgbClr val="E8463B"/>
          </a:solidFill>
        </p:spPr>
      </p:sp>
      <p:sp>
        <p:nvSpPr>
          <p:cNvPr id="13" name="Text 11">
            <a:extLst xmlns:a="http://schemas.openxmlformats.org/drawingml/2006/main">
              <a:ext uri="{FF2B5EF4-FFF2-40B4-BE49-F238E27FC236}">
                <a16:creationId xmlns:a16="http://schemas.microsoft.com/office/drawing/2014/main" id="{F42BA465-5D9A-404A-9DB7-A89AEF2534B5}"/>
              </a:ext>
            </a:extLst>
          </p:cNvPr>
          <p:cNvSpPr>
            <a:spLocks xmlns:a="http://schemas.openxmlformats.org/drawingml/2006/main" noGrp="1"/>
          </p:cNvSpPr>
          <p:nvPr/>
        </p:nvSpPr>
        <p:spPr>
          <a:xfrm xmlns:a="http://schemas.openxmlformats.org/drawingml/2006/main">
            <a:off x="121285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E8463B"/>
                </a:solidFill>
                <a:latin typeface="Courier New"/>
                <a:ea typeface="Courier New"/>
                <a:cs typeface="Courier New"/>
              </a:rPr>
              <a:t>03 · FAILURE</a:t>
            </a:r>
            <a:endParaRPr sz="1800"/>
          </a:p>
        </p:txBody>
      </p:sp>
      <p:sp>
        <p:nvSpPr>
          <p:cNvPr id="14" name="Text 12">
            <a:extLst xmlns:a="http://schemas.openxmlformats.org/drawingml/2006/main">
              <a:ext uri="{FF2B5EF4-FFF2-40B4-BE49-F238E27FC236}">
                <a16:creationId xmlns:a16="http://schemas.microsoft.com/office/drawing/2014/main" id="{8B082EBB-69FF-464A-A1DA-EAF728D95CB5}"/>
              </a:ext>
            </a:extLst>
          </p:cNvPr>
          <p:cNvSpPr>
            <a:spLocks xmlns:a="http://schemas.openxmlformats.org/drawingml/2006/main" noGrp="1"/>
          </p:cNvSpPr>
          <p:nvPr/>
        </p:nvSpPr>
        <p:spPr>
          <a:xfrm xmlns:a="http://schemas.openxmlformats.org/drawingml/2006/main">
            <a:off x="12128500" y="8069580"/>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041"/>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The customer opens an incomplete kit.</a:t>
            </a:r>
            <a:endParaRPr sz="2550"/>
          </a:p>
        </p:txBody>
      </p:sp>
    </p:spTree>
    <p:extLst>
      <p:ext uri="{BB962C8B-B14F-4D97-AF65-F5344CB8AC3E}">
        <p14:creationId xmlns:p14="http://schemas.microsoft.com/office/powerpoint/2010/main" val="1807633435"/>
      </p:ext>
    </p:extLst>
  </p:cSld>
</p:sld>
</file>

<file path=ppt/slides/slide4.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686F65C-8FD5-4D8B-A397-AA70E41E817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A9BAC6DC-D60E-4D1A-AD4F-D31EA0470458}"/>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BD6D7CB2-5593-4A24-9E1E-7C2F4685C6C1}"/>
              </a:ext>
            </a:extLst>
          </p:cNvPr>
          <p:cNvSpPr>
            <a:spLocks xmlns:a="http://schemas.openxmlformats.org/drawingml/2006/main" noGrp="1"/>
          </p:cNvSpPr>
          <p:nvPr/>
        </p:nvSpPr>
        <p:spPr>
          <a:xfrm xmlns:a="http://schemas.openxmlformats.org/drawingml/2006/main">
            <a:off x="14993462" y="952500"/>
            <a:ext cx="2157143"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PROBLEM</a:t>
            </a:r>
            <a:endParaRPr sz="1800"/>
          </a:p>
        </p:txBody>
      </p:sp>
      <p:sp>
        <p:nvSpPr>
          <p:cNvPr id="5" name="Text 3">
            <a:extLst xmlns:a="http://schemas.openxmlformats.org/drawingml/2006/main">
              <a:ext uri="{FF2B5EF4-FFF2-40B4-BE49-F238E27FC236}">
                <a16:creationId xmlns:a16="http://schemas.microsoft.com/office/drawing/2014/main" id="{D9FFA209-5645-4FAF-9EDA-71DE3D9379F3}"/>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The 1–10–100 rule</a:t>
            </a:r>
            <a:endParaRPr sz="4800"/>
          </a:p>
        </p:txBody>
      </p:sp>
      <p:sp>
        <p:nvSpPr>
          <p:cNvPr id="6" name="Text 4">
            <a:extLst xmlns:a="http://schemas.openxmlformats.org/drawingml/2006/main">
              <a:ext uri="{FF2B5EF4-FFF2-40B4-BE49-F238E27FC236}">
                <a16:creationId xmlns:a16="http://schemas.microsoft.com/office/drawing/2014/main" id="{08DCD1E7-DE43-4227-8D9C-0525C1EDD6D8}"/>
              </a:ext>
            </a:extLst>
          </p:cNvPr>
          <p:cNvSpPr>
            <a:spLocks xmlns:a="http://schemas.openxmlformats.org/drawingml/2006/main" noGrp="1"/>
          </p:cNvSpPr>
          <p:nvPr/>
        </p:nvSpPr>
        <p:spPr>
          <a:xfrm xmlns:a="http://schemas.openxmlformats.org/drawingml/2006/main">
            <a:off x="13335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F2F2F0"/>
                </a:solidFill>
                <a:latin typeface="Arial"/>
                <a:ea typeface="Arial"/>
                <a:cs typeface="Arial"/>
              </a:rPr>
              <a:t>1</a:t>
            </a:r>
            <a:endParaRPr sz="13500"/>
          </a:p>
        </p:txBody>
      </p:sp>
      <p:sp>
        <p:nvSpPr>
          <p:cNvPr id="7" name="Shape 5">
            <a:extLst xmlns:a="http://schemas.openxmlformats.org/drawingml/2006/main">
              <a:ext uri="{FF2B5EF4-FFF2-40B4-BE49-F238E27FC236}">
                <a16:creationId xmlns:a16="http://schemas.microsoft.com/office/drawing/2014/main" id="{B116F2A9-CB03-4513-BD63-29A8E94D9656}"/>
              </a:ext>
            </a:extLst>
          </p:cNvPr>
          <p:cNvSpPr>
            <a:spLocks xmlns:a="http://schemas.openxmlformats.org/drawingml/2006/main" noGrp="1"/>
          </p:cNvSpPr>
          <p:nvPr/>
        </p:nvSpPr>
        <p:spPr>
          <a:xfrm xmlns:a="http://schemas.openxmlformats.org/drawingml/2006/main">
            <a:off x="1333500" y="7213282"/>
            <a:ext cx="4826000" cy="19050"/>
          </a:xfrm>
          <a:prstGeom xmlns:a="http://schemas.openxmlformats.org/drawingml/2006/main" prst="rect">
            <a:avLst/>
          </a:prstGeom>
          <a:solidFill xmlns:a="http://schemas.openxmlformats.org/drawingml/2006/main">
            <a:srgbClr val="F2F2F0"/>
          </a:solidFill>
        </p:spPr>
      </p:sp>
      <p:sp>
        <p:nvSpPr>
          <p:cNvPr id="8" name="Text 6">
            <a:extLst xmlns:a="http://schemas.openxmlformats.org/drawingml/2006/main">
              <a:ext uri="{FF2B5EF4-FFF2-40B4-BE49-F238E27FC236}">
                <a16:creationId xmlns:a16="http://schemas.microsoft.com/office/drawing/2014/main" id="{28EF51F8-7A7C-4366-A27A-469FA327F711}"/>
              </a:ext>
            </a:extLst>
          </p:cNvPr>
          <p:cNvSpPr>
            <a:spLocks xmlns:a="http://schemas.openxmlformats.org/drawingml/2006/main" noGrp="1"/>
          </p:cNvSpPr>
          <p:nvPr/>
        </p:nvSpPr>
        <p:spPr>
          <a:xfrm xmlns:a="http://schemas.openxmlformats.org/drawingml/2006/main">
            <a:off x="1333500" y="7499032"/>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workstation, while still visible</a:t>
            </a:r>
            <a:endParaRPr sz="2550"/>
          </a:p>
        </p:txBody>
      </p:sp>
      <p:sp>
        <p:nvSpPr>
          <p:cNvPr id="9" name="Text 7">
            <a:extLst xmlns:a="http://schemas.openxmlformats.org/drawingml/2006/main">
              <a:ext uri="{FF2B5EF4-FFF2-40B4-BE49-F238E27FC236}">
                <a16:creationId xmlns:a16="http://schemas.microsoft.com/office/drawing/2014/main" id="{F109DABE-92DC-4639-90CD-D7C3D2DA8711}"/>
              </a:ext>
            </a:extLst>
          </p:cNvPr>
          <p:cNvSpPr>
            <a:spLocks xmlns:a="http://schemas.openxmlformats.org/drawingml/2006/main" noGrp="1"/>
          </p:cNvSpPr>
          <p:nvPr/>
        </p:nvSpPr>
        <p:spPr>
          <a:xfrm xmlns:a="http://schemas.openxmlformats.org/drawingml/2006/main">
            <a:off x="67310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B9BDC2"/>
                </a:solidFill>
                <a:latin typeface="Arial"/>
                <a:ea typeface="Arial"/>
                <a:cs typeface="Arial"/>
              </a:rPr>
              <a:t>10</a:t>
            </a:r>
            <a:endParaRPr sz="13500"/>
          </a:p>
        </p:txBody>
      </p:sp>
      <p:sp>
        <p:nvSpPr>
          <p:cNvPr id="10" name="Shape 8">
            <a:extLst xmlns:a="http://schemas.openxmlformats.org/drawingml/2006/main">
              <a:ext uri="{FF2B5EF4-FFF2-40B4-BE49-F238E27FC236}">
                <a16:creationId xmlns:a16="http://schemas.microsoft.com/office/drawing/2014/main" id="{CCA40807-1080-4073-A351-8E2BAC3C7534}"/>
              </a:ext>
            </a:extLst>
          </p:cNvPr>
          <p:cNvSpPr>
            <a:spLocks xmlns:a="http://schemas.openxmlformats.org/drawingml/2006/main" noGrp="1"/>
          </p:cNvSpPr>
          <p:nvPr/>
        </p:nvSpPr>
        <p:spPr>
          <a:xfrm xmlns:a="http://schemas.openxmlformats.org/drawingml/2006/main">
            <a:off x="6731000" y="7213282"/>
            <a:ext cx="4826000" cy="19050"/>
          </a:xfrm>
          <a:prstGeom xmlns:a="http://schemas.openxmlformats.org/drawingml/2006/main" prst="rect">
            <a:avLst/>
          </a:prstGeom>
          <a:solidFill xmlns:a="http://schemas.openxmlformats.org/drawingml/2006/main">
            <a:srgbClr val="8A8F95"/>
          </a:solidFill>
        </p:spPr>
      </p:sp>
      <p:sp>
        <p:nvSpPr>
          <p:cNvPr id="11" name="Text 9">
            <a:extLst xmlns:a="http://schemas.openxmlformats.org/drawingml/2006/main">
              <a:ext uri="{FF2B5EF4-FFF2-40B4-BE49-F238E27FC236}">
                <a16:creationId xmlns:a16="http://schemas.microsoft.com/office/drawing/2014/main" id="{655FF1AD-CD84-4CC2-AA61-52982CDD96B7}"/>
              </a:ext>
            </a:extLst>
          </p:cNvPr>
          <p:cNvSpPr>
            <a:spLocks xmlns:a="http://schemas.openxmlformats.org/drawingml/2006/main" noGrp="1"/>
          </p:cNvSpPr>
          <p:nvPr/>
        </p:nvSpPr>
        <p:spPr>
          <a:xfrm xmlns:a="http://schemas.openxmlformats.org/drawingml/2006/main">
            <a:off x="6731000" y="7499032"/>
            <a:ext cx="5308600" cy="49149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final factory test</a:t>
            </a:r>
            <a:endParaRPr sz="2550"/>
          </a:p>
        </p:txBody>
      </p:sp>
      <p:sp>
        <p:nvSpPr>
          <p:cNvPr id="12" name="Text 10">
            <a:extLst xmlns:a="http://schemas.openxmlformats.org/drawingml/2006/main">
              <a:ext uri="{FF2B5EF4-FFF2-40B4-BE49-F238E27FC236}">
                <a16:creationId xmlns:a16="http://schemas.microsoft.com/office/drawing/2014/main" id="{0197CDAA-EF36-42F7-9C67-618CCF8C6F5D}"/>
              </a:ext>
            </a:extLst>
          </p:cNvPr>
          <p:cNvSpPr>
            <a:spLocks xmlns:a="http://schemas.openxmlformats.org/drawingml/2006/main" noGrp="1"/>
          </p:cNvSpPr>
          <p:nvPr/>
        </p:nvSpPr>
        <p:spPr>
          <a:xfrm xmlns:a="http://schemas.openxmlformats.org/drawingml/2006/main">
            <a:off x="121285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8A8F95"/>
                </a:solidFill>
                <a:latin typeface="Arial"/>
                <a:ea typeface="Arial"/>
                <a:cs typeface="Arial"/>
              </a:rPr>
              <a:t>100+</a:t>
            </a:r>
            <a:endParaRPr sz="13500"/>
          </a:p>
        </p:txBody>
      </p:sp>
      <p:sp>
        <p:nvSpPr>
          <p:cNvPr id="13" name="Shape 11">
            <a:extLst xmlns:a="http://schemas.openxmlformats.org/drawingml/2006/main">
              <a:ext uri="{FF2B5EF4-FFF2-40B4-BE49-F238E27FC236}">
                <a16:creationId xmlns:a16="http://schemas.microsoft.com/office/drawing/2014/main" id="{EB977E49-F686-4FBE-A22C-5AE9F51FFB59}"/>
              </a:ext>
            </a:extLst>
          </p:cNvPr>
          <p:cNvSpPr>
            <a:spLocks xmlns:a="http://schemas.openxmlformats.org/drawingml/2006/main" noGrp="1"/>
          </p:cNvSpPr>
          <p:nvPr/>
        </p:nvSpPr>
        <p:spPr>
          <a:xfrm xmlns:a="http://schemas.openxmlformats.org/drawingml/2006/main">
            <a:off x="12128500" y="7213282"/>
            <a:ext cx="4826000" cy="19050"/>
          </a:xfrm>
          <a:prstGeom xmlns:a="http://schemas.openxmlformats.org/drawingml/2006/main" prst="rect">
            <a:avLst/>
          </a:prstGeom>
          <a:solidFill xmlns:a="http://schemas.openxmlformats.org/drawingml/2006/main">
            <a:srgbClr val="55595E"/>
          </a:solidFill>
        </p:spPr>
      </p:sp>
      <p:sp>
        <p:nvSpPr>
          <p:cNvPr id="14" name="Text 12">
            <a:extLst xmlns:a="http://schemas.openxmlformats.org/drawingml/2006/main">
              <a:ext uri="{FF2B5EF4-FFF2-40B4-BE49-F238E27FC236}">
                <a16:creationId xmlns:a16="http://schemas.microsoft.com/office/drawing/2014/main" id="{76EBA4BC-91F6-4B61-A0BE-3DCD66697FC1}"/>
              </a:ext>
            </a:extLst>
          </p:cNvPr>
          <p:cNvSpPr>
            <a:spLocks xmlns:a="http://schemas.openxmlformats.org/drawingml/2006/main" noGrp="1"/>
          </p:cNvSpPr>
          <p:nvPr/>
        </p:nvSpPr>
        <p:spPr>
          <a:xfrm xmlns:a="http://schemas.openxmlformats.org/drawingml/2006/main">
            <a:off x="12128500" y="7499032"/>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customer: repair, warranty, reputation</a:t>
            </a:r>
            <a:endParaRPr sz="2550"/>
          </a:p>
        </p:txBody>
      </p:sp>
      <p:sp>
        <p:nvSpPr>
          <p:cNvPr id="15" name="Text 13">
            <a:extLst xmlns:a="http://schemas.openxmlformats.org/drawingml/2006/main">
              <a:ext uri="{FF2B5EF4-FFF2-40B4-BE49-F238E27FC236}">
                <a16:creationId xmlns:a16="http://schemas.microsoft.com/office/drawing/2014/main" id="{45529015-687A-4753-83C1-AAA7149EF27A}"/>
              </a:ext>
            </a:extLst>
          </p:cNvPr>
          <p:cNvSpPr>
            <a:spLocks xmlns:a="http://schemas.openxmlformats.org/drawingml/2006/main" noGrp="1"/>
          </p:cNvSpPr>
          <p:nvPr/>
        </p:nvSpPr>
        <p:spPr>
          <a:xfrm xmlns:a="http://schemas.openxmlformats.org/drawingml/2006/main">
            <a:off x="1333500" y="9167813"/>
            <a:ext cx="169545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9116"/>
          </a:bodyPr>
          <a:lstStyle xmlns:a="http://schemas.openxmlformats.org/drawingml/2006/main">
            <a:defPPr>
              <a:defRPr sz="1650"/>
            </a:defPPr>
          </a:lstStyle>
          <a:p xmlns:a="http://schemas.openxmlformats.org/drawingml/2006/main">
            <a:pPr marL="0" indent="0" algn="l">
              <a:buNone/>
            </a:pPr>
            <a:r>
              <a:rPr sz="1650" spc="180">
                <a:solidFill>
                  <a:srgbClr val="8A8F95"/>
                </a:solidFill>
                <a:latin typeface="Courier New"/>
                <a:ea typeface="Courier New"/>
                <a:cs typeface="Courier New"/>
              </a:rPr>
              <a:t>RULE OF THUMB / ILLUSTRATIVE MULTIPLIERS, NOT MEASURED SAVINGS</a:t>
            </a:r>
            <a:endParaRPr sz="1800"/>
          </a:p>
        </p:txBody>
      </p:sp>
    </p:spTree>
    <p:extLst>
      <p:ext uri="{BB962C8B-B14F-4D97-AF65-F5344CB8AC3E}">
        <p14:creationId xmlns:p14="http://schemas.microsoft.com/office/powerpoint/2010/main" val="742508405"/>
      </p:ext>
    </p:extLst>
  </p:cSld>
</p:sld>
</file>

<file path=ppt/slides/slide5.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BAA8261-4738-4770-95C7-1408E280780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D5689D43-2E69-44CE-94A5-AA742A988491}"/>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02 / 03</a:t>
            </a:r>
            <a:endParaRPr sz="1800"/>
          </a:p>
        </p:txBody>
      </p:sp>
      <p:sp>
        <p:nvSpPr>
          <p:cNvPr id="4" name="Text 2">
            <a:extLst xmlns:a="http://schemas.openxmlformats.org/drawingml/2006/main">
              <a:ext uri="{FF2B5EF4-FFF2-40B4-BE49-F238E27FC236}">
                <a16:creationId xmlns:a16="http://schemas.microsoft.com/office/drawing/2014/main" id="{F66334AE-686E-4ECD-9D4D-CC439D13F346}"/>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02</a:t>
            </a:r>
            <a:endParaRPr sz="2400"/>
          </a:p>
        </p:txBody>
      </p:sp>
      <p:sp>
        <p:nvSpPr>
          <p:cNvPr id="5" name="Text 3">
            <a:extLst xmlns:a="http://schemas.openxmlformats.org/drawingml/2006/main">
              <a:ext uri="{FF2B5EF4-FFF2-40B4-BE49-F238E27FC236}">
                <a16:creationId xmlns:a16="http://schemas.microsoft.com/office/drawing/2014/main" id="{BC25A0DE-D4BE-4F2F-99D3-087615DFEB2D}"/>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HOW IT WORKS</a:t>
            </a:r>
            <a:endParaRPr sz="10500"/>
          </a:p>
        </p:txBody>
      </p:sp>
      <p:sp>
        <p:nvSpPr>
          <p:cNvPr id="6" name="Shape 4">
            <a:extLst xmlns:a="http://schemas.openxmlformats.org/drawingml/2006/main">
              <a:ext uri="{FF2B5EF4-FFF2-40B4-BE49-F238E27FC236}">
                <a16:creationId xmlns:a16="http://schemas.microsoft.com/office/drawing/2014/main" id="{E5F296A5-BF6D-44C4-82EB-556282BF933F}"/>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243949970"/>
      </p:ext>
    </p:extLst>
  </p:cSld>
</p:sld>
</file>

<file path=ppt/slides/slide6.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7720BC-E16A-4A4B-8CF7-ADFB034B1C12}"/>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7D2186BB-48FD-4C74-8290-17DB865E236C}"/>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4" name="Shape 2">
            <a:extLst xmlns:a="http://schemas.openxmlformats.org/drawingml/2006/main">
              <a:ext uri="{FF2B5EF4-FFF2-40B4-BE49-F238E27FC236}">
                <a16:creationId xmlns:a16="http://schemas.microsoft.com/office/drawing/2014/main" id="{7EF79041-880E-4B24-AC1F-2FCCCDA94BAC}"/>
              </a:ext>
            </a:extLst>
          </p:cNvPr>
          <p:cNvSpPr>
            <a:spLocks xmlns:a="http://schemas.openxmlformats.org/drawingml/2006/main" noGrp="1"/>
          </p:cNvSpPr>
          <p:nvPr/>
        </p:nvSpPr>
        <p:spPr>
          <a:xfrm xmlns:a="http://schemas.openxmlformats.org/drawingml/2006/main">
            <a:off x="1333500" y="1671638"/>
            <a:ext cx="15621000" cy="6820694"/>
          </a:xfrm>
          <a:prstGeom xmlns:a="http://schemas.openxmlformats.org/drawingml/2006/main" prst="rect">
            <a:avLst/>
          </a:prstGeom>
          <a:solidFill xmlns:a="http://schemas.openxmlformats.org/drawingml/2006/main">
            <a:srgbClr val="0E1012"/>
          </a:solidFill>
        </p:spPr>
      </p:sp>
      <p:sp>
        <p:nvSpPr>
          <p:cNvPr id="5" name="Shape 3">
            <a:extLst xmlns:a="http://schemas.openxmlformats.org/drawingml/2006/main">
              <a:ext uri="{FF2B5EF4-FFF2-40B4-BE49-F238E27FC236}">
                <a16:creationId xmlns:a16="http://schemas.microsoft.com/office/drawing/2014/main" id="{FFA32B31-A3D5-4109-B52D-A69778268EE0}"/>
              </a:ext>
            </a:extLst>
          </p:cNvPr>
          <p:cNvSpPr>
            <a:spLocks xmlns:a="http://schemas.openxmlformats.org/drawingml/2006/main" noGrp="1"/>
          </p:cNvSpPr>
          <p:nvPr/>
        </p:nvSpPr>
        <p:spPr>
          <a:xfrm xmlns:a="http://schemas.openxmlformats.org/drawingml/2006/main">
            <a:off x="1333500" y="1671638"/>
            <a:ext cx="559594" cy="26194"/>
          </a:xfrm>
          <a:prstGeom xmlns:a="http://schemas.openxmlformats.org/drawingml/2006/main" prst="rect">
            <a:avLst/>
          </a:prstGeom>
          <a:solidFill xmlns:a="http://schemas.openxmlformats.org/drawingml/2006/main">
            <a:srgbClr val="F2F2F0"/>
          </a:solidFill>
        </p:spPr>
      </p:sp>
      <p:sp>
        <p:nvSpPr>
          <p:cNvPr id="6" name="Shape 4">
            <a:extLst xmlns:a="http://schemas.openxmlformats.org/drawingml/2006/main">
              <a:ext uri="{FF2B5EF4-FFF2-40B4-BE49-F238E27FC236}">
                <a16:creationId xmlns:a16="http://schemas.microsoft.com/office/drawing/2014/main" id="{89CEF208-B3F2-4D7B-826D-81EF39D445FA}"/>
              </a:ext>
            </a:extLst>
          </p:cNvPr>
          <p:cNvSpPr>
            <a:spLocks xmlns:a="http://schemas.openxmlformats.org/drawingml/2006/main" noGrp="1"/>
          </p:cNvSpPr>
          <p:nvPr/>
        </p:nvSpPr>
        <p:spPr>
          <a:xfrm xmlns:a="http://schemas.openxmlformats.org/drawingml/2006/main">
            <a:off x="1333500" y="1671638"/>
            <a:ext cx="26194" cy="559594"/>
          </a:xfrm>
          <a:prstGeom xmlns:a="http://schemas.openxmlformats.org/drawingml/2006/main" prst="rect">
            <a:avLst/>
          </a:prstGeom>
          <a:solidFill xmlns:a="http://schemas.openxmlformats.org/drawingml/2006/main">
            <a:srgbClr val="F2F2F0"/>
          </a:solidFill>
        </p:spPr>
      </p:sp>
      <p:sp>
        <p:nvSpPr>
          <p:cNvPr id="7" name="Shape 5">
            <a:extLst xmlns:a="http://schemas.openxmlformats.org/drawingml/2006/main">
              <a:ext uri="{FF2B5EF4-FFF2-40B4-BE49-F238E27FC236}">
                <a16:creationId xmlns:a16="http://schemas.microsoft.com/office/drawing/2014/main" id="{D6C8A535-2DB6-4C8A-AE20-E4A50D3852B0}"/>
              </a:ext>
            </a:extLst>
          </p:cNvPr>
          <p:cNvSpPr>
            <a:spLocks xmlns:a="http://schemas.openxmlformats.org/drawingml/2006/main" noGrp="1"/>
          </p:cNvSpPr>
          <p:nvPr/>
        </p:nvSpPr>
        <p:spPr>
          <a:xfrm xmlns:a="http://schemas.openxmlformats.org/drawingml/2006/main">
            <a:off x="16394906" y="1671638"/>
            <a:ext cx="559594" cy="26194"/>
          </a:xfrm>
          <a:prstGeom xmlns:a="http://schemas.openxmlformats.org/drawingml/2006/main" prst="rect">
            <a:avLst/>
          </a:prstGeom>
          <a:solidFill xmlns:a="http://schemas.openxmlformats.org/drawingml/2006/main">
            <a:srgbClr val="F2F2F0"/>
          </a:solidFill>
        </p:spPr>
      </p:sp>
      <p:sp>
        <p:nvSpPr>
          <p:cNvPr id="8" name="Shape 6">
            <a:extLst xmlns:a="http://schemas.openxmlformats.org/drawingml/2006/main">
              <a:ext uri="{FF2B5EF4-FFF2-40B4-BE49-F238E27FC236}">
                <a16:creationId xmlns:a16="http://schemas.microsoft.com/office/drawing/2014/main" id="{D94C111B-C3E1-43DD-9BA4-663D5E1D46C7}"/>
              </a:ext>
            </a:extLst>
          </p:cNvPr>
          <p:cNvSpPr>
            <a:spLocks xmlns:a="http://schemas.openxmlformats.org/drawingml/2006/main" noGrp="1"/>
          </p:cNvSpPr>
          <p:nvPr/>
        </p:nvSpPr>
        <p:spPr>
          <a:xfrm xmlns:a="http://schemas.openxmlformats.org/drawingml/2006/main">
            <a:off x="16928306" y="1671638"/>
            <a:ext cx="26194" cy="559594"/>
          </a:xfrm>
          <a:prstGeom xmlns:a="http://schemas.openxmlformats.org/drawingml/2006/main" prst="rect">
            <a:avLst/>
          </a:prstGeom>
          <a:solidFill xmlns:a="http://schemas.openxmlformats.org/drawingml/2006/main">
            <a:srgbClr val="F2F2F0"/>
          </a:solidFill>
        </p:spPr>
      </p:sp>
      <p:sp>
        <p:nvSpPr>
          <p:cNvPr id="9" name="Shape 7">
            <a:extLst xmlns:a="http://schemas.openxmlformats.org/drawingml/2006/main">
              <a:ext uri="{FF2B5EF4-FFF2-40B4-BE49-F238E27FC236}">
                <a16:creationId xmlns:a16="http://schemas.microsoft.com/office/drawing/2014/main" id="{5AAE850A-B883-4B6E-8859-61365A7F4DD9}"/>
              </a:ext>
            </a:extLst>
          </p:cNvPr>
          <p:cNvSpPr>
            <a:spLocks xmlns:a="http://schemas.openxmlformats.org/drawingml/2006/main" noGrp="1"/>
          </p:cNvSpPr>
          <p:nvPr/>
        </p:nvSpPr>
        <p:spPr>
          <a:xfrm xmlns:a="http://schemas.openxmlformats.org/drawingml/2006/main">
            <a:off x="1333500" y="8466137"/>
            <a:ext cx="559594" cy="26194"/>
          </a:xfrm>
          <a:prstGeom xmlns:a="http://schemas.openxmlformats.org/drawingml/2006/main" prst="rect">
            <a:avLst/>
          </a:prstGeom>
          <a:solidFill xmlns:a="http://schemas.openxmlformats.org/drawingml/2006/main">
            <a:srgbClr val="F2F2F0"/>
          </a:solidFill>
        </p:spPr>
      </p:sp>
      <p:sp>
        <p:nvSpPr>
          <p:cNvPr id="10" name="Shape 8">
            <a:extLst xmlns:a="http://schemas.openxmlformats.org/drawingml/2006/main">
              <a:ext uri="{FF2B5EF4-FFF2-40B4-BE49-F238E27FC236}">
                <a16:creationId xmlns:a16="http://schemas.microsoft.com/office/drawing/2014/main" id="{D3BB85B1-3ED1-4DB5-925E-EBAA80072EF2}"/>
              </a:ext>
            </a:extLst>
          </p:cNvPr>
          <p:cNvSpPr>
            <a:spLocks xmlns:a="http://schemas.openxmlformats.org/drawingml/2006/main" noGrp="1"/>
          </p:cNvSpPr>
          <p:nvPr/>
        </p:nvSpPr>
        <p:spPr>
          <a:xfrm xmlns:a="http://schemas.openxmlformats.org/drawingml/2006/main">
            <a:off x="1333500" y="7932737"/>
            <a:ext cx="26194" cy="559594"/>
          </a:xfrm>
          <a:prstGeom xmlns:a="http://schemas.openxmlformats.org/drawingml/2006/main" prst="rect">
            <a:avLst/>
          </a:prstGeom>
          <a:solidFill xmlns:a="http://schemas.openxmlformats.org/drawingml/2006/main">
            <a:srgbClr val="F2F2F0"/>
          </a:solidFill>
        </p:spPr>
      </p:sp>
      <p:sp>
        <p:nvSpPr>
          <p:cNvPr id="11" name="Shape 9">
            <a:extLst xmlns:a="http://schemas.openxmlformats.org/drawingml/2006/main">
              <a:ext uri="{FF2B5EF4-FFF2-40B4-BE49-F238E27FC236}">
                <a16:creationId xmlns:a16="http://schemas.microsoft.com/office/drawing/2014/main" id="{81CB95F7-A2C9-4C7A-8BEE-54E2A3B9B958}"/>
              </a:ext>
            </a:extLst>
          </p:cNvPr>
          <p:cNvSpPr>
            <a:spLocks xmlns:a="http://schemas.openxmlformats.org/drawingml/2006/main" noGrp="1"/>
          </p:cNvSpPr>
          <p:nvPr/>
        </p:nvSpPr>
        <p:spPr>
          <a:xfrm xmlns:a="http://schemas.openxmlformats.org/drawingml/2006/main">
            <a:off x="16394906" y="8466137"/>
            <a:ext cx="559594" cy="26194"/>
          </a:xfrm>
          <a:prstGeom xmlns:a="http://schemas.openxmlformats.org/drawingml/2006/main" prst="rect">
            <a:avLst/>
          </a:prstGeom>
          <a:solidFill xmlns:a="http://schemas.openxmlformats.org/drawingml/2006/main">
            <a:srgbClr val="F2F2F0"/>
          </a:solidFill>
        </p:spPr>
      </p:sp>
      <p:sp>
        <p:nvSpPr>
          <p:cNvPr id="12" name="Shape 10">
            <a:extLst xmlns:a="http://schemas.openxmlformats.org/drawingml/2006/main">
              <a:ext uri="{FF2B5EF4-FFF2-40B4-BE49-F238E27FC236}">
                <a16:creationId xmlns:a16="http://schemas.microsoft.com/office/drawing/2014/main" id="{365112D6-96FA-4193-AFF8-A8F0BBBC6399}"/>
              </a:ext>
            </a:extLst>
          </p:cNvPr>
          <p:cNvSpPr>
            <a:spLocks xmlns:a="http://schemas.openxmlformats.org/drawingml/2006/main" noGrp="1"/>
          </p:cNvSpPr>
          <p:nvPr/>
        </p:nvSpPr>
        <p:spPr>
          <a:xfrm xmlns:a="http://schemas.openxmlformats.org/drawingml/2006/main">
            <a:off x="16928306" y="7932737"/>
            <a:ext cx="26194" cy="559594"/>
          </a:xfrm>
          <a:prstGeom xmlns:a="http://schemas.openxmlformats.org/drawingml/2006/main" prst="rect">
            <a:avLst/>
          </a:prstGeom>
          <a:solidFill xmlns:a="http://schemas.openxmlformats.org/drawingml/2006/main">
            <a:srgbClr val="F2F2F0"/>
          </a:solidFill>
        </p:spPr>
      </p:sp>
      <p:sp>
        <p:nvSpPr>
          <p:cNvPr id="14" name="Text 12">
            <a:extLst xmlns:a="http://schemas.openxmlformats.org/drawingml/2006/main">
              <a:ext uri="{FF2B5EF4-FFF2-40B4-BE49-F238E27FC236}">
                <a16:creationId xmlns:a16="http://schemas.microsoft.com/office/drawing/2014/main" id="{F5635E1D-22E4-4E9E-98CD-B0A7EEAD607C}"/>
              </a:ext>
            </a:extLst>
          </p:cNvPr>
          <p:cNvSpPr>
            <a:spLocks xmlns:a="http://schemas.openxmlformats.org/drawingml/2006/main" noGrp="1"/>
          </p:cNvSpPr>
          <p:nvPr/>
        </p:nvSpPr>
        <p:spPr>
          <a:xfrm xmlns:a="http://schemas.openxmlformats.org/drawingml/2006/main">
            <a:off x="1333500" y="8949531"/>
            <a:ext cx="6883543" cy="518319"/>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961"/>
          </a:bodyPr>
          <a:lstStyle xmlns:a="http://schemas.openxmlformats.org/drawingml/2006/main"/>
          <a:p xmlns:a="http://schemas.openxmlformats.org/drawingml/2006/main">
            <a:pPr marL="0" indent="0" algn="l">
              <a:buNone/>
            </a:pPr>
            <a:r>
              <a:rPr sz="3300" spc="132">
                <a:solidFill>
                  <a:srgbClr val="F2F2F0"/>
                </a:solidFill>
                <a:latin typeface="Arial"/>
                <a:ea typeface="Arial"/>
                <a:cs typeface="Arial"/>
              </a:rPr>
              <a:t>Packing-box inspection</a:t>
            </a:r>
            <a:endParaRPr sz="3300"/>
          </a:p>
        </p:txBody>
      </p:sp>
      <p:sp>
        <p:nvSpPr>
          <p:cNvPr id="15" name="Text 13">
            <a:extLst xmlns:a="http://schemas.openxmlformats.org/drawingml/2006/main">
              <a:ext uri="{FF2B5EF4-FFF2-40B4-BE49-F238E27FC236}">
                <a16:creationId xmlns:a16="http://schemas.microsoft.com/office/drawing/2014/main" id="{252F7A59-3437-4EC7-BDE3-4CAC6A0C5D9F}"/>
              </a:ext>
            </a:extLst>
          </p:cNvPr>
          <p:cNvSpPr>
            <a:spLocks xmlns:a="http://schemas.openxmlformats.org/drawingml/2006/main" noGrp="1"/>
          </p:cNvSpPr>
          <p:nvPr/>
        </p:nvSpPr>
        <p:spPr>
          <a:xfrm xmlns:a="http://schemas.openxmlformats.org/drawingml/2006/main">
            <a:off x="11334750" y="9144000"/>
            <a:ext cx="5619750" cy="32385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9537"/>
          </a:bodyPr>
          <a:lstStyle xmlns:a="http://schemas.openxmlformats.org/drawingml/2006/main">
            <a:defPPr>
              <a:defRPr sz="1800"/>
            </a:defPPr>
          </a:lstStyle>
          <a:p xmlns:a="http://schemas.openxmlformats.org/drawingml/2006/main">
            <a:pPr marL="0" indent="0" algn="l">
              <a:buNone/>
            </a:pPr>
            <a:r>
              <a:rPr sz="1800" spc="180">
                <a:solidFill>
                  <a:srgbClr val="E8463B"/>
                </a:solidFill>
                <a:latin typeface="Courier New"/>
                <a:ea typeface="Courier New"/>
                <a:cs typeface="Courier New"/>
              </a:rPr>
              <a:t>PRODUCT PAGE / ILLUSTRATION</a:t>
            </a:r>
            <a:endParaRPr sz="1800"/>
          </a:p>
        </p:txBody>
      </p:sp>
      <p:pic>
        <p:nvPicPr>
          <p:cNvPr id="16" name="">
            <a:extLst xmlns:a="http://schemas.openxmlformats.org/drawingml/2006/main">
              <a:ext uri="{FF2B5EF4-FFF2-40B4-BE49-F238E27FC236}">
                <a16:creationId xmlns:a16="http://schemas.microsoft.com/office/drawing/2014/main" id="{2266E220-D6D2-4FDA-BEAD-62E205AAA794}"/>
              </a:ext>
            </a:extLst>
          </p:cNvPr>
          <p:cNvPicPr>
            <a:picLocks xmlns:a="http://schemas.openxmlformats.org/drawingml/2006/main" noChangeAspect="1"/>
          </p:cNvPicPr>
          <p:nvPr/>
        </p:nvPicPr>
        <p:blipFill>
          <a:blip xmlns:r="http://schemas.openxmlformats.org/officeDocument/2006/relationships" xmlns:a="http://schemas.openxmlformats.org/drawingml/2006/main" r:embed="R63c3d20b2c2d423c"/>
          <a:stretch xmlns:a="http://schemas.openxmlformats.org/drawingml/2006/main"/>
        </p:blipFill>
        <p:spPr>
          <a:xfrm xmlns:a="http://schemas.openxmlformats.org/drawingml/2006/main">
            <a:off x="3084745" y="1671638"/>
            <a:ext cx="12118509" cy="6820853"/>
          </a:xfrm>
          <a:prstGeom xmlns:a="http://schemas.openxmlformats.org/drawingml/2006/main" prst="rect">
            <a:avLst/>
          </a:prstGeom>
        </p:spPr>
      </p:pic>
    </p:spTree>
    <p:extLst>
      <p:ext uri="{BB962C8B-B14F-4D97-AF65-F5344CB8AC3E}">
        <p14:creationId xmlns:p14="http://schemas.microsoft.com/office/powerpoint/2010/main" val="6507845"/>
      </p:ext>
    </p:extLst>
  </p:cSld>
</p:sld>
</file>

<file path=ppt/slides/slide7.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F37B5A8-F36A-4338-94FE-9C497C69EC1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375A417E-C467-43EC-BC5F-841881FE61A9}"/>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522E5CC7-1CF8-461F-9023-F7F4079C7822}"/>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77EE7637-5CC1-4A08-A60B-D8192AF12DFF}"/>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One check, step by step</a:t>
            </a:r>
            <a:endParaRPr sz="4800"/>
          </a:p>
        </p:txBody>
      </p:sp>
      <p:sp>
        <p:nvSpPr>
          <p:cNvPr id="6" name="Shape 4">
            <a:extLst xmlns:a="http://schemas.openxmlformats.org/drawingml/2006/main">
              <a:ext uri="{FF2B5EF4-FFF2-40B4-BE49-F238E27FC236}">
                <a16:creationId xmlns:a16="http://schemas.microsoft.com/office/drawing/2014/main" id="{05CDA48A-B626-465B-81A0-C4155A250E5E}"/>
              </a:ext>
            </a:extLst>
          </p:cNvPr>
          <p:cNvSpPr>
            <a:spLocks xmlns:a="http://schemas.openxmlformats.org/drawingml/2006/main" noGrp="1"/>
          </p:cNvSpPr>
          <p:nvPr/>
        </p:nvSpPr>
        <p:spPr>
          <a:xfrm xmlns:a="http://schemas.openxmlformats.org/drawingml/2006/main">
            <a:off x="1333500" y="6837204"/>
            <a:ext cx="3124200" cy="17462"/>
          </a:xfrm>
          <a:prstGeom xmlns:a="http://schemas.openxmlformats.org/drawingml/2006/main" prst="rect">
            <a:avLst/>
          </a:prstGeom>
          <a:solidFill xmlns:a="http://schemas.openxmlformats.org/drawingml/2006/main">
            <a:srgbClr val="F2F2F0"/>
          </a:solidFill>
        </p:spPr>
      </p:sp>
      <p:sp>
        <p:nvSpPr>
          <p:cNvPr id="7" name="Text 5">
            <a:extLst xmlns:a="http://schemas.openxmlformats.org/drawingml/2006/main">
              <a:ext uri="{FF2B5EF4-FFF2-40B4-BE49-F238E27FC236}">
                <a16:creationId xmlns:a16="http://schemas.microsoft.com/office/drawing/2014/main" id="{D6749CBA-0345-4CFE-8231-34BF1BD70B9F}"/>
              </a:ext>
            </a:extLst>
          </p:cNvPr>
          <p:cNvSpPr>
            <a:spLocks xmlns:a="http://schemas.openxmlformats.org/drawingml/2006/main" noGrp="1"/>
          </p:cNvSpPr>
          <p:nvPr/>
        </p:nvSpPr>
        <p:spPr>
          <a:xfrm xmlns:a="http://schemas.openxmlformats.org/drawingml/2006/main">
            <a:off x="13335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01</a:t>
            </a:r>
            <a:endParaRPr sz="1800"/>
          </a:p>
        </p:txBody>
      </p:sp>
      <p:sp>
        <p:nvSpPr>
          <p:cNvPr id="8" name="Text 6">
            <a:extLst xmlns:a="http://schemas.openxmlformats.org/drawingml/2006/main">
              <a:ext uri="{FF2B5EF4-FFF2-40B4-BE49-F238E27FC236}">
                <a16:creationId xmlns:a16="http://schemas.microsoft.com/office/drawing/2014/main" id="{0BBA3AC1-2F8B-44AF-9A78-1DE7A586FC23}"/>
              </a:ext>
            </a:extLst>
          </p:cNvPr>
          <p:cNvSpPr>
            <a:spLocks xmlns:a="http://schemas.openxmlformats.org/drawingml/2006/main" noGrp="1"/>
          </p:cNvSpPr>
          <p:nvPr/>
        </p:nvSpPr>
        <p:spPr>
          <a:xfrm xmlns:a="http://schemas.openxmlformats.org/drawingml/2006/main">
            <a:off x="13335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Capture</a:t>
            </a:r>
            <a:endParaRPr sz="2700"/>
          </a:p>
        </p:txBody>
      </p:sp>
      <p:sp>
        <p:nvSpPr>
          <p:cNvPr id="9" name="Text 7">
            <a:extLst xmlns:a="http://schemas.openxmlformats.org/drawingml/2006/main">
              <a:ext uri="{FF2B5EF4-FFF2-40B4-BE49-F238E27FC236}">
                <a16:creationId xmlns:a16="http://schemas.microsoft.com/office/drawing/2014/main" id="{13EC8F41-C5E2-40FA-9C17-B288EF8023AE}"/>
              </a:ext>
            </a:extLst>
          </p:cNvPr>
          <p:cNvSpPr>
            <a:spLocks xmlns:a="http://schemas.openxmlformats.org/drawingml/2006/main" noGrp="1"/>
          </p:cNvSpPr>
          <p:nvPr/>
        </p:nvSpPr>
        <p:spPr>
          <a:xfrm xmlns:a="http://schemas.openxmlformats.org/drawingml/2006/main">
            <a:off x="13335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Worker captures or uploads a photo</a:t>
            </a:r>
            <a:endParaRPr sz="2100"/>
          </a:p>
        </p:txBody>
      </p:sp>
      <p:sp>
        <p:nvSpPr>
          <p:cNvPr id="10" name="Shape 8">
            <a:extLst xmlns:a="http://schemas.openxmlformats.org/drawingml/2006/main">
              <a:ext uri="{FF2B5EF4-FFF2-40B4-BE49-F238E27FC236}">
                <a16:creationId xmlns:a16="http://schemas.microsoft.com/office/drawing/2014/main" id="{25BE78E2-75B3-4B5B-8AC1-AF5AF10DFBCF}"/>
              </a:ext>
            </a:extLst>
          </p:cNvPr>
          <p:cNvSpPr>
            <a:spLocks xmlns:a="http://schemas.openxmlformats.org/drawingml/2006/main" noGrp="1"/>
          </p:cNvSpPr>
          <p:nvPr/>
        </p:nvSpPr>
        <p:spPr>
          <a:xfrm xmlns:a="http://schemas.openxmlformats.org/drawingml/2006/main">
            <a:off x="4457700" y="6837204"/>
            <a:ext cx="3124200" cy="17462"/>
          </a:xfrm>
          <a:prstGeom xmlns:a="http://schemas.openxmlformats.org/drawingml/2006/main" prst="rect">
            <a:avLst/>
          </a:prstGeom>
          <a:solidFill xmlns:a="http://schemas.openxmlformats.org/drawingml/2006/main">
            <a:srgbClr val="F2F2F0"/>
          </a:solidFill>
        </p:spPr>
      </p:sp>
      <p:sp>
        <p:nvSpPr>
          <p:cNvPr id="11" name="Text 9">
            <a:extLst xmlns:a="http://schemas.openxmlformats.org/drawingml/2006/main">
              <a:ext uri="{FF2B5EF4-FFF2-40B4-BE49-F238E27FC236}">
                <a16:creationId xmlns:a16="http://schemas.microsoft.com/office/drawing/2014/main" id="{14066D73-A5BD-48B1-8F9C-4C6911B59CFB}"/>
              </a:ext>
            </a:extLst>
          </p:cNvPr>
          <p:cNvSpPr>
            <a:spLocks xmlns:a="http://schemas.openxmlformats.org/drawingml/2006/main" noGrp="1"/>
          </p:cNvSpPr>
          <p:nvPr/>
        </p:nvSpPr>
        <p:spPr>
          <a:xfrm xmlns:a="http://schemas.openxmlformats.org/drawingml/2006/main">
            <a:off x="44577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02</a:t>
            </a:r>
            <a:endParaRPr sz="1800"/>
          </a:p>
        </p:txBody>
      </p:sp>
      <p:sp>
        <p:nvSpPr>
          <p:cNvPr id="12" name="Text 10">
            <a:extLst xmlns:a="http://schemas.openxmlformats.org/drawingml/2006/main">
              <a:ext uri="{FF2B5EF4-FFF2-40B4-BE49-F238E27FC236}">
                <a16:creationId xmlns:a16="http://schemas.microsoft.com/office/drawing/2014/main" id="{189D56E2-A3CE-44D6-880E-8AB2873E4E57}"/>
              </a:ext>
            </a:extLst>
          </p:cNvPr>
          <p:cNvSpPr>
            <a:spLocks xmlns:a="http://schemas.openxmlformats.org/drawingml/2006/main" noGrp="1"/>
          </p:cNvSpPr>
          <p:nvPr/>
        </p:nvSpPr>
        <p:spPr>
          <a:xfrm xmlns:a="http://schemas.openxmlformats.org/drawingml/2006/main">
            <a:off x="44577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Filter</a:t>
            </a:r>
            <a:endParaRPr sz="2700"/>
          </a:p>
        </p:txBody>
      </p:sp>
      <p:sp>
        <p:nvSpPr>
          <p:cNvPr id="13" name="Text 11">
            <a:extLst xmlns:a="http://schemas.openxmlformats.org/drawingml/2006/main">
              <a:ext uri="{FF2B5EF4-FFF2-40B4-BE49-F238E27FC236}">
                <a16:creationId xmlns:a16="http://schemas.microsoft.com/office/drawing/2014/main" id="{3B4B2FA4-30EB-4159-B2CB-71CA52298015}"/>
              </a:ext>
            </a:extLst>
          </p:cNvPr>
          <p:cNvSpPr>
            <a:spLocks xmlns:a="http://schemas.openxmlformats.org/drawingml/2006/main" noGrp="1"/>
          </p:cNvSpPr>
          <p:nvPr/>
        </p:nvSpPr>
        <p:spPr>
          <a:xfrm xmlns:a="http://schemas.openxmlformats.org/drawingml/2006/main">
            <a:off x="44577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OpenCV checks photo quality</a:t>
            </a:r>
            <a:endParaRPr sz="2100"/>
          </a:p>
        </p:txBody>
      </p:sp>
      <p:sp>
        <p:nvSpPr>
          <p:cNvPr id="14" name="Shape 12">
            <a:extLst xmlns:a="http://schemas.openxmlformats.org/drawingml/2006/main">
              <a:ext uri="{FF2B5EF4-FFF2-40B4-BE49-F238E27FC236}">
                <a16:creationId xmlns:a16="http://schemas.microsoft.com/office/drawing/2014/main" id="{89A427BD-D8D9-440A-B2E8-7660A8357084}"/>
              </a:ext>
            </a:extLst>
          </p:cNvPr>
          <p:cNvSpPr>
            <a:spLocks xmlns:a="http://schemas.openxmlformats.org/drawingml/2006/main" noGrp="1"/>
          </p:cNvSpPr>
          <p:nvPr/>
        </p:nvSpPr>
        <p:spPr>
          <a:xfrm xmlns:a="http://schemas.openxmlformats.org/drawingml/2006/main">
            <a:off x="7581900" y="6837204"/>
            <a:ext cx="3124200" cy="17462"/>
          </a:xfrm>
          <a:prstGeom xmlns:a="http://schemas.openxmlformats.org/drawingml/2006/main" prst="rect">
            <a:avLst/>
          </a:prstGeom>
          <a:solidFill xmlns:a="http://schemas.openxmlformats.org/drawingml/2006/main">
            <a:srgbClr val="F2F2F0"/>
          </a:solidFill>
        </p:spPr>
      </p:sp>
      <p:sp>
        <p:nvSpPr>
          <p:cNvPr id="15" name="Text 13">
            <a:extLst xmlns:a="http://schemas.openxmlformats.org/drawingml/2006/main">
              <a:ext uri="{FF2B5EF4-FFF2-40B4-BE49-F238E27FC236}">
                <a16:creationId xmlns:a16="http://schemas.microsoft.com/office/drawing/2014/main" id="{C52D9B68-6DAC-4241-82C3-18D4A6F6501D}"/>
              </a:ext>
            </a:extLst>
          </p:cNvPr>
          <p:cNvSpPr>
            <a:spLocks xmlns:a="http://schemas.openxmlformats.org/drawingml/2006/main" noGrp="1"/>
          </p:cNvSpPr>
          <p:nvPr/>
        </p:nvSpPr>
        <p:spPr>
          <a:xfrm xmlns:a="http://schemas.openxmlformats.org/drawingml/2006/main">
            <a:off x="75819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03</a:t>
            </a:r>
            <a:endParaRPr sz="1800"/>
          </a:p>
        </p:txBody>
      </p:sp>
      <p:sp>
        <p:nvSpPr>
          <p:cNvPr id="16" name="Text 14">
            <a:extLst xmlns:a="http://schemas.openxmlformats.org/drawingml/2006/main">
              <a:ext uri="{FF2B5EF4-FFF2-40B4-BE49-F238E27FC236}">
                <a16:creationId xmlns:a16="http://schemas.microsoft.com/office/drawing/2014/main" id="{63770AC5-6CFA-4C11-83CC-25000B6124C3}"/>
              </a:ext>
            </a:extLst>
          </p:cNvPr>
          <p:cNvSpPr>
            <a:spLocks xmlns:a="http://schemas.openxmlformats.org/drawingml/2006/main" noGrp="1"/>
          </p:cNvSpPr>
          <p:nvPr/>
        </p:nvSpPr>
        <p:spPr>
          <a:xfrm xmlns:a="http://schemas.openxmlformats.org/drawingml/2006/main">
            <a:off x="75819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Ask</a:t>
            </a:r>
            <a:endParaRPr sz="2700"/>
          </a:p>
        </p:txBody>
      </p:sp>
      <p:sp>
        <p:nvSpPr>
          <p:cNvPr id="17" name="Text 15">
            <a:extLst xmlns:a="http://schemas.openxmlformats.org/drawingml/2006/main">
              <a:ext uri="{FF2B5EF4-FFF2-40B4-BE49-F238E27FC236}">
                <a16:creationId xmlns:a16="http://schemas.microsoft.com/office/drawing/2014/main" id="{96B333A0-3AA3-4250-BB2B-9FEE1203ABD5}"/>
              </a:ext>
            </a:extLst>
          </p:cNvPr>
          <p:cNvSpPr>
            <a:spLocks xmlns:a="http://schemas.openxmlformats.org/drawingml/2006/main" noGrp="1"/>
          </p:cNvSpPr>
          <p:nvPr/>
        </p:nvSpPr>
        <p:spPr>
          <a:xfrm xmlns:a="http://schemas.openxmlformats.org/drawingml/2006/main">
            <a:off x="75819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Question describes the correct state</a:t>
            </a:r>
            <a:endParaRPr sz="2100"/>
          </a:p>
        </p:txBody>
      </p:sp>
      <p:sp>
        <p:nvSpPr>
          <p:cNvPr id="18" name="Shape 16">
            <a:extLst xmlns:a="http://schemas.openxmlformats.org/drawingml/2006/main">
              <a:ext uri="{FF2B5EF4-FFF2-40B4-BE49-F238E27FC236}">
                <a16:creationId xmlns:a16="http://schemas.microsoft.com/office/drawing/2014/main" id="{017B4060-10D7-49DC-85A8-344360FBAC92}"/>
              </a:ext>
            </a:extLst>
          </p:cNvPr>
          <p:cNvSpPr>
            <a:spLocks xmlns:a="http://schemas.openxmlformats.org/drawingml/2006/main" noGrp="1"/>
          </p:cNvSpPr>
          <p:nvPr/>
        </p:nvSpPr>
        <p:spPr>
          <a:xfrm xmlns:a="http://schemas.openxmlformats.org/drawingml/2006/main">
            <a:off x="10706100" y="6837204"/>
            <a:ext cx="3124200" cy="17462"/>
          </a:xfrm>
          <a:prstGeom xmlns:a="http://schemas.openxmlformats.org/drawingml/2006/main" prst="rect">
            <a:avLst/>
          </a:prstGeom>
          <a:solidFill xmlns:a="http://schemas.openxmlformats.org/drawingml/2006/main">
            <a:srgbClr val="F2F2F0"/>
          </a:solidFill>
        </p:spPr>
      </p:sp>
      <p:sp>
        <p:nvSpPr>
          <p:cNvPr id="19" name="Text 17">
            <a:extLst xmlns:a="http://schemas.openxmlformats.org/drawingml/2006/main">
              <a:ext uri="{FF2B5EF4-FFF2-40B4-BE49-F238E27FC236}">
                <a16:creationId xmlns:a16="http://schemas.microsoft.com/office/drawing/2014/main" id="{B2A2D14E-CF6F-4530-BC5D-87FF84CF39AF}"/>
              </a:ext>
            </a:extLst>
          </p:cNvPr>
          <p:cNvSpPr>
            <a:spLocks xmlns:a="http://schemas.openxmlformats.org/drawingml/2006/main" noGrp="1"/>
          </p:cNvSpPr>
          <p:nvPr/>
        </p:nvSpPr>
        <p:spPr>
          <a:xfrm xmlns:a="http://schemas.openxmlformats.org/drawingml/2006/main">
            <a:off x="107061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04</a:t>
            </a:r>
            <a:endParaRPr sz="1800"/>
          </a:p>
        </p:txBody>
      </p:sp>
      <p:sp>
        <p:nvSpPr>
          <p:cNvPr id="20" name="Text 18">
            <a:extLst xmlns:a="http://schemas.openxmlformats.org/drawingml/2006/main">
              <a:ext uri="{FF2B5EF4-FFF2-40B4-BE49-F238E27FC236}">
                <a16:creationId xmlns:a16="http://schemas.microsoft.com/office/drawing/2014/main" id="{529DECEA-BC00-4362-8FD1-04BC83C18A0E}"/>
              </a:ext>
            </a:extLst>
          </p:cNvPr>
          <p:cNvSpPr>
            <a:spLocks xmlns:a="http://schemas.openxmlformats.org/drawingml/2006/main" noGrp="1"/>
          </p:cNvSpPr>
          <p:nvPr/>
        </p:nvSpPr>
        <p:spPr>
          <a:xfrm xmlns:a="http://schemas.openxmlformats.org/drawingml/2006/main">
            <a:off x="107061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Ground</a:t>
            </a:r>
            <a:endParaRPr sz="2700"/>
          </a:p>
        </p:txBody>
      </p:sp>
      <p:sp>
        <p:nvSpPr>
          <p:cNvPr id="21" name="Text 19">
            <a:extLst xmlns:a="http://schemas.openxmlformats.org/drawingml/2006/main">
              <a:ext uri="{FF2B5EF4-FFF2-40B4-BE49-F238E27FC236}">
                <a16:creationId xmlns:a16="http://schemas.microsoft.com/office/drawing/2014/main" id="{0107A07C-079E-4A47-B158-07F1243B9102}"/>
              </a:ext>
            </a:extLst>
          </p:cNvPr>
          <p:cNvSpPr>
            <a:spLocks xmlns:a="http://schemas.openxmlformats.org/drawingml/2006/main" noGrp="1"/>
          </p:cNvSpPr>
          <p:nvPr/>
        </p:nvSpPr>
        <p:spPr>
          <a:xfrm xmlns:a="http://schemas.openxmlformats.org/drawingml/2006/main">
            <a:off x="10706100" y="8309610"/>
            <a:ext cx="2903982" cy="13335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4403"/>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Gemma 4 via AMD Token Factory returns verdict + box</a:t>
            </a:r>
            <a:endParaRPr sz="2100"/>
          </a:p>
        </p:txBody>
      </p:sp>
      <p:sp>
        <p:nvSpPr>
          <p:cNvPr id="22" name="Shape 20">
            <a:extLst xmlns:a="http://schemas.openxmlformats.org/drawingml/2006/main">
              <a:ext uri="{FF2B5EF4-FFF2-40B4-BE49-F238E27FC236}">
                <a16:creationId xmlns:a16="http://schemas.microsoft.com/office/drawing/2014/main" id="{497681FE-4A59-478D-B717-F495B11FAB89}"/>
              </a:ext>
            </a:extLst>
          </p:cNvPr>
          <p:cNvSpPr>
            <a:spLocks xmlns:a="http://schemas.openxmlformats.org/drawingml/2006/main" noGrp="1"/>
          </p:cNvSpPr>
          <p:nvPr/>
        </p:nvSpPr>
        <p:spPr>
          <a:xfrm xmlns:a="http://schemas.openxmlformats.org/drawingml/2006/main">
            <a:off x="13830300" y="6837204"/>
            <a:ext cx="3124200" cy="17462"/>
          </a:xfrm>
          <a:prstGeom xmlns:a="http://schemas.openxmlformats.org/drawingml/2006/main" prst="rect">
            <a:avLst/>
          </a:prstGeom>
          <a:solidFill xmlns:a="http://schemas.openxmlformats.org/drawingml/2006/main">
            <a:srgbClr val="E8463B"/>
          </a:solidFill>
        </p:spPr>
      </p:sp>
      <p:sp>
        <p:nvSpPr>
          <p:cNvPr id="23" name="Text 21">
            <a:extLst xmlns:a="http://schemas.openxmlformats.org/drawingml/2006/main">
              <a:ext uri="{FF2B5EF4-FFF2-40B4-BE49-F238E27FC236}">
                <a16:creationId xmlns:a16="http://schemas.microsoft.com/office/drawing/2014/main" id="{3D426A9F-FA54-47C4-903A-1BC39E26FAFF}"/>
              </a:ext>
            </a:extLst>
          </p:cNvPr>
          <p:cNvSpPr>
            <a:spLocks xmlns:a="http://schemas.openxmlformats.org/drawingml/2006/main" noGrp="1"/>
          </p:cNvSpPr>
          <p:nvPr/>
        </p:nvSpPr>
        <p:spPr>
          <a:xfrm xmlns:a="http://schemas.openxmlformats.org/drawingml/2006/main">
            <a:off x="13830300" y="7197566"/>
            <a:ext cx="343662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E8463B"/>
                </a:solidFill>
                <a:latin typeface="Courier New"/>
                <a:ea typeface="Courier New"/>
                <a:cs typeface="Courier New"/>
              </a:rPr>
              <a:t>05</a:t>
            </a:r>
            <a:endParaRPr sz="1800"/>
          </a:p>
        </p:txBody>
      </p:sp>
      <p:sp>
        <p:nvSpPr>
          <p:cNvPr id="24" name="Text 22">
            <a:extLst xmlns:a="http://schemas.openxmlformats.org/drawingml/2006/main">
              <a:ext uri="{FF2B5EF4-FFF2-40B4-BE49-F238E27FC236}">
                <a16:creationId xmlns:a16="http://schemas.microsoft.com/office/drawing/2014/main" id="{8C461768-85E9-44BC-BE4B-BD22B905895F}"/>
              </a:ext>
            </a:extLst>
          </p:cNvPr>
          <p:cNvSpPr>
            <a:spLocks xmlns:a="http://schemas.openxmlformats.org/drawingml/2006/main" noGrp="1"/>
          </p:cNvSpPr>
          <p:nvPr/>
        </p:nvSpPr>
        <p:spPr>
          <a:xfrm xmlns:a="http://schemas.openxmlformats.org/drawingml/2006/main">
            <a:off x="13830300" y="7688104"/>
            <a:ext cx="343662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Decide</a:t>
            </a:r>
            <a:endParaRPr sz="2700"/>
          </a:p>
        </p:txBody>
      </p:sp>
      <p:sp>
        <p:nvSpPr>
          <p:cNvPr id="25" name="Text 23">
            <a:extLst xmlns:a="http://schemas.openxmlformats.org/drawingml/2006/main">
              <a:ext uri="{FF2B5EF4-FFF2-40B4-BE49-F238E27FC236}">
                <a16:creationId xmlns:a16="http://schemas.microsoft.com/office/drawing/2014/main" id="{3316752B-C197-46BC-AABF-686FB96B7D7D}"/>
              </a:ext>
            </a:extLst>
          </p:cNvPr>
          <p:cNvSpPr>
            <a:spLocks xmlns:a="http://schemas.openxmlformats.org/drawingml/2006/main" noGrp="1"/>
          </p:cNvSpPr>
          <p:nvPr/>
        </p:nvSpPr>
        <p:spPr>
          <a:xfrm xmlns:a="http://schemas.openxmlformats.org/drawingml/2006/main">
            <a:off x="13830300" y="8309610"/>
            <a:ext cx="3217926" cy="11430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Rules control progress and save visual attempts</a:t>
            </a:r>
            <a:endParaRPr sz="2100"/>
          </a:p>
        </p:txBody>
      </p:sp>
    </p:spTree>
    <p:extLst>
      <p:ext uri="{BB962C8B-B14F-4D97-AF65-F5344CB8AC3E}">
        <p14:creationId xmlns:p14="http://schemas.microsoft.com/office/powerpoint/2010/main" val="136902925"/>
      </p:ext>
    </p:extLst>
  </p:cSld>
</p:sld>
</file>

<file path=ppt/slides/slide8.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5F0EBCC-C9E9-498B-8B2E-BFDB0B29125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6EAE2921-59BB-4088-B30C-110842CB746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26F89FDD-F8A8-4A89-BF6D-9BF3C6D2B594}"/>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83CA117E-22A4-4C03-A99B-D33EE058E6FC}"/>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Open vision on AMD</a:t>
            </a:r>
            <a:endParaRPr sz="4800"/>
          </a:p>
        </p:txBody>
      </p:sp>
      <p:sp>
        <p:nvSpPr>
          <p:cNvPr id="6" name="Shape 4">
            <a:extLst xmlns:a="http://schemas.openxmlformats.org/drawingml/2006/main">
              <a:ext uri="{FF2B5EF4-FFF2-40B4-BE49-F238E27FC236}">
                <a16:creationId xmlns:a16="http://schemas.microsoft.com/office/drawing/2014/main" id="{36E002F1-9ADD-49B8-96AA-709BAF258AA2}"/>
              </a:ext>
            </a:extLst>
          </p:cNvPr>
          <p:cNvSpPr>
            <a:spLocks xmlns:a="http://schemas.openxmlformats.org/drawingml/2006/main" noGrp="1"/>
          </p:cNvSpPr>
          <p:nvPr/>
        </p:nvSpPr>
        <p:spPr>
          <a:xfrm xmlns:a="http://schemas.openxmlformats.org/drawingml/2006/main">
            <a:off x="1333500" y="4548029"/>
            <a:ext cx="6762750" cy="3803650"/>
          </a:xfrm>
          <a:prstGeom xmlns:a="http://schemas.openxmlformats.org/drawingml/2006/main" prst="rect">
            <a:avLst/>
          </a:prstGeom>
          <a:ln xmlns:a="http://schemas.openxmlformats.org/drawingml/2006/main" w="17462">
            <a:solidFill>
              <a:srgbClr val="F2F2F0"/>
            </a:solidFill>
            <a:prstDash val="solid"/>
          </a:ln>
        </p:spPr>
      </p:sp>
      <p:sp>
        <p:nvSpPr>
          <p:cNvPr id="7" name="Text 5">
            <a:extLst xmlns:a="http://schemas.openxmlformats.org/drawingml/2006/main">
              <a:ext uri="{FF2B5EF4-FFF2-40B4-BE49-F238E27FC236}">
                <a16:creationId xmlns:a16="http://schemas.microsoft.com/office/drawing/2014/main" id="{9EC4671D-E2C9-4A48-836D-D34460930AC5}"/>
              </a:ext>
            </a:extLst>
          </p:cNvPr>
          <p:cNvSpPr>
            <a:spLocks xmlns:a="http://schemas.openxmlformats.org/drawingml/2006/main" noGrp="1"/>
          </p:cNvSpPr>
          <p:nvPr/>
        </p:nvSpPr>
        <p:spPr>
          <a:xfrm xmlns:a="http://schemas.openxmlformats.org/drawingml/2006/main">
            <a:off x="1808162" y="5022691"/>
            <a:ext cx="6394768"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88">
                <a:solidFill>
                  <a:srgbClr val="8A8F95"/>
                </a:solidFill>
                <a:latin typeface="Courier New"/>
                <a:ea typeface="Courier New"/>
                <a:cs typeface="Courier New"/>
              </a:rPr>
              <a:t>FACTORY WORKSTATION</a:t>
            </a:r>
            <a:endParaRPr sz="1800"/>
          </a:p>
        </p:txBody>
      </p:sp>
      <p:sp>
        <p:nvSpPr>
          <p:cNvPr id="8" name="Text 6">
            <a:extLst xmlns:a="http://schemas.openxmlformats.org/drawingml/2006/main">
              <a:ext uri="{FF2B5EF4-FFF2-40B4-BE49-F238E27FC236}">
                <a16:creationId xmlns:a16="http://schemas.microsoft.com/office/drawing/2014/main" id="{48CD8E86-DC2F-4FC3-87AC-CA1A5D135703}"/>
              </a:ext>
            </a:extLst>
          </p:cNvPr>
          <p:cNvSpPr>
            <a:spLocks xmlns:a="http://schemas.openxmlformats.org/drawingml/2006/main" noGrp="1"/>
          </p:cNvSpPr>
          <p:nvPr/>
        </p:nvSpPr>
        <p:spPr>
          <a:xfrm xmlns:a="http://schemas.openxmlformats.org/drawingml/2006/main">
            <a:off x="1808162" y="5551329"/>
            <a:ext cx="6394768" cy="474662"/>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3000">
                <a:solidFill>
                  <a:srgbClr val="F2F2F0"/>
                </a:solidFill>
                <a:latin typeface="Arial"/>
                <a:ea typeface="Arial"/>
                <a:cs typeface="Arial"/>
              </a:rPr>
              <a:t>Laptop + camera</a:t>
            </a:r>
            <a:endParaRPr sz="3000"/>
          </a:p>
        </p:txBody>
      </p:sp>
      <p:sp>
        <p:nvSpPr>
          <p:cNvPr id="9" name="Text 7">
            <a:extLst xmlns:a="http://schemas.openxmlformats.org/drawingml/2006/main">
              <a:ext uri="{FF2B5EF4-FFF2-40B4-BE49-F238E27FC236}">
                <a16:creationId xmlns:a16="http://schemas.microsoft.com/office/drawing/2014/main" id="{626353D3-23F6-470C-BE14-125904A44243}"/>
              </a:ext>
            </a:extLst>
          </p:cNvPr>
          <p:cNvSpPr>
            <a:spLocks xmlns:a="http://schemas.openxmlformats.org/drawingml/2006/main" noGrp="1"/>
          </p:cNvSpPr>
          <p:nvPr/>
        </p:nvSpPr>
        <p:spPr>
          <a:xfrm xmlns:a="http://schemas.openxmlformats.org/drawingml/2006/main">
            <a:off x="1808162" y="6254591"/>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Web worker station</a:t>
            </a:r>
            <a:endParaRPr sz="2100"/>
          </a:p>
        </p:txBody>
      </p:sp>
      <p:sp>
        <p:nvSpPr>
          <p:cNvPr id="10" name="Text 8">
            <a:extLst xmlns:a="http://schemas.openxmlformats.org/drawingml/2006/main">
              <a:ext uri="{FF2B5EF4-FFF2-40B4-BE49-F238E27FC236}">
                <a16:creationId xmlns:a16="http://schemas.microsoft.com/office/drawing/2014/main" id="{C671BC27-F4F6-41BB-A77F-A5F05135505B}"/>
              </a:ext>
            </a:extLst>
          </p:cNvPr>
          <p:cNvSpPr>
            <a:spLocks xmlns:a="http://schemas.openxmlformats.org/drawingml/2006/main" noGrp="1"/>
          </p:cNvSpPr>
          <p:nvPr/>
        </p:nvSpPr>
        <p:spPr>
          <a:xfrm xmlns:a="http://schemas.openxmlformats.org/drawingml/2006/main">
            <a:off x="1808162" y="6693535"/>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OpenCV photo check</a:t>
            </a:r>
            <a:endParaRPr sz="2100"/>
          </a:p>
        </p:txBody>
      </p:sp>
      <p:sp>
        <p:nvSpPr>
          <p:cNvPr id="11" name="Text 9">
            <a:extLst xmlns:a="http://schemas.openxmlformats.org/drawingml/2006/main">
              <a:ext uri="{FF2B5EF4-FFF2-40B4-BE49-F238E27FC236}">
                <a16:creationId xmlns:a16="http://schemas.microsoft.com/office/drawing/2014/main" id="{05CA91AF-C296-4F83-81DC-5B60FC4D5BC3}"/>
              </a:ext>
            </a:extLst>
          </p:cNvPr>
          <p:cNvSpPr>
            <a:spLocks xmlns:a="http://schemas.openxmlformats.org/drawingml/2006/main" noGrp="1"/>
          </p:cNvSpPr>
          <p:nvPr/>
        </p:nvSpPr>
        <p:spPr>
          <a:xfrm xmlns:a="http://schemas.openxmlformats.org/drawingml/2006/main">
            <a:off x="1808162" y="7132479"/>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Python + YAML step rules</a:t>
            </a:r>
            <a:endParaRPr sz="2100"/>
          </a:p>
        </p:txBody>
      </p:sp>
      <p:sp>
        <p:nvSpPr>
          <p:cNvPr id="12" name="Text 10">
            <a:extLst xmlns:a="http://schemas.openxmlformats.org/drawingml/2006/main">
              <a:ext uri="{FF2B5EF4-FFF2-40B4-BE49-F238E27FC236}">
                <a16:creationId xmlns:a16="http://schemas.microsoft.com/office/drawing/2014/main" id="{B2B2BC93-5B00-4986-B6CC-F728FCC32CF7}"/>
              </a:ext>
            </a:extLst>
          </p:cNvPr>
          <p:cNvSpPr>
            <a:spLocks xmlns:a="http://schemas.openxmlformats.org/drawingml/2006/main" noGrp="1"/>
          </p:cNvSpPr>
          <p:nvPr/>
        </p:nvSpPr>
        <p:spPr>
          <a:xfrm xmlns:a="http://schemas.openxmlformats.org/drawingml/2006/main">
            <a:off x="1808162" y="7571423"/>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SQLite evidence log</a:t>
            </a:r>
            <a:endParaRPr sz="2100"/>
          </a:p>
        </p:txBody>
      </p:sp>
      <p:sp>
        <p:nvSpPr>
          <p:cNvPr id="13" name="Text 11">
            <a:extLst xmlns:a="http://schemas.openxmlformats.org/drawingml/2006/main">
              <a:ext uri="{FF2B5EF4-FFF2-40B4-BE49-F238E27FC236}">
                <a16:creationId xmlns:a16="http://schemas.microsoft.com/office/drawing/2014/main" id="{00171571-0660-4719-B405-AD15459C7E49}"/>
              </a:ext>
            </a:extLst>
          </p:cNvPr>
          <p:cNvSpPr>
            <a:spLocks xmlns:a="http://schemas.openxmlformats.org/drawingml/2006/main" noGrp="1"/>
          </p:cNvSpPr>
          <p:nvPr/>
        </p:nvSpPr>
        <p:spPr>
          <a:xfrm xmlns:a="http://schemas.openxmlformats.org/drawingml/2006/main">
            <a:off x="8663940" y="5761673"/>
            <a:ext cx="103632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PHOTO</a:t>
            </a:r>
            <a:endParaRPr sz="1800"/>
          </a:p>
        </p:txBody>
      </p:sp>
      <p:sp>
        <p:nvSpPr>
          <p:cNvPr id="14" name="Shape 12">
            <a:extLst xmlns:a="http://schemas.openxmlformats.org/drawingml/2006/main">
              <a:ext uri="{FF2B5EF4-FFF2-40B4-BE49-F238E27FC236}">
                <a16:creationId xmlns:a16="http://schemas.microsoft.com/office/drawing/2014/main" id="{E6FE3F20-75D8-4155-A893-CB617E670578}"/>
              </a:ext>
            </a:extLst>
          </p:cNvPr>
          <p:cNvSpPr>
            <a:spLocks xmlns:a="http://schemas.openxmlformats.org/drawingml/2006/main" noGrp="1"/>
          </p:cNvSpPr>
          <p:nvPr/>
        </p:nvSpPr>
        <p:spPr>
          <a:xfrm xmlns:a="http://schemas.openxmlformats.org/drawingml/2006/main">
            <a:off x="8477250" y="6176010"/>
            <a:ext cx="1333500" cy="19050"/>
          </a:xfrm>
          <a:prstGeom xmlns:a="http://schemas.openxmlformats.org/drawingml/2006/main" prst="rect">
            <a:avLst/>
          </a:prstGeom>
          <a:solidFill xmlns:a="http://schemas.openxmlformats.org/drawingml/2006/main">
            <a:srgbClr val="8A8F95"/>
          </a:solidFill>
        </p:spPr>
      </p:sp>
      <p:sp>
        <p:nvSpPr>
          <p:cNvPr id="15" name="Text 13">
            <a:extLst xmlns:a="http://schemas.openxmlformats.org/drawingml/2006/main">
              <a:ext uri="{FF2B5EF4-FFF2-40B4-BE49-F238E27FC236}">
                <a16:creationId xmlns:a16="http://schemas.microsoft.com/office/drawing/2014/main" id="{D7F334D5-C940-49E4-A6DA-6BA207B804C5}"/>
              </a:ext>
            </a:extLst>
          </p:cNvPr>
          <p:cNvSpPr>
            <a:spLocks xmlns:a="http://schemas.openxmlformats.org/drawingml/2006/main" noGrp="1"/>
          </p:cNvSpPr>
          <p:nvPr/>
        </p:nvSpPr>
        <p:spPr>
          <a:xfrm xmlns:a="http://schemas.openxmlformats.org/drawingml/2006/main">
            <a:off x="8526780" y="6347460"/>
            <a:ext cx="1357884"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RESULT</a:t>
            </a:r>
            <a:endParaRPr sz="1800"/>
          </a:p>
        </p:txBody>
      </p:sp>
      <p:sp>
        <p:nvSpPr>
          <p:cNvPr id="16" name="Text 14">
            <a:extLst xmlns:a="http://schemas.openxmlformats.org/drawingml/2006/main">
              <a:ext uri="{FF2B5EF4-FFF2-40B4-BE49-F238E27FC236}">
                <a16:creationId xmlns:a16="http://schemas.microsoft.com/office/drawing/2014/main" id="{F9FB07B1-E0FB-4133-B256-397F3BA3DA14}"/>
              </a:ext>
            </a:extLst>
          </p:cNvPr>
          <p:cNvSpPr>
            <a:spLocks xmlns:a="http://schemas.openxmlformats.org/drawingml/2006/main" noGrp="1"/>
          </p:cNvSpPr>
          <p:nvPr/>
        </p:nvSpPr>
        <p:spPr>
          <a:xfrm xmlns:a="http://schemas.openxmlformats.org/drawingml/2006/main">
            <a:off x="8458200" y="6876098"/>
            <a:ext cx="150876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55595E"/>
                </a:solidFill>
                <a:latin typeface="Courier New"/>
                <a:ea typeface="Courier New"/>
                <a:cs typeface="Courier New"/>
              </a:rPr>
              <a:t>HTTPS API</a:t>
            </a:r>
            <a:endParaRPr sz="1800"/>
          </a:p>
        </p:txBody>
      </p:sp>
      <p:sp>
        <p:nvSpPr>
          <p:cNvPr id="17" name="Shape 15">
            <a:extLst xmlns:a="http://schemas.openxmlformats.org/drawingml/2006/main">
              <a:ext uri="{FF2B5EF4-FFF2-40B4-BE49-F238E27FC236}">
                <a16:creationId xmlns:a16="http://schemas.microsoft.com/office/drawing/2014/main" id="{0D217E28-DA0B-43AA-BB66-557065E1704C}"/>
              </a:ext>
            </a:extLst>
          </p:cNvPr>
          <p:cNvSpPr>
            <a:spLocks xmlns:a="http://schemas.openxmlformats.org/drawingml/2006/main" noGrp="1"/>
          </p:cNvSpPr>
          <p:nvPr/>
        </p:nvSpPr>
        <p:spPr>
          <a:xfrm xmlns:a="http://schemas.openxmlformats.org/drawingml/2006/main">
            <a:off x="10191750" y="4548029"/>
            <a:ext cx="6762750" cy="3803650"/>
          </a:xfrm>
          <a:prstGeom xmlns:a="http://schemas.openxmlformats.org/drawingml/2006/main" prst="rect">
            <a:avLst/>
          </a:prstGeom>
          <a:solidFill xmlns:a="http://schemas.openxmlformats.org/drawingml/2006/main">
            <a:srgbClr val="F2F2F0"/>
          </a:solidFill>
          <a:ln xmlns:a="http://schemas.openxmlformats.org/drawingml/2006/main" w="17462">
            <a:solidFill>
              <a:srgbClr val="F2F2F0"/>
            </a:solidFill>
            <a:prstDash val="solid"/>
          </a:ln>
        </p:spPr>
      </p:sp>
      <p:sp>
        <p:nvSpPr>
          <p:cNvPr id="18" name="Text 16">
            <a:extLst xmlns:a="http://schemas.openxmlformats.org/drawingml/2006/main">
              <a:ext uri="{FF2B5EF4-FFF2-40B4-BE49-F238E27FC236}">
                <a16:creationId xmlns:a16="http://schemas.microsoft.com/office/drawing/2014/main" id="{CB4C6644-E06F-49FD-8AAD-8B3393A3BA72}"/>
              </a:ext>
            </a:extLst>
          </p:cNvPr>
          <p:cNvSpPr>
            <a:spLocks xmlns:a="http://schemas.openxmlformats.org/drawingml/2006/main" noGrp="1"/>
          </p:cNvSpPr>
          <p:nvPr/>
        </p:nvSpPr>
        <p:spPr>
          <a:xfrm xmlns:a="http://schemas.openxmlformats.org/drawingml/2006/main">
            <a:off x="10666413" y="5022691"/>
            <a:ext cx="6394768"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288">
                <a:solidFill>
                  <a:srgbClr val="55595E"/>
                </a:solidFill>
                <a:latin typeface="Courier New"/>
                <a:ea typeface="Courier New"/>
                <a:cs typeface="Courier New"/>
              </a:rPr>
              <a:t>AMD TOKEN FACTORY</a:t>
            </a:r>
            <a:endParaRPr sz="1800"/>
          </a:p>
        </p:txBody>
      </p:sp>
      <p:sp>
        <p:nvSpPr>
          <p:cNvPr id="19" name="Text 17">
            <a:extLst xmlns:a="http://schemas.openxmlformats.org/drawingml/2006/main">
              <a:ext uri="{FF2B5EF4-FFF2-40B4-BE49-F238E27FC236}">
                <a16:creationId xmlns:a16="http://schemas.microsoft.com/office/drawing/2014/main" id="{CDD589DD-1176-450E-9056-C3A0AC095908}"/>
              </a:ext>
            </a:extLst>
          </p:cNvPr>
          <p:cNvSpPr>
            <a:spLocks xmlns:a="http://schemas.openxmlformats.org/drawingml/2006/main" noGrp="1"/>
          </p:cNvSpPr>
          <p:nvPr/>
        </p:nvSpPr>
        <p:spPr>
          <a:xfrm xmlns:a="http://schemas.openxmlformats.org/drawingml/2006/main">
            <a:off x="10666413" y="5551329"/>
            <a:ext cx="6394768" cy="474662"/>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708"/>
          </a:bodyPr>
          <a:lstStyle xmlns:a="http://schemas.openxmlformats.org/drawingml/2006/main"/>
          <a:p xmlns:a="http://schemas.openxmlformats.org/drawingml/2006/main">
            <a:pPr marL="0" indent="0" algn="l">
              <a:buNone/>
            </a:pPr>
            <a:r>
              <a:rPr sz="3000">
                <a:solidFill>
                  <a:srgbClr val="050607"/>
                </a:solidFill>
                <a:latin typeface="Arial"/>
                <a:ea typeface="Arial"/>
                <a:cs typeface="Arial"/>
              </a:rPr>
              <a:t>Radeon Cloud GPUs</a:t>
            </a:r>
            <a:endParaRPr sz="3000"/>
          </a:p>
        </p:txBody>
      </p:sp>
      <p:sp>
        <p:nvSpPr>
          <p:cNvPr id="20" name="Text 18">
            <a:extLst xmlns:a="http://schemas.openxmlformats.org/drawingml/2006/main">
              <a:ext uri="{FF2B5EF4-FFF2-40B4-BE49-F238E27FC236}">
                <a16:creationId xmlns:a16="http://schemas.microsoft.com/office/drawing/2014/main" id="{DF162D4D-79AF-413E-B811-810236C40636}"/>
              </a:ext>
            </a:extLst>
          </p:cNvPr>
          <p:cNvSpPr>
            <a:spLocks xmlns:a="http://schemas.openxmlformats.org/drawingml/2006/main" noGrp="1"/>
          </p:cNvSpPr>
          <p:nvPr/>
        </p:nvSpPr>
        <p:spPr>
          <a:xfrm xmlns:a="http://schemas.openxmlformats.org/drawingml/2006/main">
            <a:off x="10666413" y="6254591"/>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All reported model runs</a:t>
            </a:r>
            <a:endParaRPr sz="2100"/>
          </a:p>
        </p:txBody>
      </p:sp>
      <p:sp>
        <p:nvSpPr>
          <p:cNvPr id="21" name="Text 19">
            <a:extLst xmlns:a="http://schemas.openxmlformats.org/drawingml/2006/main">
              <a:ext uri="{FF2B5EF4-FFF2-40B4-BE49-F238E27FC236}">
                <a16:creationId xmlns:a16="http://schemas.microsoft.com/office/drawing/2014/main" id="{5523C2DC-BC96-4AFB-9A7B-9881C65FF1BF}"/>
              </a:ext>
            </a:extLst>
          </p:cNvPr>
          <p:cNvSpPr>
            <a:spLocks xmlns:a="http://schemas.openxmlformats.org/drawingml/2006/main" noGrp="1"/>
          </p:cNvSpPr>
          <p:nvPr/>
        </p:nvSpPr>
        <p:spPr>
          <a:xfrm xmlns:a="http://schemas.openxmlformats.org/drawingml/2006/main">
            <a:off x="10666413" y="6693535"/>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OpenAI-compatible API</a:t>
            </a:r>
            <a:endParaRPr sz="2100"/>
          </a:p>
        </p:txBody>
      </p:sp>
      <p:sp>
        <p:nvSpPr>
          <p:cNvPr id="22" name="Text 20">
            <a:extLst xmlns:a="http://schemas.openxmlformats.org/drawingml/2006/main">
              <a:ext uri="{FF2B5EF4-FFF2-40B4-BE49-F238E27FC236}">
                <a16:creationId xmlns:a16="http://schemas.microsoft.com/office/drawing/2014/main" id="{593DE394-F0EC-4495-9889-2962E8BE11B0}"/>
              </a:ext>
            </a:extLst>
          </p:cNvPr>
          <p:cNvSpPr>
            <a:spLocks xmlns:a="http://schemas.openxmlformats.org/drawingml/2006/main" noGrp="1"/>
          </p:cNvSpPr>
          <p:nvPr/>
        </p:nvSpPr>
        <p:spPr>
          <a:xfrm xmlns:a="http://schemas.openxmlformats.org/drawingml/2006/main">
            <a:off x="10666413" y="7132479"/>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Gemma-4-31B-IT</a:t>
            </a:r>
            <a:endParaRPr sz="2100"/>
          </a:p>
        </p:txBody>
      </p:sp>
      <p:sp>
        <p:nvSpPr>
          <p:cNvPr id="23" name="Text 21">
            <a:extLst xmlns:a="http://schemas.openxmlformats.org/drawingml/2006/main">
              <a:ext uri="{FF2B5EF4-FFF2-40B4-BE49-F238E27FC236}">
                <a16:creationId xmlns:a16="http://schemas.microsoft.com/office/drawing/2014/main" id="{C245441C-EFD0-4A51-9B3B-26827717BB3F}"/>
              </a:ext>
            </a:extLst>
          </p:cNvPr>
          <p:cNvSpPr>
            <a:spLocks xmlns:a="http://schemas.openxmlformats.org/drawingml/2006/main" noGrp="1"/>
          </p:cNvSpPr>
          <p:nvPr/>
        </p:nvSpPr>
        <p:spPr>
          <a:xfrm xmlns:a="http://schemas.openxmlformats.org/drawingml/2006/main">
            <a:off x="10666413" y="7571423"/>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Structured JSON output</a:t>
            </a:r>
            <a:endParaRPr sz="2100"/>
          </a:p>
        </p:txBody>
      </p:sp>
      <p:sp>
        <p:nvSpPr>
          <p:cNvPr id="24" name="Factory deployment plan">
            <a:extLst xmlns:a="http://schemas.openxmlformats.org/drawingml/2006/main">
              <a:ext uri="{FF2B5EF4-FFF2-40B4-BE49-F238E27FC236}">
                <a16:creationId xmlns:a16="http://schemas.microsoft.com/office/drawing/2014/main" id="{2AED7210-910C-41A7-841F-4A9549AD501F}"/>
              </a:ext>
            </a:extLst>
          </p:cNvPr>
          <p:cNvSpPr>
            <a:spLocks xmlns:a="http://schemas.openxmlformats.org/drawingml/2006/main" noGrp="1"/>
          </p:cNvSpPr>
          <p:nvPr/>
        </p:nvSpPr>
        <p:spPr>
          <a:xfrm xmlns:a="http://schemas.openxmlformats.org/drawingml/2006/main">
            <a:off x="1333500" y="8858250"/>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B9BDC2"/>
                </a:solidFill>
                <a:latin typeface="Arial"/>
                <a:ea typeface="Arial"/>
                <a:cs typeface="Arial"/>
              </a:defRPr>
            </a:defPPr>
          </a:lstStyle>
          <a:p xmlns:a="http://schemas.openxmlformats.org/drawingml/2006/main">
            <a:pPr>
              <a:defRPr sz="2100" b="0">
                <a:solidFill>
                  <a:srgbClr val="B9BDC2"/>
                </a:solidFill>
                <a:latin typeface="Arial"/>
                <a:ea typeface="Arial"/>
                <a:cs typeface="Arial"/>
              </a:defRPr>
            </a:pPr>
            <a:r>
              <a:rPr sz="2100" b="0">
                <a:solidFill>
                  <a:srgbClr val="B9BDC2"/>
                </a:solidFill>
                <a:latin typeface="Arial"/>
                <a:ea typeface="Arial"/>
                <a:cs typeface="Arial"/>
              </a:rPr>
              <a:t>Production plan: the same open model runs on the factory’s own AMD GPU.</a:t>
            </a:r>
          </a:p>
        </p:txBody>
      </p:sp>
    </p:spTree>
    <p:extLst>
      <p:ext uri="{BB962C8B-B14F-4D97-AF65-F5344CB8AC3E}">
        <p14:creationId xmlns:p14="http://schemas.microsoft.com/office/powerpoint/2010/main" val="2072108262"/>
      </p:ext>
    </p:extLst>
  </p:cSld>
</p:sld>
</file>

<file path=ppt/slides/slide9.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4BBD510-E0A1-4AEC-A199-12337B09DD7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D0F0E9D6-860D-46D8-AABE-8386F07E205B}"/>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7E447B4D-B95C-43D4-B248-A1C5112545F2}"/>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5751589F-FCB7-4A71-992F-B073AD335692}"/>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Same engine, new checklist</a:t>
            </a:r>
            <a:endParaRPr sz="4800"/>
          </a:p>
        </p:txBody>
      </p:sp>
      <p:pic>
        <p:nvPicPr>
          <p:cNvPr id="6" name="">
            <a:extLst xmlns:a="http://schemas.openxmlformats.org/drawingml/2006/main">
              <a:ext uri="{FF2B5EF4-FFF2-40B4-BE49-F238E27FC236}">
                <a16:creationId xmlns:a16="http://schemas.microsoft.com/office/drawing/2014/main" id="{7D45F23A-DDCF-4C5D-BC9F-D7095FB248D5}"/>
              </a:ext>
            </a:extLst>
          </p:cNvPr>
          <p:cNvPicPr>
            <a:picLocks xmlns:a="http://schemas.openxmlformats.org/drawingml/2006/main" noChangeAspect="1"/>
          </p:cNvPicPr>
          <p:nvPr/>
        </p:nvPicPr>
        <p:blipFill>
          <a:blip xmlns:r="http://schemas.openxmlformats.org/officeDocument/2006/relationships" xmlns:a="http://schemas.openxmlformats.org/drawingml/2006/main" r:embed="R6557e62de97a43ab"/>
          <a:stretch xmlns:a="http://schemas.openxmlformats.org/drawingml/2006/main"/>
        </p:blipFill>
        <p:spPr>
          <a:xfrm xmlns:a="http://schemas.openxmlformats.org/drawingml/2006/main">
            <a:off x="1333500" y="3429602"/>
            <a:ext cx="10287000" cy="5789995"/>
          </a:xfrm>
          <a:prstGeom xmlns:a="http://schemas.openxmlformats.org/drawingml/2006/main" prst="rect">
            <a:avLst/>
          </a:prstGeom>
        </p:spPr>
      </p:pic>
      <p:sp>
        <p:nvSpPr>
          <p:cNvPr id="7" name="PC example title">
            <a:extLst xmlns:a="http://schemas.openxmlformats.org/drawingml/2006/main">
              <a:ext uri="{FF2B5EF4-FFF2-40B4-BE49-F238E27FC236}">
                <a16:creationId xmlns:a16="http://schemas.microsoft.com/office/drawing/2014/main" id="{AA258912-A523-4A1A-ADBE-76C016428540}"/>
              </a:ext>
            </a:extLst>
          </p:cNvPr>
          <p:cNvSpPr>
            <a:spLocks xmlns:a="http://schemas.openxmlformats.org/drawingml/2006/main" noGrp="1"/>
          </p:cNvSpPr>
          <p:nvPr/>
        </p:nvSpPr>
        <p:spPr>
          <a:xfrm xmlns:a="http://schemas.openxmlformats.org/drawingml/2006/main">
            <a:off x="12192000" y="3524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0">
                <a:solidFill>
                  <a:srgbClr val="F2F2F0"/>
                </a:solidFill>
                <a:latin typeface="Arial"/>
                <a:ea typeface="Arial"/>
                <a:cs typeface="Arial"/>
              </a:defRPr>
            </a:defPPr>
          </a:lstStyle>
          <a:p xmlns:a="http://schemas.openxmlformats.org/drawingml/2006/main">
            <a:pPr>
              <a:defRPr sz="3000" b="0">
                <a:solidFill>
                  <a:srgbClr val="F2F2F0"/>
                </a:solidFill>
                <a:latin typeface="Arial"/>
                <a:ea typeface="Arial"/>
                <a:cs typeface="Arial"/>
              </a:defRPr>
            </a:pPr>
            <a:r>
              <a:rPr sz="3000" b="0">
                <a:solidFill>
                  <a:srgbClr val="F2F2F0"/>
                </a:solidFill>
                <a:latin typeface="Arial"/>
                <a:ea typeface="Arial"/>
                <a:cs typeface="Arial"/>
              </a:rPr>
              <a:t>PC build example</a:t>
            </a:r>
          </a:p>
        </p:txBody>
      </p:sp>
      <p:sp>
        <p:nvSpPr>
          <p:cNvPr id="8" name="PC example checks">
            <a:extLst xmlns:a="http://schemas.openxmlformats.org/drawingml/2006/main">
              <a:ext uri="{FF2B5EF4-FFF2-40B4-BE49-F238E27FC236}">
                <a16:creationId xmlns:a16="http://schemas.microsoft.com/office/drawing/2014/main" id="{38844946-7CC0-4F7B-85B0-E610825BAFE1}"/>
              </a:ext>
            </a:extLst>
          </p:cNvPr>
          <p:cNvSpPr>
            <a:spLocks xmlns:a="http://schemas.openxmlformats.org/drawingml/2006/main" noGrp="1"/>
          </p:cNvSpPr>
          <p:nvPr/>
        </p:nvSpPr>
        <p:spPr>
          <a:xfrm xmlns:a="http://schemas.openxmlformats.org/drawingml/2006/main">
            <a:off x="12192000" y="4333875"/>
            <a:ext cx="476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defRPr sz="2400" b="0">
                <a:solidFill>
                  <a:srgbClr val="B9BDC2"/>
                </a:solidFill>
                <a:latin typeface="Arial"/>
                <a:ea typeface="Arial"/>
                <a:cs typeface="Arial"/>
              </a:defRPr>
            </a:pPr>
            <a:r>
              <a:rPr sz="2400" b="0">
                <a:solidFill>
                  <a:srgbClr val="B9BDC2"/>
                </a:solidFill>
                <a:latin typeface="Arial"/>
                <a:ea typeface="Arial"/>
                <a:cs typeface="Arial"/>
              </a:rPr>
              <a:t>RAM clips and GPU power before the panel closes.</a:t>
            </a:r>
          </a:p>
        </p:txBody>
      </p:sp>
      <p:sp>
        <p:nvSpPr>
          <p:cNvPr id="9" name="Photo evidence heading">
            <a:extLst xmlns:a="http://schemas.openxmlformats.org/drawingml/2006/main">
              <a:ext uri="{FF2B5EF4-FFF2-40B4-BE49-F238E27FC236}">
                <a16:creationId xmlns:a16="http://schemas.microsoft.com/office/drawing/2014/main" id="{C90F6FA0-06BA-4286-A672-3259B5188CB3}"/>
              </a:ext>
            </a:extLst>
          </p:cNvPr>
          <p:cNvSpPr>
            <a:spLocks xmlns:a="http://schemas.openxmlformats.org/drawingml/2006/main" noGrp="1"/>
          </p:cNvSpPr>
          <p:nvPr/>
        </p:nvSpPr>
        <p:spPr>
          <a:xfrm xmlns:a="http://schemas.openxmlformats.org/drawingml/2006/main">
            <a:off x="12192000" y="61912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0">
                <a:solidFill>
                  <a:srgbClr val="F2F2F0"/>
                </a:solidFill>
                <a:latin typeface="Arial"/>
                <a:ea typeface="Arial"/>
                <a:cs typeface="Arial"/>
              </a:defRPr>
            </a:defPPr>
          </a:lstStyle>
          <a:p xmlns:a="http://schemas.openxmlformats.org/drawingml/2006/main">
            <a:pPr>
              <a:defRPr sz="2700" b="0">
                <a:solidFill>
                  <a:srgbClr val="F2F2F0"/>
                </a:solidFill>
                <a:latin typeface="Arial"/>
                <a:ea typeface="Arial"/>
                <a:cs typeface="Arial"/>
              </a:defRPr>
            </a:pPr>
            <a:r>
              <a:rPr sz="2700" b="0">
                <a:solidFill>
                  <a:srgbClr val="F2F2F0"/>
                </a:solidFill>
                <a:latin typeface="Arial"/>
                <a:ea typeface="Arial"/>
                <a:cs typeface="Arial"/>
              </a:rPr>
              <a:t>Photo evidence per unit</a:t>
            </a:r>
          </a:p>
        </p:txBody>
      </p:sp>
      <p:sp>
        <p:nvSpPr>
          <p:cNvPr id="10" name="Photo evidence description">
            <a:extLst xmlns:a="http://schemas.openxmlformats.org/drawingml/2006/main">
              <a:ext uri="{FF2B5EF4-FFF2-40B4-BE49-F238E27FC236}">
                <a16:creationId xmlns:a16="http://schemas.microsoft.com/office/drawing/2014/main" id="{54D491EF-175A-422C-B489-4C4CF4889D23}"/>
              </a:ext>
            </a:extLst>
          </p:cNvPr>
          <p:cNvSpPr>
            <a:spLocks xmlns:a="http://schemas.openxmlformats.org/drawingml/2006/main" noGrp="1"/>
          </p:cNvSpPr>
          <p:nvPr/>
        </p:nvSpPr>
        <p:spPr>
          <a:xfrm xmlns:a="http://schemas.openxmlformats.org/drawingml/2006/main">
            <a:off x="12192000" y="7143750"/>
            <a:ext cx="476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defRPr sz="2400" b="0">
                <a:solidFill>
                  <a:srgbClr val="B9BDC2"/>
                </a:solidFill>
                <a:latin typeface="Arial"/>
                <a:ea typeface="Arial"/>
                <a:cs typeface="Arial"/>
              </a:defRPr>
            </a:pPr>
            <a:r>
              <a:rPr sz="2400" b="0">
                <a:solidFill>
                  <a:srgbClr val="B9BDC2"/>
                </a:solidFill>
                <a:latin typeface="Arial"/>
                <a:ea typeface="Arial"/>
                <a:cs typeface="Arial"/>
              </a:rPr>
              <a:t>Visual attempts save a photo, timestamp, check ID and result.</a:t>
            </a:r>
          </a:p>
        </p:txBody>
      </p:sp>
      <p:sp>
        <p:nvSpPr>
          <p:cNvPr id="11" name="Demo mode caption">
            <a:extLst xmlns:a="http://schemas.openxmlformats.org/drawingml/2006/main">
              <a:ext uri="{FF2B5EF4-FFF2-40B4-BE49-F238E27FC236}">
                <a16:creationId xmlns:a16="http://schemas.microsoft.com/office/drawing/2014/main" id="{1DC9BB6D-2C0A-4C8B-9D13-CC5D40B9C78E}"/>
              </a:ext>
            </a:extLst>
          </p:cNvPr>
          <p:cNvSpPr>
            <a:spLocks xmlns:a="http://schemas.openxmlformats.org/drawingml/2006/main" noGrp="1"/>
          </p:cNvSpPr>
          <p:nvPr/>
        </p:nvSpPr>
        <p:spPr>
          <a:xfrm xmlns:a="http://schemas.openxmlformats.org/drawingml/2006/main">
            <a:off x="1333500" y="93821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8A8F95"/>
                </a:solidFill>
                <a:latin typeface="Courier New"/>
                <a:ea typeface="Courier New"/>
                <a:cs typeface="Courier New"/>
              </a:defRPr>
            </a:defPPr>
          </a:lstStyle>
          <a:p xmlns:a="http://schemas.openxmlformats.org/drawingml/2006/main">
            <a:pPr>
              <a:defRPr sz="1800" b="0">
                <a:solidFill>
                  <a:srgbClr val="8A8F95"/>
                </a:solidFill>
                <a:latin typeface="Courier New"/>
                <a:ea typeface="Courier New"/>
                <a:cs typeface="Courier New"/>
              </a:defRPr>
            </a:pPr>
            <a:r>
              <a:rPr sz="1800" b="0">
                <a:solidFill>
                  <a:srgbClr val="8A8F95"/>
                </a:solidFill>
                <a:latin typeface="Courier New"/>
                <a:ea typeface="Courier New"/>
                <a:cs typeface="Courier New"/>
              </a:rPr>
              <a:t>PC EXAMPLE / LOCAL DEMO MODE</a:t>
            </a:r>
          </a:p>
        </p:txBody>
      </p:sp>
    </p:spTree>
    <p:extLst>
      <p:ext uri="{BB962C8B-B14F-4D97-AF65-F5344CB8AC3E}">
        <p14:creationId xmlns:p14="http://schemas.microsoft.com/office/powerpoint/2010/main" val="836735364"/>
      </p:ext>
    </p:extLst>
  </p:cSld>
</p:sld>
</file>

<file path=ppt/slides/slide10.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038F838-952E-47AF-B903-D166719B81CC}"/>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5229A08F-C71B-41BC-A02D-28FEB5874ACE}"/>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03 / 03</a:t>
            </a:r>
            <a:endParaRPr sz="1800"/>
          </a:p>
        </p:txBody>
      </p:sp>
      <p:sp>
        <p:nvSpPr>
          <p:cNvPr id="4" name="Text 2">
            <a:extLst xmlns:a="http://schemas.openxmlformats.org/drawingml/2006/main">
              <a:ext uri="{FF2B5EF4-FFF2-40B4-BE49-F238E27FC236}">
                <a16:creationId xmlns:a16="http://schemas.microsoft.com/office/drawing/2014/main" id="{375AE161-1816-4DED-8A6F-04517AE95030}"/>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03</a:t>
            </a:r>
            <a:endParaRPr sz="2400"/>
          </a:p>
        </p:txBody>
      </p:sp>
      <p:sp>
        <p:nvSpPr>
          <p:cNvPr id="5" name="Text 3">
            <a:extLst xmlns:a="http://schemas.openxmlformats.org/drawingml/2006/main">
              <a:ext uri="{FF2B5EF4-FFF2-40B4-BE49-F238E27FC236}">
                <a16:creationId xmlns:a16="http://schemas.microsoft.com/office/drawing/2014/main" id="{00900292-93A6-479B-BCBA-2CD7A99AFAAF}"/>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955"/>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THE RESULTS</a:t>
            </a:r>
            <a:endParaRPr sz="10500"/>
          </a:p>
        </p:txBody>
      </p:sp>
      <p:sp>
        <p:nvSpPr>
          <p:cNvPr id="6" name="Shape 4">
            <a:extLst xmlns:a="http://schemas.openxmlformats.org/drawingml/2006/main">
              <a:ext uri="{FF2B5EF4-FFF2-40B4-BE49-F238E27FC236}">
                <a16:creationId xmlns:a16="http://schemas.microsoft.com/office/drawing/2014/main" id="{C65BA570-1654-4D52-A7DF-F9997CE81A1D}"/>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1666001745"/>
      </p:ext>
    </p:extLst>
  </p:cSld>
</p:sld>
</file>

<file path=ppt/slides/slide11.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6006DC8-7065-4B6B-9093-B5025D65EF2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7596F6DF-8E9A-4D80-9D7D-8D53463A4E39}"/>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35B81BD2-6AC7-40D5-B1E1-71A3CE4C9996}"/>
              </a:ext>
            </a:extLst>
          </p:cNvPr>
          <p:cNvSpPr>
            <a:spLocks xmlns:a="http://schemas.openxmlformats.org/drawingml/2006/main" noGrp="1"/>
          </p:cNvSpPr>
          <p:nvPr/>
        </p:nvSpPr>
        <p:spPr>
          <a:xfrm xmlns:a="http://schemas.openxmlformats.org/drawingml/2006/main">
            <a:off x="14636909" y="952500"/>
            <a:ext cx="254935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RESULTS</a:t>
            </a:r>
            <a:endParaRPr sz="1800"/>
          </a:p>
        </p:txBody>
      </p:sp>
      <p:sp>
        <p:nvSpPr>
          <p:cNvPr id="5" name="Text 3">
            <a:extLst xmlns:a="http://schemas.openxmlformats.org/drawingml/2006/main">
              <a:ext uri="{FF2B5EF4-FFF2-40B4-BE49-F238E27FC236}">
                <a16:creationId xmlns:a16="http://schemas.microsoft.com/office/drawing/2014/main" id="{352A4F8F-214A-4861-9BED-4570DB937DFE}"/>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2/24 to 14/24 defects caught</a:t>
            </a:r>
            <a:endParaRPr sz="4800"/>
          </a:p>
        </p:txBody>
      </p:sp>
      <p:sp>
        <p:nvSpPr>
          <p:cNvPr id="6" name="Sample description">
            <a:extLst xmlns:a="http://schemas.openxmlformats.org/drawingml/2006/main">
              <a:ext uri="{FF2B5EF4-FFF2-40B4-BE49-F238E27FC236}">
                <a16:creationId xmlns:a16="http://schemas.microsoft.com/office/drawing/2014/main" id="{EAA7CC0F-9DF3-4D7A-BAF7-F514F037492B}"/>
              </a:ext>
            </a:extLst>
          </p:cNvPr>
          <p:cNvSpPr>
            <a:spLocks xmlns:a="http://schemas.openxmlformats.org/drawingml/2006/main" noGrp="1"/>
          </p:cNvSpPr>
          <p:nvPr/>
        </p:nvSpPr>
        <p:spPr>
          <a:xfrm xmlns:a="http://schemas.openxmlformats.org/drawingml/2006/main">
            <a:off x="1333500" y="3000375"/>
            <a:ext cx="1562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defRPr sz="2400" b="0">
                <a:solidFill>
                  <a:srgbClr val="B9BDC2"/>
                </a:solidFill>
                <a:latin typeface="Arial"/>
                <a:ea typeface="Arial"/>
                <a:cs typeface="Arial"/>
              </a:defRPr>
            </a:pPr>
            <a:r>
              <a:rPr sz="2400" b="0">
                <a:solidFill>
                  <a:srgbClr val="B9BDC2"/>
                </a:solidFill>
                <a:latin typeface="Arial"/>
                <a:ea typeface="Arial"/>
                <a:cs typeface="Arial"/>
              </a:rPr>
              <a:t>Same 34 cable photos: 24 defective, 10 clean</a:t>
            </a:r>
          </a:p>
        </p:txBody>
      </p:sp>
      <p:graphicFrame>
        <p:nvGraphicFramePr>
          <p:cNvPr id="7" name="">
            <a:extLst xmlns:a="http://schemas.openxmlformats.org/drawingml/2006/main">
              <a:ext uri="{FF2B5EF4-FFF2-40B4-BE49-F238E27FC236}">
                <a16:creationId xmlns:a16="http://schemas.microsoft.com/office/drawing/2014/main" id="{52023A21-8FE5-4EC8-88ED-2F43EE4FC59C}"/>
              </a:ext>
            </a:extLst>
          </p:cNvPr>
          <p:cNvGraphicFramePr/>
          <p:nvPr/>
        </p:nvGraphicFramePr>
        <p:xfrm>
          <a:off xmlns:a="http://schemas.openxmlformats.org/drawingml/2006/main" x="1333500" y="4000500"/>
          <a:ext xmlns:a="http://schemas.openxmlformats.org/drawingml/2006/main" cx="15621000" cy="3619500"/>
        </p:xfrm>
        <a:graphic xmlns:a="http://schemas.openxmlformats.org/drawingml/2006/main">
          <a:graphicData uri="http://schemas.openxmlformats.org/drawingml/2006/table">
            <a:tbl>
              <a:tblPr/>
              <a:tblGrid>
                <a:gridCol w="6096000"/>
                <a:gridCol w="4762500"/>
                <a:gridCol w="4762500"/>
              </a:tblGrid>
              <a:tr h="723900">
                <a:tc>
                  <a:txBody>
                    <a:bodyPr/>
                    <a:lstStyle/>
                    <a:p>
                      <a:r>
                        <a:rPr sz="2100">
                          <a:solidFill>
                            <a:srgbClr val="8A8F95"/>
                          </a:solidFill>
                          <a:latin typeface="Courier New"/>
                          <a:ea typeface="Courier New"/>
                          <a:cs typeface="Courier New"/>
                        </a:rPr>
                        <a:t>METRIC</a:t>
                      </a:r>
                    </a:p>
                  </a:txBody>
                  <a:tcPr marL="171450" marR="171450" marT="114300" marB="114300" anchor="ctr">
                    <a:lnL w="9525">
                      <a:solidFill>
                        <a:srgbClr val="3A3D41"/>
                      </a:solidFill>
                      <a:prstDash val="solid"/>
                    </a:lnL>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c>
                  <a:txBody>
                    <a:bodyPr/>
                    <a:lstStyle/>
                    <a:p>
                      <a:r>
                        <a:rPr sz="2100">
                          <a:solidFill>
                            <a:srgbClr val="8A8F95"/>
                          </a:solidFill>
                          <a:latin typeface="Courier New"/>
                          <a:ea typeface="Courier New"/>
                          <a:cs typeface="Courier New"/>
                        </a:rPr>
                        <a:t>GENERIC</a:t>
                      </a:r>
                    </a:p>
                  </a:txBody>
                  <a:tcPr marL="171450" marR="171450" marT="114300" marB="114300" anchor="ctr">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c>
                  <a:txBody>
                    <a:bodyPr/>
                    <a:lstStyle/>
                    <a:p>
                      <a:r>
                        <a:rPr sz="2100">
                          <a:solidFill>
                            <a:srgbClr val="8A8F95"/>
                          </a:solidFill>
                          <a:latin typeface="Courier New"/>
                          <a:ea typeface="Courier New"/>
                          <a:cs typeface="Courier New"/>
                        </a:rPr>
                        <a:t>TARGETED</a:t>
                      </a:r>
                    </a:p>
                  </a:txBody>
                  <a:tcPr marL="171450" marR="171450" marT="114300" marB="114300" anchor="ctr">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Defects caught</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2/24 (8.3%)</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b="1">
                          <a:solidFill>
                            <a:srgbClr val="E8463B"/>
                          </a:solidFill>
                          <a:latin typeface="Arial"/>
                          <a:ea typeface="Arial"/>
                          <a:cs typeface="Arial"/>
                        </a:rPr>
                        <a:t>14/24 (58.3%)</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False alarms</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0/10</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0/10</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Mean box IoU*</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0.75</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0.62</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Average check time</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5.71 s</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5.65 s</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bl>
          </a:graphicData>
        </a:graphic>
      </p:graphicFrame>
      <p:sp>
        <p:nvSpPr>
          <p:cNvPr id="8" name="Result limitation">
            <a:extLst xmlns:a="http://schemas.openxmlformats.org/drawingml/2006/main">
              <a:ext uri="{FF2B5EF4-FFF2-40B4-BE49-F238E27FC236}">
                <a16:creationId xmlns:a16="http://schemas.microsoft.com/office/drawing/2014/main" id="{C01E5780-DE34-4083-ACEE-E7DBAD42884B}"/>
              </a:ext>
            </a:extLst>
          </p:cNvPr>
          <p:cNvSpPr>
            <a:spLocks xmlns:a="http://schemas.openxmlformats.org/drawingml/2006/main" noGrp="1"/>
          </p:cNvSpPr>
          <p:nvPr/>
        </p:nvSpPr>
        <p:spPr>
          <a:xfrm xmlns:a="http://schemas.openxmlformats.org/drawingml/2006/main">
            <a:off x="1333500" y="8048625"/>
            <a:ext cx="1562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0">
                <a:solidFill>
                  <a:srgbClr val="F2F2F0"/>
                </a:solidFill>
                <a:latin typeface="Arial"/>
                <a:ea typeface="Arial"/>
                <a:cs typeface="Arial"/>
              </a:defRPr>
            </a:defPPr>
          </a:lstStyle>
          <a:p xmlns:a="http://schemas.openxmlformats.org/drawingml/2006/main">
            <a:pPr>
              <a:defRPr sz="2850" b="0">
                <a:solidFill>
                  <a:srgbClr val="F2F2F0"/>
                </a:solidFill>
                <a:latin typeface="Arial"/>
                <a:ea typeface="Arial"/>
                <a:cs typeface="Arial"/>
              </a:defRPr>
            </a:pPr>
            <a:r>
              <a:rPr sz="2850" b="0">
                <a:solidFill>
                  <a:srgbClr val="F2F2F0"/>
                </a:solidFill>
                <a:latin typeface="Arial"/>
                <a:ea typeface="Arial"/>
                <a:cs typeface="Arial"/>
              </a:rPr>
              <a:t>7× as many caught. 10/24 defects still missed.</a:t>
            </a:r>
          </a:p>
        </p:txBody>
      </p:sp>
      <p:sp>
        <p:nvSpPr>
          <p:cNvPr id="9" name="Result source">
            <a:extLst xmlns:a="http://schemas.openxmlformats.org/drawingml/2006/main">
              <a:ext uri="{FF2B5EF4-FFF2-40B4-BE49-F238E27FC236}">
                <a16:creationId xmlns:a16="http://schemas.microsoft.com/office/drawing/2014/main" id="{1EA2BBEF-6EFF-4A8F-A5FA-2E11DB7487D3}"/>
              </a:ext>
            </a:extLst>
          </p:cNvPr>
          <p:cNvSpPr>
            <a:spLocks xmlns:a="http://schemas.openxmlformats.org/drawingml/2006/main" noGrp="1"/>
          </p:cNvSpPr>
          <p:nvPr/>
        </p:nvSpPr>
        <p:spPr>
          <a:xfrm xmlns:a="http://schemas.openxmlformats.org/drawingml/2006/main">
            <a:off x="1333500" y="8715375"/>
            <a:ext cx="1562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8A8F95"/>
                </a:solidFill>
                <a:latin typeface="Arial"/>
                <a:ea typeface="Arial"/>
                <a:cs typeface="Arial"/>
              </a:defRPr>
            </a:defPPr>
          </a:lstStyle>
          <a:p xmlns:a="http://schemas.openxmlformats.org/drawingml/2006/main">
            <a:pPr>
              <a:defRPr sz="1875" b="0">
                <a:solidFill>
                  <a:srgbClr val="8A8F95"/>
                </a:solidFill>
                <a:latin typeface="Arial"/>
                <a:ea typeface="Arial"/>
                <a:cs typeface="Arial"/>
              </a:defRPr>
            </a:pPr>
            <a:r>
              <a:rPr sz="1875" b="0">
                <a:solidFill>
                  <a:srgbClr val="8A8F95"/>
                </a:solidFill>
                <a:latin typeface="Arial"/>
                <a:ea typeface="Arial"/>
                <a:cs typeface="Arial"/>
              </a:rPr>
              <a:t>Team-reported / AMD Token Factory (Radeon Cloud GPUs) / Gemma-4-31B-IT</a:t>
            </a:r>
          </a:p>
        </p:txBody>
      </p:sp>
      <p:sp>
        <p:nvSpPr>
          <p:cNvPr id="10" name="IoU limitation">
            <a:extLst xmlns:a="http://schemas.openxmlformats.org/drawingml/2006/main">
              <a:ext uri="{FF2B5EF4-FFF2-40B4-BE49-F238E27FC236}">
                <a16:creationId xmlns:a16="http://schemas.microsoft.com/office/drawing/2014/main" id="{1598E81F-9089-4C95-B9AF-924182F56604}"/>
              </a:ext>
            </a:extLst>
          </p:cNvPr>
          <p:cNvSpPr>
            <a:spLocks xmlns:a="http://schemas.openxmlformats.org/drawingml/2006/main" noGrp="1"/>
          </p:cNvSpPr>
          <p:nvPr/>
        </p:nvSpPr>
        <p:spPr>
          <a:xfrm xmlns:a="http://schemas.openxmlformats.org/drawingml/2006/main">
            <a:off x="1333500" y="9220200"/>
            <a:ext cx="15621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BDC2"/>
                </a:solidFill>
                <a:latin typeface="Arial"/>
                <a:ea typeface="Arial"/>
                <a:cs typeface="Arial"/>
              </a:defRPr>
            </a:defPPr>
          </a:lstStyle>
          <a:p xmlns:a="http://schemas.openxmlformats.org/drawingml/2006/main">
            <a:pPr>
              <a:defRPr sz="1800" b="0">
                <a:solidFill>
                  <a:srgbClr val="B9BDC2"/>
                </a:solidFill>
                <a:latin typeface="Arial"/>
                <a:ea typeface="Arial"/>
                <a:cs typeface="Arial"/>
              </a:defRPr>
            </a:pPr>
            <a:r>
              <a:rPr sz="1800" b="0">
                <a:solidFill>
                  <a:srgbClr val="B9BDC2"/>
                </a:solidFill>
                <a:latin typeface="Arial"/>
                <a:ea typeface="Arial"/>
                <a:cs typeface="Arial"/>
              </a:rPr>
              <a:t>*IoU averages positive-overlap detections only. Misses and zero-overlap boxes are excluded. Small sample, not factory validation.</a:t>
            </a:r>
          </a:p>
        </p:txBody>
      </p:sp>
    </p:spTree>
    <p:extLst>
      <p:ext uri="{BB962C8B-B14F-4D97-AF65-F5344CB8AC3E}">
        <p14:creationId xmlns:p14="http://schemas.microsoft.com/office/powerpoint/2010/main" val="360626575"/>
      </p:ext>
    </p:extLst>
  </p:cSld>
</p:sld>
</file>

<file path=ppt/slides/slide12.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97040CB-AA5F-4622-B593-D719A04F46F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0ED73015-ECF4-46D9-A9CC-94B20C7D2012}"/>
              </a:ext>
            </a:extLst>
          </p:cNvPr>
          <p:cNvSpPr>
            <a:spLocks xmlns:a="http://schemas.openxmlformats.org/drawingml/2006/main" noGrp="1"/>
          </p:cNvSpPr>
          <p:nvPr/>
        </p:nvSpPr>
        <p:spPr>
          <a:xfrm xmlns:a="http://schemas.openxmlformats.org/drawingml/2006/main">
            <a:off x="4829715" y="952500"/>
            <a:ext cx="862857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ctr">
              <a:buNone/>
            </a:pPr>
            <a:r>
              <a:rPr sz="1800" spc="324">
                <a:solidFill>
                  <a:srgbClr val="8A8F95"/>
                </a:solidFill>
                <a:latin typeface="Courier New"/>
                <a:ea typeface="Courier New"/>
                <a:cs typeface="Courier New"/>
              </a:rPr>
              <a:t>LABLAB.AI · AMD DEVELOPER HACKATHON: ACT III</a:t>
            </a:r>
            <a:endParaRPr sz="1800"/>
          </a:p>
        </p:txBody>
      </p:sp>
      <p:pic>
        <p:nvPicPr>
          <p:cNvPr id="4" name="Image 0">
            <a:extLst xmlns:a="http://schemas.openxmlformats.org/drawingml/2006/main">
              <a:ext uri="{FF2B5EF4-FFF2-40B4-BE49-F238E27FC236}">
                <a16:creationId xmlns:a16="http://schemas.microsoft.com/office/drawing/2014/main" id="{739D61E7-1AF4-4858-99F7-DE3E2FBC4A12}"/>
              </a:ext>
            </a:extLst>
          </p:cNvPr>
          <p:cNvPicPr>
            <a:picLocks xmlns:a="http://schemas.openxmlformats.org/drawingml/2006/main" noChangeAspect="1"/>
          </p:cNvPicPr>
          <p:nvPr/>
        </p:nvPicPr>
        <p:blipFill>
          <a:blip xmlns:r="http://schemas.openxmlformats.org/officeDocument/2006/relationships" xmlns:a="http://schemas.openxmlformats.org/drawingml/2006/main" r:embed="Rc31cfc9bb74d4a04">
            <a:extLst>
              <a:ext uri="{96DAC541-7B7A-43D3-8B79-37D633B846F1}">
                <asvg:svgBlip xmlns:asvg="http://schemas.microsoft.com/office/drawing/2016/SVG/main" r:embed="R5f7be81b8e4f4606"/>
              </a:ext>
            </a:extLst>
          </a:blip>
          <a:stretch xmlns:a="http://schemas.openxmlformats.org/drawingml/2006/main">
            <a:fillRect l="0" t="0" r="0" b="0"/>
          </a:stretch>
        </p:blipFill>
        <p:spPr>
          <a:xfrm xmlns:a="http://schemas.openxmlformats.org/drawingml/2006/main">
            <a:off x="8524875" y="3085941"/>
            <a:ext cx="1238250" cy="123825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01525B6-C930-45D3-A8BB-EC96D458AAB3}"/>
              </a:ext>
            </a:extLst>
          </p:cNvPr>
          <p:cNvSpPr>
            <a:spLocks xmlns:a="http://schemas.openxmlformats.org/drawingml/2006/main" noGrp="1"/>
          </p:cNvSpPr>
          <p:nvPr/>
        </p:nvSpPr>
        <p:spPr>
          <a:xfrm xmlns:a="http://schemas.openxmlformats.org/drawingml/2006/main">
            <a:off x="2276475" y="4857591"/>
            <a:ext cx="13735050" cy="125349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4489"/>
          </a:bodyPr>
          <a:lstStyle xmlns:a="http://schemas.openxmlformats.org/drawingml/2006/main"/>
          <a:p xmlns:a="http://schemas.openxmlformats.org/drawingml/2006/main">
            <a:pPr marL="0" indent="0" algn="ctr">
              <a:lnSpc>
                <a:spcPct val="126545"/>
              </a:lnSpc>
              <a:buNone/>
            </a:pPr>
            <a:r>
              <a:rPr sz="3300">
                <a:solidFill>
                  <a:srgbClr val="D4D7DA"/>
                </a:solidFill>
                <a:latin typeface="Arial"/>
                <a:ea typeface="Arial"/>
                <a:cs typeface="Arial"/>
              </a:rPr>
              <a:t>Check the packing box before the lid closes. Keep photo evidence for each visual attempt.</a:t>
            </a:r>
            <a:endParaRPr sz="3300"/>
          </a:p>
        </p:txBody>
      </p:sp>
      <p:sp>
        <p:nvSpPr>
          <p:cNvPr id="6" name="Text 3">
            <a:extLst xmlns:a="http://schemas.openxmlformats.org/drawingml/2006/main">
              <a:ext uri="{FF2B5EF4-FFF2-40B4-BE49-F238E27FC236}">
                <a16:creationId xmlns:a16="http://schemas.microsoft.com/office/drawing/2014/main" id="{B0DFAA8B-BECF-4520-80BB-9DDB03A83A4B}"/>
              </a:ext>
            </a:extLst>
          </p:cNvPr>
          <p:cNvSpPr>
            <a:spLocks xmlns:a="http://schemas.openxmlformats.org/drawingml/2006/main" noGrp="1"/>
          </p:cNvSpPr>
          <p:nvPr/>
        </p:nvSpPr>
        <p:spPr>
          <a:xfrm xmlns:a="http://schemas.openxmlformats.org/drawingml/2006/main">
            <a:off x="6319821" y="6606381"/>
            <a:ext cx="5843302" cy="727869"/>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ctr">
              <a:buNone/>
            </a:pPr>
            <a:r>
              <a:rPr sz="4800" spc="1536">
                <a:solidFill>
                  <a:srgbClr val="F2F2F0"/>
                </a:solidFill>
                <a:latin typeface="Arial"/>
                <a:ea typeface="Arial"/>
                <a:cs typeface="Arial"/>
              </a:rPr>
              <a:t>THANK YOU</a:t>
            </a:r>
            <a:endParaRPr sz="4800"/>
          </a:p>
        </p:txBody>
      </p:sp>
      <p:sp>
        <p:nvSpPr>
          <p:cNvPr id="7" name="Text 4">
            <a:extLst xmlns:a="http://schemas.openxmlformats.org/drawingml/2006/main">
              <a:ext uri="{FF2B5EF4-FFF2-40B4-BE49-F238E27FC236}">
                <a16:creationId xmlns:a16="http://schemas.microsoft.com/office/drawing/2014/main" id="{A1A30276-A5D7-42B7-B4C2-5EAD4F853287}"/>
              </a:ext>
            </a:extLst>
          </p:cNvPr>
          <p:cNvSpPr>
            <a:spLocks xmlns:a="http://schemas.openxmlformats.org/drawingml/2006/main" noGrp="1"/>
          </p:cNvSpPr>
          <p:nvPr/>
        </p:nvSpPr>
        <p:spPr>
          <a:xfrm xmlns:a="http://schemas.openxmlformats.org/drawingml/2006/main">
            <a:off x="3810000" y="9167813"/>
            <a:ext cx="10668000" cy="3810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defPPr algn="ctr"/>
          </a:lstStyle>
          <a:p xmlns:a="http://schemas.openxmlformats.org/drawingml/2006/main">
            <a:pPr marL="0" indent="0" algn="ctr">
              <a:buNone/>
            </a:pPr>
            <a:r>
              <a:rPr sz="1800" spc="252">
                <a:solidFill>
                  <a:srgbClr val="8A8F95"/>
                </a:solidFill>
                <a:latin typeface="Courier New"/>
                <a:ea typeface="Courier New"/>
                <a:cs typeface="Courier New"/>
              </a:rPr>
              <a:t>github.com/acagliol/amdactiii</a:t>
            </a:r>
            <a:endParaRPr sz="1800"/>
          </a:p>
        </p:txBody>
      </p:sp>
    </p:spTree>
    <p:extLst>
      <p:ext uri="{BB962C8B-B14F-4D97-AF65-F5344CB8AC3E}">
        <p14:creationId xmlns:p14="http://schemas.microsoft.com/office/powerpoint/2010/main" val="76425003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2026-10-15T10:30:38.5090000Z</dcterms:created>
  <dcterms:modified xsi:type="dcterms:W3CDTF">2026-10-15T10:30:38.5090000Z</dcterms:modified>
</coreProperties>
</file>